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5"/>
  </p:notesMasterIdLst>
  <p:sldIdLst>
    <p:sldId id="256" r:id="rId2"/>
    <p:sldId id="257" r:id="rId3"/>
    <p:sldId id="258" r:id="rId4"/>
    <p:sldId id="260" r:id="rId5"/>
    <p:sldId id="276" r:id="rId6"/>
    <p:sldId id="261" r:id="rId7"/>
    <p:sldId id="277"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8" r:id="rId22"/>
    <p:sldId id="275" r:id="rId23"/>
    <p:sldId id="259" r:id="rId24"/>
  </p:sldIdLst>
  <p:sldSz cx="12192000" cy="6858000"/>
  <p:notesSz cx="6858000" cy="9144000"/>
  <p:embeddedFontLst>
    <p:embeddedFont>
      <p:font typeface="Consolas" panose="020B0609020204030204" pitchFamily="49" charset="0"/>
      <p:regular r:id="rId26"/>
      <p:bold r:id="rId27"/>
      <p:italic r:id="rId28"/>
      <p:boldItalic r:id="rId29"/>
    </p:embeddedFont>
    <p:embeddedFont>
      <p:font typeface="Lato Black" panose="020F0502020204030203" pitchFamily="34" charset="0"/>
      <p:bold r:id="rId30"/>
      <p:boldItalic r:id="rId31"/>
    </p:embeddedFont>
    <p:embeddedFont>
      <p:font typeface="Libre Baskerville" panose="02000000000000000000" pitchFamily="2" charset="0"/>
      <p:regular r:id="rId32"/>
      <p:bold r:id="rId33"/>
      <p:italic r:id="rId34"/>
      <p:bold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6"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1" d="100"/>
          <a:sy n="111" d="100"/>
        </p:scale>
        <p:origin x="55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1185" y="81951"/>
            <a:ext cx="12190815" cy="6694098"/>
          </a:xfrm>
          <a:prstGeom prst="rect">
            <a:avLst/>
          </a:prstGeom>
          <a:noFill/>
          <a:ln>
            <a:noFill/>
          </a:ln>
        </p:spPr>
      </p:pic>
      <p:sp>
        <p:nvSpPr>
          <p:cNvPr id="100" name="TextBox 99"/>
          <p:cNvSpPr txBox="1"/>
          <p:nvPr/>
        </p:nvSpPr>
        <p:spPr>
          <a:xfrm>
            <a:off x="943695" y="3792306"/>
            <a:ext cx="10332720" cy="775597"/>
          </a:xfrm>
          <a:prstGeom prst="rect">
            <a:avLst/>
          </a:prstGeom>
          <a:noFill/>
        </p:spPr>
        <p:txBody>
          <a:bodyPr wrap="square" lIns="45720" tIns="18288" rIns="45720" bIns="18288" anchor="ctr">
            <a:spAutoFit/>
          </a:bodyPr>
          <a:lstStyle/>
          <a:p>
            <a:pPr algn="ctr"/>
            <a:r>
              <a:rPr sz="4800" b="1" i="0" dirty="0">
                <a:solidFill>
                  <a:srgbClr val="FF0000"/>
                </a:solidFill>
                <a:latin typeface="Lato Black"/>
              </a:rPr>
              <a:t>Music Store Data Analysis</a:t>
            </a:r>
          </a:p>
        </p:txBody>
      </p:sp>
      <p:sp>
        <p:nvSpPr>
          <p:cNvPr id="101" name="Rectangle 100"/>
          <p:cNvSpPr/>
          <p:nvPr/>
        </p:nvSpPr>
        <p:spPr>
          <a:xfrm>
            <a:off x="5181600" y="3658866"/>
            <a:ext cx="1828800" cy="45720"/>
          </a:xfrm>
          <a:prstGeom prst="rect">
            <a:avLst/>
          </a:prstGeom>
          <a:solidFill>
            <a:srgbClr val="E8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TextBox 101"/>
          <p:cNvSpPr txBox="1"/>
          <p:nvPr/>
        </p:nvSpPr>
        <p:spPr>
          <a:xfrm>
            <a:off x="676275" y="4594317"/>
            <a:ext cx="11247120" cy="283154"/>
          </a:xfrm>
          <a:prstGeom prst="rect">
            <a:avLst/>
          </a:prstGeom>
          <a:noFill/>
        </p:spPr>
        <p:txBody>
          <a:bodyPr wrap="square" lIns="45720" tIns="18288" rIns="45720" bIns="18288" anchor="ctr">
            <a:spAutoFit/>
          </a:bodyPr>
          <a:lstStyle/>
          <a:p>
            <a:pPr algn="ctr"/>
            <a:r>
              <a:rPr sz="1600" b="0" i="1" dirty="0">
                <a:solidFill>
                  <a:srgbClr val="FF0000"/>
                </a:solidFill>
                <a:latin typeface="Calibri"/>
              </a:rPr>
              <a:t>SQL Driven Business Intelligence on a Relational Music Retail Database</a:t>
            </a:r>
          </a:p>
        </p:txBody>
      </p:sp>
      <p:sp>
        <p:nvSpPr>
          <p:cNvPr id="103" name="TextBox 102"/>
          <p:cNvSpPr txBox="1"/>
          <p:nvPr/>
        </p:nvSpPr>
        <p:spPr>
          <a:xfrm>
            <a:off x="943695" y="5767202"/>
            <a:ext cx="11247120" cy="267766"/>
          </a:xfrm>
          <a:prstGeom prst="rect">
            <a:avLst/>
          </a:prstGeom>
          <a:noFill/>
        </p:spPr>
        <p:txBody>
          <a:bodyPr wrap="square" lIns="45720" tIns="18288" rIns="45720" bIns="18288" anchor="ctr">
            <a:spAutoFit/>
          </a:bodyPr>
          <a:lstStyle/>
          <a:p>
            <a:pPr algn="ctr"/>
            <a:r>
              <a:rPr sz="1500" b="1" i="0" dirty="0">
                <a:solidFill>
                  <a:srgbClr val="FF0000"/>
                </a:solidFill>
                <a:latin typeface="Calibri"/>
              </a:rPr>
              <a:t>Jay Patwa  |  </a:t>
            </a:r>
            <a:r>
              <a:rPr sz="1500" b="1" i="0" dirty="0" err="1">
                <a:solidFill>
                  <a:srgbClr val="FF0000"/>
                </a:solidFill>
                <a:latin typeface="Calibri"/>
              </a:rPr>
              <a:t>B.Tech</a:t>
            </a:r>
            <a:r>
              <a:rPr sz="1500" b="1" i="0" dirty="0">
                <a:solidFill>
                  <a:srgbClr val="FF0000"/>
                </a:solidFill>
                <a:latin typeface="Calibri"/>
              </a:rPr>
              <a:t> Computer Engineering  |  </a:t>
            </a:r>
            <a:r>
              <a:rPr sz="1500" b="1" i="0" dirty="0" err="1">
                <a:solidFill>
                  <a:srgbClr val="FF0000"/>
                </a:solidFill>
                <a:latin typeface="Calibri"/>
              </a:rPr>
              <a:t>Innomatics</a:t>
            </a:r>
            <a:r>
              <a:rPr sz="1500" b="1" i="0" dirty="0">
                <a:solidFill>
                  <a:srgbClr val="FF0000"/>
                </a:solidFill>
                <a:latin typeface="Calibri"/>
              </a:rPr>
              <a:t> Research Labs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Rectangle 103"/>
          <p:cNvSpPr/>
          <p:nvPr/>
        </p:nvSpPr>
        <p:spPr>
          <a:xfrm>
            <a:off x="0" y="0"/>
            <a:ext cx="12191695" cy="10972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TextBox 104"/>
          <p:cNvSpPr txBox="1"/>
          <p:nvPr/>
        </p:nvSpPr>
        <p:spPr>
          <a:xfrm>
            <a:off x="457200" y="228600"/>
            <a:ext cx="11247120" cy="640080"/>
          </a:xfrm>
          <a:prstGeom prst="rect">
            <a:avLst/>
          </a:prstGeom>
          <a:noFill/>
        </p:spPr>
        <p:txBody>
          <a:bodyPr wrap="square" lIns="45720" tIns="18288" rIns="45720" bIns="18288" anchor="t">
            <a:spAutoFit/>
          </a:bodyPr>
          <a:lstStyle/>
          <a:p>
            <a:pPr algn="l"/>
            <a:r>
              <a:rPr sz="3000" b="1" i="0">
                <a:solidFill>
                  <a:srgbClr val="C00000"/>
                </a:solidFill>
                <a:latin typeface="Lato Black"/>
              </a:rPr>
              <a:t>About Me</a:t>
            </a:r>
          </a:p>
        </p:txBody>
      </p:sp>
      <p:sp>
        <p:nvSpPr>
          <p:cNvPr id="106" name="Rectangle 105"/>
          <p:cNvSpPr/>
          <p:nvPr/>
        </p:nvSpPr>
        <p:spPr>
          <a:xfrm>
            <a:off x="457200" y="841248"/>
            <a:ext cx="1097280" cy="36576"/>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TextBox 106"/>
          <p:cNvSpPr txBox="1"/>
          <p:nvPr/>
        </p:nvSpPr>
        <p:spPr>
          <a:xfrm>
            <a:off x="457200" y="914400"/>
            <a:ext cx="11247120" cy="411480"/>
          </a:xfrm>
          <a:prstGeom prst="rect">
            <a:avLst/>
          </a:prstGeom>
          <a:noFill/>
        </p:spPr>
        <p:txBody>
          <a:bodyPr wrap="square" lIns="45720" tIns="18288" rIns="45720" bIns="18288" anchor="t">
            <a:spAutoFit/>
          </a:bodyPr>
          <a:lstStyle/>
          <a:p>
            <a:pPr algn="l"/>
            <a:r>
              <a:rPr sz="1500" b="0" i="1">
                <a:solidFill>
                  <a:srgbClr val="444444"/>
                </a:solidFill>
                <a:latin typeface="Calibri"/>
              </a:rPr>
              <a:t>Jay Patwa  |  Aspiring Data Analyst</a:t>
            </a:r>
          </a:p>
        </p:txBody>
      </p:sp>
      <p:sp>
        <p:nvSpPr>
          <p:cNvPr id="108" name="Rectangle 107"/>
          <p:cNvSpPr/>
          <p:nvPr/>
        </p:nvSpPr>
        <p:spPr>
          <a:xfrm>
            <a:off x="457200" y="1417320"/>
            <a:ext cx="11247120" cy="73152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Rectangle 108"/>
          <p:cNvSpPr/>
          <p:nvPr/>
        </p:nvSpPr>
        <p:spPr>
          <a:xfrm>
            <a:off x="457200" y="1417320"/>
            <a:ext cx="137160" cy="73152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TextBox 109"/>
          <p:cNvSpPr txBox="1"/>
          <p:nvPr/>
        </p:nvSpPr>
        <p:spPr>
          <a:xfrm>
            <a:off x="777240" y="1417320"/>
            <a:ext cx="10972800" cy="731520"/>
          </a:xfrm>
          <a:prstGeom prst="rect">
            <a:avLst/>
          </a:prstGeom>
          <a:noFill/>
        </p:spPr>
        <p:txBody>
          <a:bodyPr wrap="square" lIns="45720" tIns="18288" rIns="45720" bIns="18288" anchor="ctr">
            <a:spAutoFit/>
          </a:bodyPr>
          <a:lstStyle/>
          <a:p>
            <a:pPr algn="l"/>
            <a:r>
              <a:rPr sz="2800" b="1" i="0">
                <a:solidFill>
                  <a:srgbClr val="1A1A1A"/>
                </a:solidFill>
                <a:latin typeface="Lato Black"/>
              </a:rPr>
              <a:t>Jay Patwa</a:t>
            </a:r>
          </a:p>
        </p:txBody>
      </p:sp>
      <p:sp>
        <p:nvSpPr>
          <p:cNvPr id="111" name="Rectangle 110"/>
          <p:cNvSpPr/>
          <p:nvPr/>
        </p:nvSpPr>
        <p:spPr>
          <a:xfrm>
            <a:off x="457200" y="2331720"/>
            <a:ext cx="5577840" cy="114300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Rectangle 111"/>
          <p:cNvSpPr/>
          <p:nvPr/>
        </p:nvSpPr>
        <p:spPr>
          <a:xfrm>
            <a:off x="457200" y="2331720"/>
            <a:ext cx="91440" cy="114300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TextBox 112"/>
          <p:cNvSpPr txBox="1"/>
          <p:nvPr/>
        </p:nvSpPr>
        <p:spPr>
          <a:xfrm>
            <a:off x="685800" y="2423160"/>
            <a:ext cx="5212080" cy="320040"/>
          </a:xfrm>
          <a:prstGeom prst="rect">
            <a:avLst/>
          </a:prstGeom>
          <a:noFill/>
        </p:spPr>
        <p:txBody>
          <a:bodyPr wrap="square" lIns="45720" tIns="18288" rIns="45720" bIns="18288" anchor="t">
            <a:spAutoFit/>
          </a:bodyPr>
          <a:lstStyle/>
          <a:p>
            <a:pPr algn="l"/>
            <a:r>
              <a:rPr sz="1100" b="1" i="0">
                <a:solidFill>
                  <a:srgbClr val="C00000"/>
                </a:solidFill>
                <a:latin typeface="Lato Black"/>
              </a:rPr>
              <a:t>BACKGROUND</a:t>
            </a:r>
          </a:p>
        </p:txBody>
      </p:sp>
      <p:sp>
        <p:nvSpPr>
          <p:cNvPr id="114" name="TextBox 113"/>
          <p:cNvSpPr txBox="1"/>
          <p:nvPr/>
        </p:nvSpPr>
        <p:spPr>
          <a:xfrm>
            <a:off x="685800" y="2743200"/>
            <a:ext cx="5212080" cy="685800"/>
          </a:xfrm>
          <a:prstGeom prst="rect">
            <a:avLst/>
          </a:prstGeom>
          <a:noFill/>
        </p:spPr>
        <p:txBody>
          <a:bodyPr wrap="square" lIns="45720" tIns="18288" rIns="45720" bIns="18288" anchor="t">
            <a:spAutoFit/>
          </a:bodyPr>
          <a:lstStyle/>
          <a:p>
            <a:pPr algn="l"/>
            <a:r>
              <a:rPr sz="1200" b="0" i="0">
                <a:solidFill>
                  <a:srgbClr val="444444"/>
                </a:solidFill>
                <a:latin typeface="Calibri"/>
              </a:rPr>
              <a:t>Computer Engineering student with a strong interest in Data Analytics, Data Science and Artificial Intelligence.</a:t>
            </a:r>
          </a:p>
        </p:txBody>
      </p:sp>
      <p:sp>
        <p:nvSpPr>
          <p:cNvPr id="115" name="Rectangle 114"/>
          <p:cNvSpPr/>
          <p:nvPr/>
        </p:nvSpPr>
        <p:spPr>
          <a:xfrm>
            <a:off x="457200" y="3566160"/>
            <a:ext cx="5577840" cy="114300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Rectangle 115"/>
          <p:cNvSpPr/>
          <p:nvPr/>
        </p:nvSpPr>
        <p:spPr>
          <a:xfrm>
            <a:off x="457200" y="3566160"/>
            <a:ext cx="91440" cy="114300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TextBox 116"/>
          <p:cNvSpPr txBox="1"/>
          <p:nvPr/>
        </p:nvSpPr>
        <p:spPr>
          <a:xfrm>
            <a:off x="685800" y="3657600"/>
            <a:ext cx="5212080" cy="320040"/>
          </a:xfrm>
          <a:prstGeom prst="rect">
            <a:avLst/>
          </a:prstGeom>
          <a:noFill/>
        </p:spPr>
        <p:txBody>
          <a:bodyPr wrap="square" lIns="45720" tIns="18288" rIns="45720" bIns="18288" anchor="t">
            <a:spAutoFit/>
          </a:bodyPr>
          <a:lstStyle/>
          <a:p>
            <a:pPr algn="l"/>
            <a:r>
              <a:rPr sz="1100" b="1" i="0">
                <a:solidFill>
                  <a:srgbClr val="C00000"/>
                </a:solidFill>
                <a:latin typeface="Lato Black"/>
              </a:rPr>
              <a:t>WHY DATA SCIENCE</a:t>
            </a:r>
          </a:p>
        </p:txBody>
      </p:sp>
      <p:sp>
        <p:nvSpPr>
          <p:cNvPr id="118" name="TextBox 117"/>
          <p:cNvSpPr txBox="1"/>
          <p:nvPr/>
        </p:nvSpPr>
        <p:spPr>
          <a:xfrm>
            <a:off x="685800" y="3977640"/>
            <a:ext cx="5212080" cy="685800"/>
          </a:xfrm>
          <a:prstGeom prst="rect">
            <a:avLst/>
          </a:prstGeom>
          <a:noFill/>
        </p:spPr>
        <p:txBody>
          <a:bodyPr wrap="square" lIns="45720" tIns="18288" rIns="45720" bIns="18288" anchor="t">
            <a:spAutoFit/>
          </a:bodyPr>
          <a:lstStyle/>
          <a:p>
            <a:pPr algn="l"/>
            <a:r>
              <a:rPr sz="1200" b="0" i="0">
                <a:solidFill>
                  <a:srgbClr val="444444"/>
                </a:solidFill>
                <a:latin typeface="Calibri"/>
              </a:rPr>
              <a:t>I enjoy working with data — uncovering patterns and turning raw information into insights that help drive better decisions.</a:t>
            </a:r>
          </a:p>
        </p:txBody>
      </p:sp>
      <p:sp>
        <p:nvSpPr>
          <p:cNvPr id="119" name="Rectangle 118"/>
          <p:cNvSpPr/>
          <p:nvPr/>
        </p:nvSpPr>
        <p:spPr>
          <a:xfrm>
            <a:off x="457200" y="4800600"/>
            <a:ext cx="5577840" cy="114300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Rectangle 119"/>
          <p:cNvSpPr/>
          <p:nvPr/>
        </p:nvSpPr>
        <p:spPr>
          <a:xfrm>
            <a:off x="457200" y="4800600"/>
            <a:ext cx="91440" cy="114300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TextBox 120"/>
          <p:cNvSpPr txBox="1"/>
          <p:nvPr/>
        </p:nvSpPr>
        <p:spPr>
          <a:xfrm>
            <a:off x="685800" y="4892040"/>
            <a:ext cx="5212080" cy="320040"/>
          </a:xfrm>
          <a:prstGeom prst="rect">
            <a:avLst/>
          </a:prstGeom>
          <a:noFill/>
        </p:spPr>
        <p:txBody>
          <a:bodyPr wrap="square" lIns="45720" tIns="18288" rIns="45720" bIns="18288" anchor="t">
            <a:spAutoFit/>
          </a:bodyPr>
          <a:lstStyle/>
          <a:p>
            <a:pPr algn="l"/>
            <a:r>
              <a:rPr sz="1100" b="1" i="0">
                <a:solidFill>
                  <a:srgbClr val="C00000"/>
                </a:solidFill>
                <a:latin typeface="Lato Black"/>
              </a:rPr>
              <a:t>CURRENTLY LEARNING</a:t>
            </a:r>
          </a:p>
        </p:txBody>
      </p:sp>
      <p:sp>
        <p:nvSpPr>
          <p:cNvPr id="122" name="TextBox 121"/>
          <p:cNvSpPr txBox="1"/>
          <p:nvPr/>
        </p:nvSpPr>
        <p:spPr>
          <a:xfrm>
            <a:off x="685800" y="5212080"/>
            <a:ext cx="5212080" cy="685800"/>
          </a:xfrm>
          <a:prstGeom prst="rect">
            <a:avLst/>
          </a:prstGeom>
          <a:noFill/>
        </p:spPr>
        <p:txBody>
          <a:bodyPr wrap="square" lIns="45720" tIns="18288" rIns="45720" bIns="18288" anchor="t">
            <a:spAutoFit/>
          </a:bodyPr>
          <a:lstStyle/>
          <a:p>
            <a:pPr algn="l"/>
            <a:r>
              <a:rPr sz="1200" b="0" i="0">
                <a:solidFill>
                  <a:srgbClr val="444444"/>
                </a:solidFill>
                <a:latin typeface="Calibri"/>
              </a:rPr>
              <a:t>SQL, Python, Statistics, Power BI and Machine Learning through hands-on projects at Innomatics Research Labs.</a:t>
            </a:r>
          </a:p>
        </p:txBody>
      </p:sp>
      <p:sp>
        <p:nvSpPr>
          <p:cNvPr id="123" name="Rectangle 122"/>
          <p:cNvSpPr/>
          <p:nvPr/>
        </p:nvSpPr>
        <p:spPr>
          <a:xfrm>
            <a:off x="6126480" y="2331720"/>
            <a:ext cx="5577840" cy="114300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Rectangle 123"/>
          <p:cNvSpPr/>
          <p:nvPr/>
        </p:nvSpPr>
        <p:spPr>
          <a:xfrm>
            <a:off x="6126480" y="2331720"/>
            <a:ext cx="91440" cy="114300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TextBox 124"/>
          <p:cNvSpPr txBox="1"/>
          <p:nvPr/>
        </p:nvSpPr>
        <p:spPr>
          <a:xfrm>
            <a:off x="6355080" y="2423160"/>
            <a:ext cx="5212080" cy="320040"/>
          </a:xfrm>
          <a:prstGeom prst="rect">
            <a:avLst/>
          </a:prstGeom>
          <a:noFill/>
        </p:spPr>
        <p:txBody>
          <a:bodyPr wrap="square" lIns="45720" tIns="18288" rIns="45720" bIns="18288" anchor="t">
            <a:spAutoFit/>
          </a:bodyPr>
          <a:lstStyle/>
          <a:p>
            <a:pPr algn="l"/>
            <a:r>
              <a:rPr sz="1100" b="1" i="0">
                <a:solidFill>
                  <a:srgbClr val="C00000"/>
                </a:solidFill>
                <a:latin typeface="Lato Black"/>
              </a:rPr>
              <a:t>KEY SKILLS</a:t>
            </a:r>
          </a:p>
        </p:txBody>
      </p:sp>
      <p:sp>
        <p:nvSpPr>
          <p:cNvPr id="126" name="TextBox 125"/>
          <p:cNvSpPr txBox="1"/>
          <p:nvPr/>
        </p:nvSpPr>
        <p:spPr>
          <a:xfrm>
            <a:off x="6355080" y="2743200"/>
            <a:ext cx="5212080" cy="685800"/>
          </a:xfrm>
          <a:prstGeom prst="rect">
            <a:avLst/>
          </a:prstGeom>
          <a:noFill/>
        </p:spPr>
        <p:txBody>
          <a:bodyPr wrap="square" lIns="45720" tIns="18288" rIns="45720" bIns="18288" anchor="t">
            <a:spAutoFit/>
          </a:bodyPr>
          <a:lstStyle/>
          <a:p>
            <a:pPr algn="l"/>
            <a:r>
              <a:rPr sz="1200" b="0" i="0">
                <a:solidFill>
                  <a:srgbClr val="444444"/>
                </a:solidFill>
                <a:latin typeface="Calibri"/>
              </a:rPr>
              <a:t>SQL, Python, Power BI, Microsoft Excel, Data Visualization, Statistics and Machine Learning fundamentals.</a:t>
            </a:r>
          </a:p>
        </p:txBody>
      </p:sp>
      <p:sp>
        <p:nvSpPr>
          <p:cNvPr id="127" name="Rectangle 126"/>
          <p:cNvSpPr/>
          <p:nvPr/>
        </p:nvSpPr>
        <p:spPr>
          <a:xfrm>
            <a:off x="6126480" y="3566160"/>
            <a:ext cx="5577840" cy="114300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Rectangle 127"/>
          <p:cNvSpPr/>
          <p:nvPr/>
        </p:nvSpPr>
        <p:spPr>
          <a:xfrm>
            <a:off x="6126480" y="3566160"/>
            <a:ext cx="91440" cy="114300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 name="TextBox 128"/>
          <p:cNvSpPr txBox="1"/>
          <p:nvPr/>
        </p:nvSpPr>
        <p:spPr>
          <a:xfrm>
            <a:off x="6355080" y="3657600"/>
            <a:ext cx="5212080" cy="320040"/>
          </a:xfrm>
          <a:prstGeom prst="rect">
            <a:avLst/>
          </a:prstGeom>
          <a:noFill/>
        </p:spPr>
        <p:txBody>
          <a:bodyPr wrap="square" lIns="45720" tIns="18288" rIns="45720" bIns="18288" anchor="t">
            <a:spAutoFit/>
          </a:bodyPr>
          <a:lstStyle/>
          <a:p>
            <a:pPr algn="l"/>
            <a:r>
              <a:rPr sz="1100" b="1" i="0">
                <a:solidFill>
                  <a:srgbClr val="C00000"/>
                </a:solidFill>
                <a:latin typeface="Lato Black"/>
              </a:rPr>
              <a:t>CAREER GOAL</a:t>
            </a:r>
          </a:p>
        </p:txBody>
      </p:sp>
      <p:sp>
        <p:nvSpPr>
          <p:cNvPr id="130" name="TextBox 129"/>
          <p:cNvSpPr txBox="1"/>
          <p:nvPr/>
        </p:nvSpPr>
        <p:spPr>
          <a:xfrm>
            <a:off x="6355080" y="3977640"/>
            <a:ext cx="5212080" cy="685800"/>
          </a:xfrm>
          <a:prstGeom prst="rect">
            <a:avLst/>
          </a:prstGeom>
          <a:noFill/>
        </p:spPr>
        <p:txBody>
          <a:bodyPr wrap="square" lIns="45720" tIns="18288" rIns="45720" bIns="18288" anchor="t">
            <a:spAutoFit/>
          </a:bodyPr>
          <a:lstStyle/>
          <a:p>
            <a:pPr algn="l"/>
            <a:r>
              <a:rPr sz="1200" b="0" i="0">
                <a:solidFill>
                  <a:srgbClr val="444444"/>
                </a:solidFill>
                <a:latin typeface="Calibri"/>
              </a:rPr>
              <a:t>Start my journey as a Data Analyst and grow steadily into a skilled Data Scientist.</a:t>
            </a:r>
          </a:p>
        </p:txBody>
      </p:sp>
      <p:sp>
        <p:nvSpPr>
          <p:cNvPr id="131" name="Rectangle 130"/>
          <p:cNvSpPr/>
          <p:nvPr/>
        </p:nvSpPr>
        <p:spPr>
          <a:xfrm>
            <a:off x="6126480" y="4800600"/>
            <a:ext cx="5577840" cy="114300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 name="Rectangle 131"/>
          <p:cNvSpPr/>
          <p:nvPr/>
        </p:nvSpPr>
        <p:spPr>
          <a:xfrm>
            <a:off x="6126480" y="4800600"/>
            <a:ext cx="91440" cy="114300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TextBox 132"/>
          <p:cNvSpPr txBox="1"/>
          <p:nvPr/>
        </p:nvSpPr>
        <p:spPr>
          <a:xfrm>
            <a:off x="6355080" y="4892040"/>
            <a:ext cx="5212080" cy="320040"/>
          </a:xfrm>
          <a:prstGeom prst="rect">
            <a:avLst/>
          </a:prstGeom>
          <a:noFill/>
        </p:spPr>
        <p:txBody>
          <a:bodyPr wrap="square" lIns="45720" tIns="18288" rIns="45720" bIns="18288" anchor="t">
            <a:spAutoFit/>
          </a:bodyPr>
          <a:lstStyle/>
          <a:p>
            <a:pPr algn="l"/>
            <a:r>
              <a:rPr sz="1100" b="1" i="0">
                <a:solidFill>
                  <a:srgbClr val="C00000"/>
                </a:solidFill>
                <a:latin typeface="Lato Black"/>
              </a:rPr>
              <a:t>STRENGTHS</a:t>
            </a:r>
          </a:p>
        </p:txBody>
      </p:sp>
      <p:sp>
        <p:nvSpPr>
          <p:cNvPr id="134" name="TextBox 133"/>
          <p:cNvSpPr txBox="1"/>
          <p:nvPr/>
        </p:nvSpPr>
        <p:spPr>
          <a:xfrm>
            <a:off x="6355080" y="5212080"/>
            <a:ext cx="5212080" cy="685800"/>
          </a:xfrm>
          <a:prstGeom prst="rect">
            <a:avLst/>
          </a:prstGeom>
          <a:noFill/>
        </p:spPr>
        <p:txBody>
          <a:bodyPr wrap="square" lIns="45720" tIns="18288" rIns="45720" bIns="18288" anchor="t">
            <a:spAutoFit/>
          </a:bodyPr>
          <a:lstStyle/>
          <a:p>
            <a:pPr algn="l"/>
            <a:r>
              <a:rPr sz="1200" b="0" i="0" dirty="0">
                <a:solidFill>
                  <a:srgbClr val="444444"/>
                </a:solidFill>
                <a:latin typeface="Calibri"/>
              </a:rPr>
              <a:t>Analytical thinking, problem solving, quick learning ability, adaptability and team collaboration.</a:t>
            </a:r>
          </a:p>
        </p:txBody>
      </p:sp>
      <p:sp>
        <p:nvSpPr>
          <p:cNvPr id="135" name="Rectangle 134"/>
          <p:cNvSpPr/>
          <p:nvPr/>
        </p:nvSpPr>
        <p:spPr>
          <a:xfrm>
            <a:off x="305" y="6263640"/>
            <a:ext cx="12191695" cy="54864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36" name="TextBox 135"/>
          <p:cNvSpPr txBox="1"/>
          <p:nvPr/>
        </p:nvSpPr>
        <p:spPr>
          <a:xfrm>
            <a:off x="594360" y="6248781"/>
            <a:ext cx="5669280" cy="548640"/>
          </a:xfrm>
          <a:prstGeom prst="rect">
            <a:avLst/>
          </a:prstGeom>
          <a:noFill/>
        </p:spPr>
        <p:txBody>
          <a:bodyPr wrap="square" lIns="45720" tIns="18288" rIns="45720" bIns="18288" anchor="ctr">
            <a:spAutoFit/>
          </a:bodyPr>
          <a:lstStyle/>
          <a:p>
            <a:pPr algn="l"/>
            <a:r>
              <a:rPr sz="1300" b="1" i="0" dirty="0">
                <a:solidFill>
                  <a:srgbClr val="FFFFFF"/>
                </a:solidFill>
                <a:latin typeface="Calibri"/>
              </a:rPr>
              <a:t>LinkedIn:  linkedin.com/in/jay-patwa-b625031b2</a:t>
            </a:r>
          </a:p>
        </p:txBody>
      </p:sp>
      <p:sp>
        <p:nvSpPr>
          <p:cNvPr id="137" name="TextBox 136"/>
          <p:cNvSpPr txBox="1"/>
          <p:nvPr/>
        </p:nvSpPr>
        <p:spPr>
          <a:xfrm>
            <a:off x="7983855" y="6221730"/>
            <a:ext cx="5669280" cy="548640"/>
          </a:xfrm>
          <a:prstGeom prst="rect">
            <a:avLst/>
          </a:prstGeom>
          <a:noFill/>
        </p:spPr>
        <p:txBody>
          <a:bodyPr wrap="square" lIns="45720" tIns="18288" rIns="45720" bIns="18288" anchor="ctr">
            <a:spAutoFit/>
          </a:bodyPr>
          <a:lstStyle/>
          <a:p>
            <a:pPr algn="l"/>
            <a:r>
              <a:rPr sz="1300" b="1" i="0" dirty="0">
                <a:solidFill>
                  <a:srgbClr val="FFFFFF"/>
                </a:solidFill>
                <a:latin typeface="Calibri"/>
              </a:rPr>
              <a:t>GitHub:  github.com/jaypatwa21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Rectangle 109"/>
          <p:cNvSpPr/>
          <p:nvPr/>
        </p:nvSpPr>
        <p:spPr>
          <a:xfrm>
            <a:off x="0" y="0"/>
            <a:ext cx="12191695" cy="10972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TextBox 110"/>
          <p:cNvSpPr txBox="1"/>
          <p:nvPr/>
        </p:nvSpPr>
        <p:spPr>
          <a:xfrm>
            <a:off x="457200" y="228600"/>
            <a:ext cx="11247120" cy="640080"/>
          </a:xfrm>
          <a:prstGeom prst="rect">
            <a:avLst/>
          </a:prstGeom>
          <a:noFill/>
        </p:spPr>
        <p:txBody>
          <a:bodyPr wrap="square" lIns="45720" tIns="18288" rIns="45720" bIns="18288" anchor="t">
            <a:spAutoFit/>
          </a:bodyPr>
          <a:lstStyle/>
          <a:p>
            <a:pPr algn="l"/>
            <a:r>
              <a:rPr sz="3000" b="1" i="0">
                <a:solidFill>
                  <a:srgbClr val="C00000"/>
                </a:solidFill>
                <a:latin typeface="Lato Black"/>
              </a:rPr>
              <a:t>Agenda</a:t>
            </a:r>
          </a:p>
        </p:txBody>
      </p:sp>
      <p:sp>
        <p:nvSpPr>
          <p:cNvPr id="112" name="Rectangle 111"/>
          <p:cNvSpPr/>
          <p:nvPr/>
        </p:nvSpPr>
        <p:spPr>
          <a:xfrm>
            <a:off x="457200" y="841248"/>
            <a:ext cx="1097280" cy="36576"/>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TextBox 112"/>
          <p:cNvSpPr txBox="1"/>
          <p:nvPr/>
        </p:nvSpPr>
        <p:spPr>
          <a:xfrm>
            <a:off x="457200" y="914400"/>
            <a:ext cx="11247120" cy="411480"/>
          </a:xfrm>
          <a:prstGeom prst="rect">
            <a:avLst/>
          </a:prstGeom>
          <a:noFill/>
        </p:spPr>
        <p:txBody>
          <a:bodyPr wrap="square" lIns="45720" tIns="18288" rIns="45720" bIns="18288" anchor="t">
            <a:spAutoFit/>
          </a:bodyPr>
          <a:lstStyle/>
          <a:p>
            <a:pPr algn="l"/>
            <a:r>
              <a:rPr sz="1500" b="0" i="1">
                <a:solidFill>
                  <a:srgbClr val="444444"/>
                </a:solidFill>
                <a:latin typeface="Calibri"/>
              </a:rPr>
              <a:t>What this presentation covers</a:t>
            </a:r>
          </a:p>
        </p:txBody>
      </p:sp>
      <p:sp>
        <p:nvSpPr>
          <p:cNvPr id="114" name="Rectangle 113"/>
          <p:cNvSpPr/>
          <p:nvPr/>
        </p:nvSpPr>
        <p:spPr>
          <a:xfrm>
            <a:off x="640080" y="1645920"/>
            <a:ext cx="5394960" cy="128016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Rectangle 114"/>
          <p:cNvSpPr/>
          <p:nvPr/>
        </p:nvSpPr>
        <p:spPr>
          <a:xfrm>
            <a:off x="640080" y="1645920"/>
            <a:ext cx="109728" cy="128016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TextBox 115"/>
          <p:cNvSpPr txBox="1"/>
          <p:nvPr/>
        </p:nvSpPr>
        <p:spPr>
          <a:xfrm>
            <a:off x="914400" y="1737360"/>
            <a:ext cx="1097280" cy="1097280"/>
          </a:xfrm>
          <a:prstGeom prst="rect">
            <a:avLst/>
          </a:prstGeom>
          <a:noFill/>
        </p:spPr>
        <p:txBody>
          <a:bodyPr wrap="square" lIns="45720" tIns="18288" rIns="45720" bIns="18288" anchor="ctr">
            <a:spAutoFit/>
          </a:bodyPr>
          <a:lstStyle/>
          <a:p>
            <a:pPr algn="l"/>
            <a:r>
              <a:rPr sz="4800" b="1" i="0">
                <a:solidFill>
                  <a:srgbClr val="C00000"/>
                </a:solidFill>
                <a:latin typeface="Lato Black"/>
              </a:rPr>
              <a:t>01</a:t>
            </a:r>
          </a:p>
        </p:txBody>
      </p:sp>
      <p:sp>
        <p:nvSpPr>
          <p:cNvPr id="117" name="TextBox 116"/>
          <p:cNvSpPr txBox="1"/>
          <p:nvPr/>
        </p:nvSpPr>
        <p:spPr>
          <a:xfrm>
            <a:off x="2057400" y="1828800"/>
            <a:ext cx="3840480" cy="1005840"/>
          </a:xfrm>
          <a:prstGeom prst="rect">
            <a:avLst/>
          </a:prstGeom>
          <a:noFill/>
        </p:spPr>
        <p:txBody>
          <a:bodyPr wrap="square" lIns="45720" tIns="18288" rIns="45720" bIns="18288" anchor="ctr">
            <a:spAutoFit/>
          </a:bodyPr>
          <a:lstStyle/>
          <a:p>
            <a:pPr algn="l"/>
            <a:r>
              <a:rPr sz="1800" b="1" i="0">
                <a:solidFill>
                  <a:srgbClr val="1A1A1A"/>
                </a:solidFill>
                <a:latin typeface="Calibri"/>
              </a:rPr>
              <a:t>Project Objective</a:t>
            </a:r>
          </a:p>
        </p:txBody>
      </p:sp>
      <p:sp>
        <p:nvSpPr>
          <p:cNvPr id="118" name="Rectangle 117"/>
          <p:cNvSpPr/>
          <p:nvPr/>
        </p:nvSpPr>
        <p:spPr>
          <a:xfrm>
            <a:off x="640080" y="3063240"/>
            <a:ext cx="5394960" cy="128016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Rectangle 118"/>
          <p:cNvSpPr/>
          <p:nvPr/>
        </p:nvSpPr>
        <p:spPr>
          <a:xfrm>
            <a:off x="640080" y="3063240"/>
            <a:ext cx="109728" cy="128016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TextBox 119"/>
          <p:cNvSpPr txBox="1"/>
          <p:nvPr/>
        </p:nvSpPr>
        <p:spPr>
          <a:xfrm>
            <a:off x="914400" y="3154680"/>
            <a:ext cx="1097280" cy="1097280"/>
          </a:xfrm>
          <a:prstGeom prst="rect">
            <a:avLst/>
          </a:prstGeom>
          <a:noFill/>
        </p:spPr>
        <p:txBody>
          <a:bodyPr wrap="square" lIns="45720" tIns="18288" rIns="45720" bIns="18288" anchor="ctr">
            <a:spAutoFit/>
          </a:bodyPr>
          <a:lstStyle/>
          <a:p>
            <a:pPr algn="l"/>
            <a:r>
              <a:rPr sz="4800" b="1" i="0">
                <a:solidFill>
                  <a:srgbClr val="C00000"/>
                </a:solidFill>
                <a:latin typeface="Lato Black"/>
              </a:rPr>
              <a:t>02</a:t>
            </a:r>
          </a:p>
        </p:txBody>
      </p:sp>
      <p:sp>
        <p:nvSpPr>
          <p:cNvPr id="121" name="TextBox 120"/>
          <p:cNvSpPr txBox="1"/>
          <p:nvPr/>
        </p:nvSpPr>
        <p:spPr>
          <a:xfrm>
            <a:off x="2057400" y="3246120"/>
            <a:ext cx="3840480" cy="1005840"/>
          </a:xfrm>
          <a:prstGeom prst="rect">
            <a:avLst/>
          </a:prstGeom>
          <a:noFill/>
        </p:spPr>
        <p:txBody>
          <a:bodyPr wrap="square" lIns="45720" tIns="18288" rIns="45720" bIns="18288" anchor="ctr">
            <a:spAutoFit/>
          </a:bodyPr>
          <a:lstStyle/>
          <a:p>
            <a:pPr algn="l"/>
            <a:r>
              <a:rPr sz="1800" b="1" i="0">
                <a:solidFill>
                  <a:srgbClr val="1A1A1A"/>
                </a:solidFill>
                <a:latin typeface="Calibri"/>
              </a:rPr>
              <a:t>Database Schema Overview</a:t>
            </a:r>
          </a:p>
        </p:txBody>
      </p:sp>
      <p:sp>
        <p:nvSpPr>
          <p:cNvPr id="122" name="Rectangle 121"/>
          <p:cNvSpPr/>
          <p:nvPr/>
        </p:nvSpPr>
        <p:spPr>
          <a:xfrm>
            <a:off x="640080" y="4480560"/>
            <a:ext cx="5394960" cy="128016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Rectangle 122"/>
          <p:cNvSpPr/>
          <p:nvPr/>
        </p:nvSpPr>
        <p:spPr>
          <a:xfrm>
            <a:off x="640080" y="4480560"/>
            <a:ext cx="109728" cy="128016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TextBox 123"/>
          <p:cNvSpPr txBox="1"/>
          <p:nvPr/>
        </p:nvSpPr>
        <p:spPr>
          <a:xfrm>
            <a:off x="914400" y="4572000"/>
            <a:ext cx="1097280" cy="1097280"/>
          </a:xfrm>
          <a:prstGeom prst="rect">
            <a:avLst/>
          </a:prstGeom>
          <a:noFill/>
        </p:spPr>
        <p:txBody>
          <a:bodyPr wrap="square" lIns="45720" tIns="18288" rIns="45720" bIns="18288" anchor="ctr">
            <a:spAutoFit/>
          </a:bodyPr>
          <a:lstStyle/>
          <a:p>
            <a:pPr algn="l"/>
            <a:r>
              <a:rPr sz="4800" b="1" i="0">
                <a:solidFill>
                  <a:srgbClr val="C00000"/>
                </a:solidFill>
                <a:latin typeface="Lato Black"/>
              </a:rPr>
              <a:t>03</a:t>
            </a:r>
          </a:p>
        </p:txBody>
      </p:sp>
      <p:sp>
        <p:nvSpPr>
          <p:cNvPr id="125" name="TextBox 124"/>
          <p:cNvSpPr txBox="1"/>
          <p:nvPr/>
        </p:nvSpPr>
        <p:spPr>
          <a:xfrm>
            <a:off x="2057400" y="4663440"/>
            <a:ext cx="3840480" cy="1005840"/>
          </a:xfrm>
          <a:prstGeom prst="rect">
            <a:avLst/>
          </a:prstGeom>
          <a:noFill/>
        </p:spPr>
        <p:txBody>
          <a:bodyPr wrap="square" lIns="45720" tIns="18288" rIns="45720" bIns="18288" anchor="ctr">
            <a:spAutoFit/>
          </a:bodyPr>
          <a:lstStyle/>
          <a:p>
            <a:pPr algn="l"/>
            <a:r>
              <a:rPr sz="1800" b="1" i="0">
                <a:solidFill>
                  <a:srgbClr val="1A1A1A"/>
                </a:solidFill>
                <a:latin typeface="Calibri"/>
              </a:rPr>
              <a:t>11 Analysis Questions (Q1 – Q11)</a:t>
            </a:r>
          </a:p>
        </p:txBody>
      </p:sp>
      <p:sp>
        <p:nvSpPr>
          <p:cNvPr id="126" name="Rectangle 125"/>
          <p:cNvSpPr/>
          <p:nvPr/>
        </p:nvSpPr>
        <p:spPr>
          <a:xfrm>
            <a:off x="6400800" y="1645920"/>
            <a:ext cx="5394960" cy="128016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Rectangle 126"/>
          <p:cNvSpPr/>
          <p:nvPr/>
        </p:nvSpPr>
        <p:spPr>
          <a:xfrm>
            <a:off x="6400800" y="1645920"/>
            <a:ext cx="109728" cy="128016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TextBox 127"/>
          <p:cNvSpPr txBox="1"/>
          <p:nvPr/>
        </p:nvSpPr>
        <p:spPr>
          <a:xfrm>
            <a:off x="6675120" y="1737360"/>
            <a:ext cx="1097280" cy="1097280"/>
          </a:xfrm>
          <a:prstGeom prst="rect">
            <a:avLst/>
          </a:prstGeom>
          <a:noFill/>
        </p:spPr>
        <p:txBody>
          <a:bodyPr wrap="square" lIns="45720" tIns="18288" rIns="45720" bIns="18288" anchor="ctr">
            <a:spAutoFit/>
          </a:bodyPr>
          <a:lstStyle/>
          <a:p>
            <a:pPr algn="l"/>
            <a:r>
              <a:rPr sz="4800" b="1" i="0">
                <a:solidFill>
                  <a:srgbClr val="C00000"/>
                </a:solidFill>
                <a:latin typeface="Lato Black"/>
              </a:rPr>
              <a:t>04</a:t>
            </a:r>
          </a:p>
        </p:txBody>
      </p:sp>
      <p:sp>
        <p:nvSpPr>
          <p:cNvPr id="129" name="TextBox 128"/>
          <p:cNvSpPr txBox="1"/>
          <p:nvPr/>
        </p:nvSpPr>
        <p:spPr>
          <a:xfrm>
            <a:off x="7818120" y="1828800"/>
            <a:ext cx="3840480" cy="1005840"/>
          </a:xfrm>
          <a:prstGeom prst="rect">
            <a:avLst/>
          </a:prstGeom>
          <a:noFill/>
        </p:spPr>
        <p:txBody>
          <a:bodyPr wrap="square" lIns="45720" tIns="18288" rIns="45720" bIns="18288" anchor="ctr">
            <a:spAutoFit/>
          </a:bodyPr>
          <a:lstStyle/>
          <a:p>
            <a:pPr algn="l"/>
            <a:r>
              <a:rPr sz="1800" b="1" i="0">
                <a:solidFill>
                  <a:srgbClr val="1A1A1A"/>
                </a:solidFill>
                <a:latin typeface="Calibri"/>
              </a:rPr>
              <a:t>Key Findings</a:t>
            </a:r>
          </a:p>
        </p:txBody>
      </p:sp>
      <p:sp>
        <p:nvSpPr>
          <p:cNvPr id="130" name="Rectangle 129"/>
          <p:cNvSpPr/>
          <p:nvPr/>
        </p:nvSpPr>
        <p:spPr>
          <a:xfrm>
            <a:off x="6400800" y="3063240"/>
            <a:ext cx="5394960" cy="128016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 name="Rectangle 130"/>
          <p:cNvSpPr/>
          <p:nvPr/>
        </p:nvSpPr>
        <p:spPr>
          <a:xfrm>
            <a:off x="6400800" y="3063240"/>
            <a:ext cx="109728" cy="128016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 name="TextBox 131"/>
          <p:cNvSpPr txBox="1"/>
          <p:nvPr/>
        </p:nvSpPr>
        <p:spPr>
          <a:xfrm>
            <a:off x="6675120" y="3154680"/>
            <a:ext cx="1097280" cy="1097280"/>
          </a:xfrm>
          <a:prstGeom prst="rect">
            <a:avLst/>
          </a:prstGeom>
          <a:noFill/>
        </p:spPr>
        <p:txBody>
          <a:bodyPr wrap="square" lIns="45720" tIns="18288" rIns="45720" bIns="18288" anchor="ctr">
            <a:spAutoFit/>
          </a:bodyPr>
          <a:lstStyle/>
          <a:p>
            <a:pPr algn="l"/>
            <a:r>
              <a:rPr sz="4800" b="1" i="0">
                <a:solidFill>
                  <a:srgbClr val="C00000"/>
                </a:solidFill>
                <a:latin typeface="Lato Black"/>
              </a:rPr>
              <a:t>05</a:t>
            </a:r>
          </a:p>
        </p:txBody>
      </p:sp>
      <p:sp>
        <p:nvSpPr>
          <p:cNvPr id="133" name="TextBox 132"/>
          <p:cNvSpPr txBox="1"/>
          <p:nvPr/>
        </p:nvSpPr>
        <p:spPr>
          <a:xfrm>
            <a:off x="7818120" y="3246120"/>
            <a:ext cx="3840480" cy="1005840"/>
          </a:xfrm>
          <a:prstGeom prst="rect">
            <a:avLst/>
          </a:prstGeom>
          <a:noFill/>
        </p:spPr>
        <p:txBody>
          <a:bodyPr wrap="square" lIns="45720" tIns="18288" rIns="45720" bIns="18288" anchor="ctr">
            <a:spAutoFit/>
          </a:bodyPr>
          <a:lstStyle/>
          <a:p>
            <a:pPr algn="l"/>
            <a:r>
              <a:rPr sz="1800" b="1" i="0">
                <a:solidFill>
                  <a:srgbClr val="1A1A1A"/>
                </a:solidFill>
                <a:latin typeface="Calibri"/>
              </a:rPr>
              <a:t>Challenges &amp; Learnings</a:t>
            </a:r>
          </a:p>
        </p:txBody>
      </p:sp>
      <p:sp>
        <p:nvSpPr>
          <p:cNvPr id="134" name="Rectangle 133"/>
          <p:cNvSpPr/>
          <p:nvPr/>
        </p:nvSpPr>
        <p:spPr>
          <a:xfrm>
            <a:off x="6400800" y="4480560"/>
            <a:ext cx="5394960" cy="128016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 name="Rectangle 134"/>
          <p:cNvSpPr/>
          <p:nvPr/>
        </p:nvSpPr>
        <p:spPr>
          <a:xfrm>
            <a:off x="6400800" y="4480560"/>
            <a:ext cx="109728" cy="128016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TextBox 135"/>
          <p:cNvSpPr txBox="1"/>
          <p:nvPr/>
        </p:nvSpPr>
        <p:spPr>
          <a:xfrm>
            <a:off x="6675120" y="4572000"/>
            <a:ext cx="1097280" cy="1097280"/>
          </a:xfrm>
          <a:prstGeom prst="rect">
            <a:avLst/>
          </a:prstGeom>
          <a:noFill/>
        </p:spPr>
        <p:txBody>
          <a:bodyPr wrap="square" lIns="45720" tIns="18288" rIns="45720" bIns="18288" anchor="ctr">
            <a:spAutoFit/>
          </a:bodyPr>
          <a:lstStyle/>
          <a:p>
            <a:pPr algn="l"/>
            <a:r>
              <a:rPr sz="4800" b="1" i="0">
                <a:solidFill>
                  <a:srgbClr val="C00000"/>
                </a:solidFill>
                <a:latin typeface="Lato Black"/>
              </a:rPr>
              <a:t>06</a:t>
            </a:r>
          </a:p>
        </p:txBody>
      </p:sp>
      <p:sp>
        <p:nvSpPr>
          <p:cNvPr id="137" name="TextBox 136"/>
          <p:cNvSpPr txBox="1"/>
          <p:nvPr/>
        </p:nvSpPr>
        <p:spPr>
          <a:xfrm>
            <a:off x="7818120" y="4663440"/>
            <a:ext cx="3840480" cy="1005840"/>
          </a:xfrm>
          <a:prstGeom prst="rect">
            <a:avLst/>
          </a:prstGeom>
          <a:noFill/>
        </p:spPr>
        <p:txBody>
          <a:bodyPr wrap="square" lIns="45720" tIns="18288" rIns="45720" bIns="18288" anchor="ctr">
            <a:spAutoFit/>
          </a:bodyPr>
          <a:lstStyle/>
          <a:p>
            <a:pPr algn="l"/>
            <a:r>
              <a:rPr sz="1800" b="1" i="0">
                <a:solidFill>
                  <a:srgbClr val="1A1A1A"/>
                </a:solidFill>
                <a:latin typeface="Calibri"/>
              </a:rPr>
              <a:t>Q &amp; 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11247120" cy="640080"/>
          </a:xfrm>
          <a:prstGeom prst="rect">
            <a:avLst/>
          </a:prstGeom>
          <a:noFill/>
        </p:spPr>
        <p:txBody>
          <a:bodyPr wrap="square" lIns="45720" tIns="18288" rIns="45720" bIns="18288" anchor="t">
            <a:spAutoFit/>
          </a:bodyPr>
          <a:lstStyle/>
          <a:p>
            <a:pPr algn="l"/>
            <a:r>
              <a:rPr sz="3000" b="1" i="0">
                <a:solidFill>
                  <a:srgbClr val="C00000"/>
                </a:solidFill>
                <a:latin typeface="Lato Black"/>
              </a:rPr>
              <a:t>Project Objective</a:t>
            </a:r>
          </a:p>
        </p:txBody>
      </p:sp>
      <p:sp>
        <p:nvSpPr>
          <p:cNvPr id="4" name="Rectangle 3"/>
          <p:cNvSpPr/>
          <p:nvPr/>
        </p:nvSpPr>
        <p:spPr>
          <a:xfrm>
            <a:off x="457200" y="841248"/>
            <a:ext cx="1097280" cy="36576"/>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914400"/>
            <a:ext cx="11247120" cy="411480"/>
          </a:xfrm>
          <a:prstGeom prst="rect">
            <a:avLst/>
          </a:prstGeom>
          <a:noFill/>
        </p:spPr>
        <p:txBody>
          <a:bodyPr wrap="square" lIns="45720" tIns="18288" rIns="45720" bIns="18288" anchor="t">
            <a:spAutoFit/>
          </a:bodyPr>
          <a:lstStyle/>
          <a:p>
            <a:pPr algn="l"/>
            <a:r>
              <a:rPr sz="1500" b="0" i="1">
                <a:solidFill>
                  <a:srgbClr val="444444"/>
                </a:solidFill>
                <a:latin typeface="Calibri"/>
              </a:rPr>
              <a:t>Why we built this analysis</a:t>
            </a:r>
          </a:p>
        </p:txBody>
      </p:sp>
      <p:sp>
        <p:nvSpPr>
          <p:cNvPr id="6" name="TextBox 5"/>
          <p:cNvSpPr txBox="1"/>
          <p:nvPr/>
        </p:nvSpPr>
        <p:spPr>
          <a:xfrm>
            <a:off x="640080" y="1554480"/>
            <a:ext cx="10972800" cy="4572000"/>
          </a:xfrm>
          <a:prstGeom prst="rect">
            <a:avLst/>
          </a:prstGeom>
          <a:noFill/>
        </p:spPr>
        <p:txBody>
          <a:bodyPr wrap="square" lIns="45720" rIns="45720">
            <a:spAutoFit/>
          </a:bodyPr>
          <a:lstStyle/>
          <a:p>
            <a:pPr>
              <a:lnSpc>
                <a:spcPct val="145000"/>
              </a:lnSpc>
              <a:spcAft>
                <a:spcPts val="600"/>
              </a:spcAft>
            </a:pPr>
            <a:r>
              <a:rPr sz="1800" b="1">
                <a:solidFill>
                  <a:srgbClr val="C00000"/>
                </a:solidFill>
                <a:latin typeface="Calibri"/>
              </a:rPr>
              <a:t>•  </a:t>
            </a:r>
            <a:r>
              <a:rPr sz="1800" b="0">
                <a:solidFill>
                  <a:srgbClr val="444444"/>
                </a:solidFill>
                <a:latin typeface="Calibri"/>
              </a:rPr>
              <a:t>Analyse a real-world digital music store database using SQL.</a:t>
            </a:r>
          </a:p>
          <a:p>
            <a:pPr>
              <a:lnSpc>
                <a:spcPct val="145000"/>
              </a:lnSpc>
              <a:spcAft>
                <a:spcPts val="600"/>
              </a:spcAft>
            </a:pPr>
            <a:r>
              <a:rPr sz="1800" b="1">
                <a:solidFill>
                  <a:srgbClr val="C00000"/>
                </a:solidFill>
                <a:latin typeface="Calibri"/>
              </a:rPr>
              <a:t>•  </a:t>
            </a:r>
            <a:r>
              <a:rPr sz="1800" b="0">
                <a:solidFill>
                  <a:srgbClr val="444444"/>
                </a:solidFill>
                <a:latin typeface="Calibri"/>
              </a:rPr>
              <a:t>Answer 11 business questions that a music store would actually ask.</a:t>
            </a:r>
          </a:p>
          <a:p>
            <a:pPr>
              <a:lnSpc>
                <a:spcPct val="145000"/>
              </a:lnSpc>
              <a:spcAft>
                <a:spcPts val="600"/>
              </a:spcAft>
            </a:pPr>
            <a:r>
              <a:rPr sz="1800" b="1">
                <a:solidFill>
                  <a:srgbClr val="C00000"/>
                </a:solidFill>
                <a:latin typeface="Calibri"/>
              </a:rPr>
              <a:t>•  </a:t>
            </a:r>
            <a:r>
              <a:rPr sz="1800" b="0">
                <a:solidFill>
                  <a:srgbClr val="444444"/>
                </a:solidFill>
                <a:latin typeface="Calibri"/>
              </a:rPr>
              <a:t>Practise joins, aggregations, sub-queries, CTEs and window functions.</a:t>
            </a:r>
          </a:p>
          <a:p>
            <a:pPr>
              <a:lnSpc>
                <a:spcPct val="145000"/>
              </a:lnSpc>
              <a:spcAft>
                <a:spcPts val="600"/>
              </a:spcAft>
            </a:pPr>
            <a:r>
              <a:rPr sz="1800" b="1">
                <a:solidFill>
                  <a:srgbClr val="C00000"/>
                </a:solidFill>
                <a:latin typeface="Calibri"/>
              </a:rPr>
              <a:t>•  </a:t>
            </a:r>
            <a:r>
              <a:rPr sz="1800" b="0">
                <a:solidFill>
                  <a:srgbClr val="444444"/>
                </a:solidFill>
                <a:latin typeface="Calibri"/>
              </a:rPr>
              <a:t>Generate insights about customers, sales, geography and music preferences.</a:t>
            </a:r>
          </a:p>
          <a:p>
            <a:pPr>
              <a:lnSpc>
                <a:spcPct val="145000"/>
              </a:lnSpc>
              <a:spcAft>
                <a:spcPts val="600"/>
              </a:spcAft>
            </a:pPr>
            <a:r>
              <a:rPr sz="1800" b="1">
                <a:solidFill>
                  <a:srgbClr val="C00000"/>
                </a:solidFill>
                <a:latin typeface="Calibri"/>
              </a:rPr>
              <a:t>•  </a:t>
            </a:r>
            <a:r>
              <a:rPr sz="1800" b="0">
                <a:solidFill>
                  <a:srgbClr val="444444"/>
                </a:solidFill>
                <a:latin typeface="Calibri"/>
              </a:rPr>
              <a:t>Present findings the way a junior data analyst would on the job.</a:t>
            </a:r>
          </a:p>
        </p:txBody>
      </p:sp>
      <p:sp>
        <p:nvSpPr>
          <p:cNvPr id="7" name="Rectangle 6"/>
          <p:cNvSpPr/>
          <p:nvPr/>
        </p:nvSpPr>
        <p:spPr>
          <a:xfrm>
            <a:off x="0" y="1554480"/>
            <a:ext cx="164592" cy="457200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11247120" cy="640080"/>
          </a:xfrm>
          <a:prstGeom prst="rect">
            <a:avLst/>
          </a:prstGeom>
          <a:noFill/>
        </p:spPr>
        <p:txBody>
          <a:bodyPr wrap="square" lIns="45720" tIns="18288" rIns="45720" bIns="18288" anchor="t">
            <a:spAutoFit/>
          </a:bodyPr>
          <a:lstStyle/>
          <a:p>
            <a:pPr algn="l"/>
            <a:r>
              <a:rPr sz="3000" b="1" i="0">
                <a:solidFill>
                  <a:srgbClr val="C00000"/>
                </a:solidFill>
                <a:latin typeface="Lato Black"/>
              </a:rPr>
              <a:t>Problem Statement</a:t>
            </a:r>
          </a:p>
        </p:txBody>
      </p:sp>
      <p:sp>
        <p:nvSpPr>
          <p:cNvPr id="4" name="Rectangle 3"/>
          <p:cNvSpPr/>
          <p:nvPr/>
        </p:nvSpPr>
        <p:spPr>
          <a:xfrm>
            <a:off x="457200" y="841248"/>
            <a:ext cx="1097280" cy="36576"/>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914400"/>
            <a:ext cx="11247120" cy="411480"/>
          </a:xfrm>
          <a:prstGeom prst="rect">
            <a:avLst/>
          </a:prstGeom>
          <a:noFill/>
        </p:spPr>
        <p:txBody>
          <a:bodyPr wrap="square" lIns="45720" tIns="18288" rIns="45720" bIns="18288" anchor="t">
            <a:spAutoFit/>
          </a:bodyPr>
          <a:lstStyle/>
          <a:p>
            <a:pPr algn="l"/>
            <a:r>
              <a:rPr sz="1500" b="0" i="1">
                <a:solidFill>
                  <a:srgbClr val="444444"/>
                </a:solidFill>
                <a:latin typeface="Calibri"/>
              </a:rPr>
              <a:t>The business questions we want SQL to answer</a:t>
            </a:r>
          </a:p>
        </p:txBody>
      </p:sp>
      <p:sp>
        <p:nvSpPr>
          <p:cNvPr id="6" name="Rectangle 5"/>
          <p:cNvSpPr/>
          <p:nvPr/>
        </p:nvSpPr>
        <p:spPr>
          <a:xfrm>
            <a:off x="457200" y="1508760"/>
            <a:ext cx="5577840" cy="233172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508760"/>
            <a:ext cx="91440" cy="233172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1600200"/>
            <a:ext cx="5212080" cy="320040"/>
          </a:xfrm>
          <a:prstGeom prst="rect">
            <a:avLst/>
          </a:prstGeom>
          <a:noFill/>
        </p:spPr>
        <p:txBody>
          <a:bodyPr wrap="square" lIns="45720" tIns="18288" rIns="45720" bIns="18288" anchor="t">
            <a:spAutoFit/>
          </a:bodyPr>
          <a:lstStyle/>
          <a:p>
            <a:pPr algn="l"/>
            <a:r>
              <a:rPr sz="1100" b="1" i="0">
                <a:solidFill>
                  <a:srgbClr val="C00000"/>
                </a:solidFill>
                <a:latin typeface="Lato Black"/>
              </a:rPr>
              <a:t>BUSINESS PROBLEM</a:t>
            </a:r>
          </a:p>
        </p:txBody>
      </p:sp>
      <p:sp>
        <p:nvSpPr>
          <p:cNvPr id="9" name="TextBox 8"/>
          <p:cNvSpPr txBox="1"/>
          <p:nvPr/>
        </p:nvSpPr>
        <p:spPr>
          <a:xfrm>
            <a:off x="685800" y="1920240"/>
            <a:ext cx="5212080" cy="1828800"/>
          </a:xfrm>
          <a:prstGeom prst="rect">
            <a:avLst/>
          </a:prstGeom>
          <a:noFill/>
        </p:spPr>
        <p:txBody>
          <a:bodyPr wrap="square" lIns="45720" tIns="18288" rIns="45720" bIns="18288" anchor="t">
            <a:spAutoFit/>
          </a:bodyPr>
          <a:lstStyle/>
          <a:p>
            <a:pPr algn="l"/>
            <a:r>
              <a:rPr sz="1300" b="0" i="0">
                <a:solidFill>
                  <a:srgbClr val="444444"/>
                </a:solidFill>
                <a:latin typeface="Calibri"/>
              </a:rPr>
              <a:t>A digital music store has data scattered across customers, invoices, tracks, artists and genres. Leadership cannot easily see who their best customers are, which markets perform well, or which music genres drive revenue.</a:t>
            </a:r>
          </a:p>
        </p:txBody>
      </p:sp>
      <p:sp>
        <p:nvSpPr>
          <p:cNvPr id="10" name="Rectangle 9"/>
          <p:cNvSpPr/>
          <p:nvPr/>
        </p:nvSpPr>
        <p:spPr>
          <a:xfrm>
            <a:off x="6217920" y="1508760"/>
            <a:ext cx="5577840" cy="233172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17920" y="1508760"/>
            <a:ext cx="91440" cy="233172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46520" y="1600200"/>
            <a:ext cx="5212080" cy="320040"/>
          </a:xfrm>
          <a:prstGeom prst="rect">
            <a:avLst/>
          </a:prstGeom>
          <a:noFill/>
        </p:spPr>
        <p:txBody>
          <a:bodyPr wrap="square" lIns="45720" tIns="18288" rIns="45720" bIns="18288" anchor="t">
            <a:spAutoFit/>
          </a:bodyPr>
          <a:lstStyle/>
          <a:p>
            <a:pPr algn="l"/>
            <a:r>
              <a:rPr sz="1100" b="1" i="0">
                <a:solidFill>
                  <a:srgbClr val="C00000"/>
                </a:solidFill>
                <a:latin typeface="Lato Black"/>
              </a:rPr>
              <a:t>OBJECTIVES OF ANALYSIS</a:t>
            </a:r>
          </a:p>
        </p:txBody>
      </p:sp>
      <p:sp>
        <p:nvSpPr>
          <p:cNvPr id="13" name="TextBox 12"/>
          <p:cNvSpPr txBox="1"/>
          <p:nvPr/>
        </p:nvSpPr>
        <p:spPr>
          <a:xfrm>
            <a:off x="6446520" y="1920240"/>
            <a:ext cx="5212080" cy="1828800"/>
          </a:xfrm>
          <a:prstGeom prst="rect">
            <a:avLst/>
          </a:prstGeom>
          <a:noFill/>
        </p:spPr>
        <p:txBody>
          <a:bodyPr wrap="square" lIns="45720" tIns="18288" rIns="45720" bIns="18288" anchor="t">
            <a:spAutoFit/>
          </a:bodyPr>
          <a:lstStyle/>
          <a:p>
            <a:pPr algn="l"/>
            <a:r>
              <a:rPr sz="1300" b="0" i="0">
                <a:solidFill>
                  <a:srgbClr val="444444"/>
                </a:solidFill>
                <a:latin typeface="Calibri"/>
              </a:rPr>
              <a:t>Use SQL to extract clear, accurate answers to 11 business questions that cover sales, customers, geography and music preferences — without exporting data to any other tool.</a:t>
            </a:r>
          </a:p>
        </p:txBody>
      </p:sp>
      <p:sp>
        <p:nvSpPr>
          <p:cNvPr id="14" name="Rectangle 13"/>
          <p:cNvSpPr/>
          <p:nvPr/>
        </p:nvSpPr>
        <p:spPr>
          <a:xfrm>
            <a:off x="457200" y="3977640"/>
            <a:ext cx="5577840" cy="233172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57200" y="3977640"/>
            <a:ext cx="91440" cy="233172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85800" y="4069080"/>
            <a:ext cx="5212080" cy="320040"/>
          </a:xfrm>
          <a:prstGeom prst="rect">
            <a:avLst/>
          </a:prstGeom>
          <a:noFill/>
        </p:spPr>
        <p:txBody>
          <a:bodyPr wrap="square" lIns="45720" tIns="18288" rIns="45720" bIns="18288" anchor="t">
            <a:spAutoFit/>
          </a:bodyPr>
          <a:lstStyle/>
          <a:p>
            <a:pPr algn="l"/>
            <a:r>
              <a:rPr sz="1100" b="1" i="0">
                <a:solidFill>
                  <a:srgbClr val="C00000"/>
                </a:solidFill>
                <a:latin typeface="Lato Black"/>
              </a:rPr>
              <a:t>WHY IT MATTERS</a:t>
            </a:r>
          </a:p>
        </p:txBody>
      </p:sp>
      <p:sp>
        <p:nvSpPr>
          <p:cNvPr id="17" name="TextBox 16"/>
          <p:cNvSpPr txBox="1"/>
          <p:nvPr/>
        </p:nvSpPr>
        <p:spPr>
          <a:xfrm>
            <a:off x="685800" y="4389120"/>
            <a:ext cx="5212080" cy="1828800"/>
          </a:xfrm>
          <a:prstGeom prst="rect">
            <a:avLst/>
          </a:prstGeom>
          <a:noFill/>
        </p:spPr>
        <p:txBody>
          <a:bodyPr wrap="square" lIns="45720" tIns="18288" rIns="45720" bIns="18288" anchor="t">
            <a:spAutoFit/>
          </a:bodyPr>
          <a:lstStyle/>
          <a:p>
            <a:pPr algn="l"/>
            <a:r>
              <a:rPr sz="1300" b="0" i="0">
                <a:solidFill>
                  <a:srgbClr val="444444"/>
                </a:solidFill>
                <a:latin typeface="Calibri"/>
              </a:rPr>
              <a:t>These insights guide real decisions — where to host the next festival, which artists to invite, which customers deserve loyalty perks, and which markets need more marketing investment.</a:t>
            </a:r>
          </a:p>
        </p:txBody>
      </p:sp>
      <p:sp>
        <p:nvSpPr>
          <p:cNvPr id="18" name="Rectangle 17"/>
          <p:cNvSpPr/>
          <p:nvPr/>
        </p:nvSpPr>
        <p:spPr>
          <a:xfrm>
            <a:off x="6217920" y="3977640"/>
            <a:ext cx="5577840" cy="233172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217920" y="3977640"/>
            <a:ext cx="91440" cy="233172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46520" y="4069080"/>
            <a:ext cx="5212080" cy="320040"/>
          </a:xfrm>
          <a:prstGeom prst="rect">
            <a:avLst/>
          </a:prstGeom>
          <a:noFill/>
        </p:spPr>
        <p:txBody>
          <a:bodyPr wrap="square" lIns="45720" tIns="18288" rIns="45720" bIns="18288" anchor="t">
            <a:spAutoFit/>
          </a:bodyPr>
          <a:lstStyle/>
          <a:p>
            <a:pPr algn="l"/>
            <a:r>
              <a:rPr sz="1100" b="1" i="0">
                <a:solidFill>
                  <a:srgbClr val="C00000"/>
                </a:solidFill>
                <a:latin typeface="Lato Black"/>
              </a:rPr>
              <a:t>DATASET &amp; DATABASE</a:t>
            </a:r>
          </a:p>
        </p:txBody>
      </p:sp>
      <p:sp>
        <p:nvSpPr>
          <p:cNvPr id="21" name="TextBox 20"/>
          <p:cNvSpPr txBox="1"/>
          <p:nvPr/>
        </p:nvSpPr>
        <p:spPr>
          <a:xfrm>
            <a:off x="6446520" y="4389120"/>
            <a:ext cx="5212080" cy="1828800"/>
          </a:xfrm>
          <a:prstGeom prst="rect">
            <a:avLst/>
          </a:prstGeom>
          <a:noFill/>
        </p:spPr>
        <p:txBody>
          <a:bodyPr wrap="square" lIns="45720" tIns="18288" rIns="45720" bIns="18288" anchor="t">
            <a:spAutoFit/>
          </a:bodyPr>
          <a:lstStyle/>
          <a:p>
            <a:pPr algn="l"/>
            <a:r>
              <a:rPr sz="1300" b="0" i="0">
                <a:solidFill>
                  <a:srgbClr val="444444"/>
                </a:solidFill>
                <a:latin typeface="Calibri"/>
              </a:rPr>
              <a:t>Real-world music store schema with 11 relational tables. Implemented in MySQL using MySQL Workbench. Data imported from 11 CSV files provided by Innomatics Research Labs.</a:t>
            </a:r>
          </a:p>
        </p:txBody>
      </p:sp>
      <p:sp>
        <p:nvSpPr>
          <p:cNvPr id="22" name="Rectangle 21"/>
          <p:cNvSpPr/>
          <p:nvPr/>
        </p:nvSpPr>
        <p:spPr>
          <a:xfrm>
            <a:off x="0" y="6263640"/>
            <a:ext cx="12191695" cy="50292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7200" y="6263640"/>
            <a:ext cx="11247120" cy="502920"/>
          </a:xfrm>
          <a:prstGeom prst="rect">
            <a:avLst/>
          </a:prstGeom>
          <a:noFill/>
        </p:spPr>
        <p:txBody>
          <a:bodyPr wrap="square" lIns="45720" tIns="18288" rIns="45720" bIns="18288" anchor="ctr">
            <a:spAutoFit/>
          </a:bodyPr>
          <a:lstStyle/>
          <a:p>
            <a:pPr algn="l"/>
            <a:r>
              <a:rPr sz="1400" b="1" i="0">
                <a:solidFill>
                  <a:srgbClr val="FFFFFF"/>
                </a:solidFill>
                <a:latin typeface="Calibri"/>
              </a:rPr>
              <a:t>Goal: Turn 11 raw CSVs into 11 actionable business answers — using only SQL.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11247120" cy="640080"/>
          </a:xfrm>
          <a:prstGeom prst="rect">
            <a:avLst/>
          </a:prstGeom>
          <a:noFill/>
        </p:spPr>
        <p:txBody>
          <a:bodyPr wrap="square" lIns="45720" tIns="18288" rIns="45720" bIns="18288" anchor="t">
            <a:spAutoFit/>
          </a:bodyPr>
          <a:lstStyle/>
          <a:p>
            <a:pPr algn="l"/>
            <a:r>
              <a:rPr sz="3000" b="1" i="0">
                <a:solidFill>
                  <a:srgbClr val="C00000"/>
                </a:solidFill>
                <a:latin typeface="Lato Black"/>
              </a:rPr>
              <a:t>Database Schema</a:t>
            </a:r>
          </a:p>
        </p:txBody>
      </p:sp>
      <p:sp>
        <p:nvSpPr>
          <p:cNvPr id="4" name="Rectangle 3"/>
          <p:cNvSpPr/>
          <p:nvPr/>
        </p:nvSpPr>
        <p:spPr>
          <a:xfrm>
            <a:off x="457200" y="841248"/>
            <a:ext cx="1097280" cy="36576"/>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914400"/>
            <a:ext cx="11247120" cy="411480"/>
          </a:xfrm>
          <a:prstGeom prst="rect">
            <a:avLst/>
          </a:prstGeom>
          <a:noFill/>
        </p:spPr>
        <p:txBody>
          <a:bodyPr wrap="square" lIns="45720" tIns="18288" rIns="45720" bIns="18288" anchor="t">
            <a:spAutoFit/>
          </a:bodyPr>
          <a:lstStyle/>
          <a:p>
            <a:pPr algn="l"/>
            <a:r>
              <a:rPr sz="1500" b="0" i="1">
                <a:solidFill>
                  <a:srgbClr val="444444"/>
                </a:solidFill>
                <a:latin typeface="Calibri"/>
              </a:rPr>
              <a:t>Entity Relationship Model — MUSICSTORE database (11 tables)</a:t>
            </a:r>
          </a:p>
        </p:txBody>
      </p:sp>
      <p:sp>
        <p:nvSpPr>
          <p:cNvPr id="6" name="Rectangle 5"/>
          <p:cNvSpPr/>
          <p:nvPr/>
        </p:nvSpPr>
        <p:spPr>
          <a:xfrm>
            <a:off x="365760" y="1417320"/>
            <a:ext cx="11430000" cy="4572000"/>
          </a:xfrm>
          <a:prstGeom prst="rect">
            <a:avLst/>
          </a:prstGeom>
          <a:solidFill>
            <a:srgbClr val="FFFFFF"/>
          </a:solidFill>
          <a:ln w="9525">
            <a:solidFill>
              <a:srgbClr val="EEEE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er_diagram.png"/>
          <p:cNvPicPr>
            <a:picLocks noChangeAspect="1"/>
          </p:cNvPicPr>
          <p:nvPr/>
        </p:nvPicPr>
        <p:blipFill>
          <a:blip r:embed="rId2"/>
          <a:stretch>
            <a:fillRect/>
          </a:stretch>
        </p:blipFill>
        <p:spPr>
          <a:xfrm>
            <a:off x="2404734" y="1508760"/>
            <a:ext cx="7352052" cy="438912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11247120" cy="640080"/>
          </a:xfrm>
          <a:prstGeom prst="rect">
            <a:avLst/>
          </a:prstGeom>
          <a:noFill/>
        </p:spPr>
        <p:txBody>
          <a:bodyPr wrap="square" lIns="45720" tIns="18288" rIns="45720" bIns="18288" anchor="t">
            <a:spAutoFit/>
          </a:bodyPr>
          <a:lstStyle/>
          <a:p>
            <a:pPr algn="l"/>
            <a:r>
              <a:rPr sz="3000" b="1" i="0">
                <a:solidFill>
                  <a:srgbClr val="C00000"/>
                </a:solidFill>
                <a:latin typeface="Lato Black"/>
              </a:rPr>
              <a:t>Data Cleaning &amp; Validation</a:t>
            </a:r>
          </a:p>
        </p:txBody>
      </p:sp>
      <p:sp>
        <p:nvSpPr>
          <p:cNvPr id="4" name="Rectangle 3"/>
          <p:cNvSpPr/>
          <p:nvPr/>
        </p:nvSpPr>
        <p:spPr>
          <a:xfrm>
            <a:off x="457200" y="841248"/>
            <a:ext cx="1097280" cy="36576"/>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914400"/>
            <a:ext cx="11247120" cy="411480"/>
          </a:xfrm>
          <a:prstGeom prst="rect">
            <a:avLst/>
          </a:prstGeom>
          <a:noFill/>
        </p:spPr>
        <p:txBody>
          <a:bodyPr wrap="square" lIns="45720" tIns="18288" rIns="45720" bIns="18288" anchor="t">
            <a:spAutoFit/>
          </a:bodyPr>
          <a:lstStyle/>
          <a:p>
            <a:pPr algn="l"/>
            <a:r>
              <a:rPr sz="1500" b="0" i="1">
                <a:solidFill>
                  <a:srgbClr val="444444"/>
                </a:solidFill>
                <a:latin typeface="Calibri"/>
              </a:rPr>
              <a:t>How we made the raw CSVs ready for analysis</a:t>
            </a:r>
          </a:p>
        </p:txBody>
      </p:sp>
      <p:sp>
        <p:nvSpPr>
          <p:cNvPr id="6" name="Rectangle 5"/>
          <p:cNvSpPr/>
          <p:nvPr/>
        </p:nvSpPr>
        <p:spPr>
          <a:xfrm>
            <a:off x="457200" y="1508760"/>
            <a:ext cx="5577840" cy="150876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508760"/>
            <a:ext cx="91440" cy="150876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1600200"/>
            <a:ext cx="5212080" cy="320040"/>
          </a:xfrm>
          <a:prstGeom prst="rect">
            <a:avLst/>
          </a:prstGeom>
          <a:noFill/>
        </p:spPr>
        <p:txBody>
          <a:bodyPr wrap="square" lIns="45720" tIns="18288" rIns="45720" bIns="18288" anchor="t">
            <a:spAutoFit/>
          </a:bodyPr>
          <a:lstStyle/>
          <a:p>
            <a:pPr algn="l"/>
            <a:r>
              <a:rPr sz="1100" b="1" i="0">
                <a:solidFill>
                  <a:srgbClr val="C00000"/>
                </a:solidFill>
                <a:latin typeface="Lato Black"/>
              </a:rPr>
              <a:t>CSV IMPORT ORDER</a:t>
            </a:r>
          </a:p>
        </p:txBody>
      </p:sp>
      <p:sp>
        <p:nvSpPr>
          <p:cNvPr id="9" name="TextBox 8"/>
          <p:cNvSpPr txBox="1"/>
          <p:nvPr/>
        </p:nvSpPr>
        <p:spPr>
          <a:xfrm>
            <a:off x="685800" y="1920240"/>
            <a:ext cx="5212080" cy="1005840"/>
          </a:xfrm>
          <a:prstGeom prst="rect">
            <a:avLst/>
          </a:prstGeom>
          <a:noFill/>
        </p:spPr>
        <p:txBody>
          <a:bodyPr wrap="square" lIns="45720" tIns="18288" rIns="45720" bIns="18288" anchor="t">
            <a:spAutoFit/>
          </a:bodyPr>
          <a:lstStyle/>
          <a:p>
            <a:pPr algn="l"/>
            <a:r>
              <a:rPr sz="1300" b="0" i="0">
                <a:solidFill>
                  <a:srgbClr val="444444"/>
                </a:solidFill>
                <a:latin typeface="Calibri"/>
              </a:rPr>
              <a:t>Tables were imported in the right order to respect foreign keys — Genre, MediaType, Employee, Customer, Artist, Album, Track, Invoice, InvoiceLine, Playlist, PlaylistTrack.</a:t>
            </a:r>
          </a:p>
        </p:txBody>
      </p:sp>
      <p:sp>
        <p:nvSpPr>
          <p:cNvPr id="10" name="Rectangle 9"/>
          <p:cNvSpPr/>
          <p:nvPr/>
        </p:nvSpPr>
        <p:spPr>
          <a:xfrm>
            <a:off x="6217920" y="1508760"/>
            <a:ext cx="5577840" cy="150876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17920" y="1508760"/>
            <a:ext cx="91440" cy="150876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46520" y="1600200"/>
            <a:ext cx="5212080" cy="320040"/>
          </a:xfrm>
          <a:prstGeom prst="rect">
            <a:avLst/>
          </a:prstGeom>
          <a:noFill/>
        </p:spPr>
        <p:txBody>
          <a:bodyPr wrap="square" lIns="45720" tIns="18288" rIns="45720" bIns="18288" anchor="t">
            <a:spAutoFit/>
          </a:bodyPr>
          <a:lstStyle/>
          <a:p>
            <a:pPr algn="l"/>
            <a:r>
              <a:rPr sz="1100" b="1" i="0">
                <a:solidFill>
                  <a:srgbClr val="C00000"/>
                </a:solidFill>
                <a:latin typeface="Lato Black"/>
              </a:rPr>
              <a:t>FK CONSTRAINT ISSUE</a:t>
            </a:r>
          </a:p>
        </p:txBody>
      </p:sp>
      <p:sp>
        <p:nvSpPr>
          <p:cNvPr id="13" name="TextBox 12"/>
          <p:cNvSpPr txBox="1"/>
          <p:nvPr/>
        </p:nvSpPr>
        <p:spPr>
          <a:xfrm>
            <a:off x="6446520" y="1920240"/>
            <a:ext cx="5212080" cy="1005840"/>
          </a:xfrm>
          <a:prstGeom prst="rect">
            <a:avLst/>
          </a:prstGeom>
          <a:noFill/>
        </p:spPr>
        <p:txBody>
          <a:bodyPr wrap="square" lIns="45720" tIns="18288" rIns="45720" bIns="18288" anchor="t">
            <a:spAutoFit/>
          </a:bodyPr>
          <a:lstStyle/>
          <a:p>
            <a:pPr algn="l"/>
            <a:r>
              <a:rPr sz="1300" b="0" i="0">
                <a:solidFill>
                  <a:srgbClr val="444444"/>
                </a:solidFill>
                <a:latin typeface="Calibri"/>
              </a:rPr>
              <a:t>employee.reports_to is a self-referencing FK. CSV import failed at first. Solved by dropping the constraint, importing, then re-adding it — a common production-style workaround.</a:t>
            </a:r>
          </a:p>
        </p:txBody>
      </p:sp>
      <p:sp>
        <p:nvSpPr>
          <p:cNvPr id="14" name="Rectangle 13"/>
          <p:cNvSpPr/>
          <p:nvPr/>
        </p:nvSpPr>
        <p:spPr>
          <a:xfrm>
            <a:off x="457200" y="3154680"/>
            <a:ext cx="5577840" cy="150876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57200" y="3154680"/>
            <a:ext cx="91440" cy="150876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85800" y="3246120"/>
            <a:ext cx="5212080" cy="320040"/>
          </a:xfrm>
          <a:prstGeom prst="rect">
            <a:avLst/>
          </a:prstGeom>
          <a:noFill/>
        </p:spPr>
        <p:txBody>
          <a:bodyPr wrap="square" lIns="45720" tIns="18288" rIns="45720" bIns="18288" anchor="t">
            <a:spAutoFit/>
          </a:bodyPr>
          <a:lstStyle/>
          <a:p>
            <a:pPr algn="l"/>
            <a:r>
              <a:rPr sz="1100" b="1" i="0">
                <a:solidFill>
                  <a:srgbClr val="C00000"/>
                </a:solidFill>
                <a:latin typeface="Lato Black"/>
              </a:rPr>
              <a:t>NULL VALUES</a:t>
            </a:r>
          </a:p>
        </p:txBody>
      </p:sp>
      <p:sp>
        <p:nvSpPr>
          <p:cNvPr id="17" name="TextBox 16"/>
          <p:cNvSpPr txBox="1"/>
          <p:nvPr/>
        </p:nvSpPr>
        <p:spPr>
          <a:xfrm>
            <a:off x="685800" y="3566160"/>
            <a:ext cx="5212080" cy="1005840"/>
          </a:xfrm>
          <a:prstGeom prst="rect">
            <a:avLst/>
          </a:prstGeom>
          <a:noFill/>
        </p:spPr>
        <p:txBody>
          <a:bodyPr wrap="square" lIns="45720" tIns="18288" rIns="45720" bIns="18288" anchor="t">
            <a:spAutoFit/>
          </a:bodyPr>
          <a:lstStyle/>
          <a:p>
            <a:pPr algn="l"/>
            <a:r>
              <a:rPr sz="1300" b="0" i="0">
                <a:solidFill>
                  <a:srgbClr val="444444"/>
                </a:solidFill>
                <a:latin typeface="Calibri"/>
              </a:rPr>
              <a:t>Checked customer.company, employee.fax and employee.reports_to (top boss) for legitimate NULLs. Used IS NULL / COALESCE during analysis where needed — no synthetic filling.</a:t>
            </a:r>
          </a:p>
        </p:txBody>
      </p:sp>
      <p:sp>
        <p:nvSpPr>
          <p:cNvPr id="18" name="Rectangle 17"/>
          <p:cNvSpPr/>
          <p:nvPr/>
        </p:nvSpPr>
        <p:spPr>
          <a:xfrm>
            <a:off x="6217920" y="3154680"/>
            <a:ext cx="5577840" cy="150876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217920" y="3154680"/>
            <a:ext cx="91440" cy="150876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46520" y="3246120"/>
            <a:ext cx="5212080" cy="320040"/>
          </a:xfrm>
          <a:prstGeom prst="rect">
            <a:avLst/>
          </a:prstGeom>
          <a:noFill/>
        </p:spPr>
        <p:txBody>
          <a:bodyPr wrap="square" lIns="45720" tIns="18288" rIns="45720" bIns="18288" anchor="t">
            <a:spAutoFit/>
          </a:bodyPr>
          <a:lstStyle/>
          <a:p>
            <a:pPr algn="l"/>
            <a:r>
              <a:rPr sz="1100" b="1" i="0">
                <a:solidFill>
                  <a:srgbClr val="C00000"/>
                </a:solidFill>
                <a:latin typeface="Lato Black"/>
              </a:rPr>
              <a:t>DUPLICATE CHECK</a:t>
            </a:r>
          </a:p>
        </p:txBody>
      </p:sp>
      <p:sp>
        <p:nvSpPr>
          <p:cNvPr id="21" name="TextBox 20"/>
          <p:cNvSpPr txBox="1"/>
          <p:nvPr/>
        </p:nvSpPr>
        <p:spPr>
          <a:xfrm>
            <a:off x="6446520" y="3566160"/>
            <a:ext cx="5212080" cy="1005840"/>
          </a:xfrm>
          <a:prstGeom prst="rect">
            <a:avLst/>
          </a:prstGeom>
          <a:noFill/>
        </p:spPr>
        <p:txBody>
          <a:bodyPr wrap="square" lIns="45720" tIns="18288" rIns="45720" bIns="18288" anchor="t">
            <a:spAutoFit/>
          </a:bodyPr>
          <a:lstStyle/>
          <a:p>
            <a:pPr algn="l"/>
            <a:r>
              <a:rPr sz="1300" b="0" i="0">
                <a:solidFill>
                  <a:srgbClr val="444444"/>
                </a:solidFill>
                <a:latin typeface="Calibri"/>
              </a:rPr>
              <a:t>Ran COUNT(*) vs COUNT(DISTINCT pk) on every table. No duplicate primary keys found — data is clean at the row level.</a:t>
            </a:r>
          </a:p>
        </p:txBody>
      </p:sp>
      <p:sp>
        <p:nvSpPr>
          <p:cNvPr id="22" name="Rectangle 21"/>
          <p:cNvSpPr/>
          <p:nvPr/>
        </p:nvSpPr>
        <p:spPr>
          <a:xfrm>
            <a:off x="457200" y="4800600"/>
            <a:ext cx="5577840" cy="150876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57200" y="4800600"/>
            <a:ext cx="91440" cy="150876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85800" y="4892040"/>
            <a:ext cx="5212080" cy="320040"/>
          </a:xfrm>
          <a:prstGeom prst="rect">
            <a:avLst/>
          </a:prstGeom>
          <a:noFill/>
        </p:spPr>
        <p:txBody>
          <a:bodyPr wrap="square" lIns="45720" tIns="18288" rIns="45720" bIns="18288" anchor="t">
            <a:spAutoFit/>
          </a:bodyPr>
          <a:lstStyle/>
          <a:p>
            <a:pPr algn="l"/>
            <a:r>
              <a:rPr sz="1100" b="1" i="0">
                <a:solidFill>
                  <a:srgbClr val="C00000"/>
                </a:solidFill>
                <a:latin typeface="Lato Black"/>
              </a:rPr>
              <a:t>COLUMN-NAME VALIDATION</a:t>
            </a:r>
          </a:p>
        </p:txBody>
      </p:sp>
      <p:sp>
        <p:nvSpPr>
          <p:cNvPr id="25" name="TextBox 24"/>
          <p:cNvSpPr txBox="1"/>
          <p:nvPr/>
        </p:nvSpPr>
        <p:spPr>
          <a:xfrm>
            <a:off x="685800" y="5212080"/>
            <a:ext cx="5212080" cy="1005840"/>
          </a:xfrm>
          <a:prstGeom prst="rect">
            <a:avLst/>
          </a:prstGeom>
          <a:noFill/>
        </p:spPr>
        <p:txBody>
          <a:bodyPr wrap="square" lIns="45720" tIns="18288" rIns="45720" bIns="18288" anchor="t">
            <a:spAutoFit/>
          </a:bodyPr>
          <a:lstStyle/>
          <a:p>
            <a:pPr algn="l"/>
            <a:r>
              <a:rPr sz="1300" b="0" i="0">
                <a:solidFill>
                  <a:srgbClr val="444444"/>
                </a:solidFill>
                <a:latin typeface="Calibri"/>
              </a:rPr>
              <a:t>Confirmed every CSV column maps to its table column (snake_case). Caught early issues like BillingCity vs billing_city before queries broke.</a:t>
            </a:r>
          </a:p>
        </p:txBody>
      </p:sp>
      <p:sp>
        <p:nvSpPr>
          <p:cNvPr id="26" name="Rectangle 25"/>
          <p:cNvSpPr/>
          <p:nvPr/>
        </p:nvSpPr>
        <p:spPr>
          <a:xfrm>
            <a:off x="6217920" y="4800600"/>
            <a:ext cx="5577840" cy="150876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217920" y="4800600"/>
            <a:ext cx="91440" cy="150876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46520" y="4892040"/>
            <a:ext cx="5212080" cy="320040"/>
          </a:xfrm>
          <a:prstGeom prst="rect">
            <a:avLst/>
          </a:prstGeom>
          <a:noFill/>
        </p:spPr>
        <p:txBody>
          <a:bodyPr wrap="square" lIns="45720" tIns="18288" rIns="45720" bIns="18288" anchor="t">
            <a:spAutoFit/>
          </a:bodyPr>
          <a:lstStyle/>
          <a:p>
            <a:pPr algn="l"/>
            <a:r>
              <a:rPr sz="1100" b="1" i="0">
                <a:solidFill>
                  <a:srgbClr val="C00000"/>
                </a:solidFill>
                <a:latin typeface="Lato Black"/>
              </a:rPr>
              <a:t>ROW-COUNT SANITY</a:t>
            </a:r>
          </a:p>
        </p:txBody>
      </p:sp>
      <p:sp>
        <p:nvSpPr>
          <p:cNvPr id="29" name="TextBox 28"/>
          <p:cNvSpPr txBox="1"/>
          <p:nvPr/>
        </p:nvSpPr>
        <p:spPr>
          <a:xfrm>
            <a:off x="6446520" y="5212080"/>
            <a:ext cx="5212080" cy="1005840"/>
          </a:xfrm>
          <a:prstGeom prst="rect">
            <a:avLst/>
          </a:prstGeom>
          <a:noFill/>
        </p:spPr>
        <p:txBody>
          <a:bodyPr wrap="square" lIns="45720" tIns="18288" rIns="45720" bIns="18288" anchor="t">
            <a:spAutoFit/>
          </a:bodyPr>
          <a:lstStyle/>
          <a:p>
            <a:pPr algn="l"/>
            <a:r>
              <a:rPr sz="1300" b="0" i="0">
                <a:solidFill>
                  <a:srgbClr val="444444"/>
                </a:solidFill>
                <a:latin typeface="Calibri"/>
              </a:rPr>
              <a:t>Verified 8 employees + 1 manual insert (Mohan Madan), ~59 customers, ~412 invoices, ~2240 invoice_line rows, ~3500 tracks — matches expected dataset volume.</a:t>
            </a:r>
          </a:p>
        </p:txBody>
      </p:sp>
      <p:sp>
        <p:nvSpPr>
          <p:cNvPr id="30" name="Rectangle 29"/>
          <p:cNvSpPr/>
          <p:nvPr/>
        </p:nvSpPr>
        <p:spPr>
          <a:xfrm>
            <a:off x="0" y="6263640"/>
            <a:ext cx="12191695" cy="50292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57200" y="6263640"/>
            <a:ext cx="11247120" cy="502920"/>
          </a:xfrm>
          <a:prstGeom prst="rect">
            <a:avLst/>
          </a:prstGeom>
          <a:noFill/>
        </p:spPr>
        <p:txBody>
          <a:bodyPr wrap="square" lIns="45720" tIns="18288" rIns="45720" bIns="18288" anchor="ctr">
            <a:spAutoFit/>
          </a:bodyPr>
          <a:lstStyle/>
          <a:p>
            <a:pPr algn="l"/>
            <a:r>
              <a:rPr sz="1300" b="1" i="0">
                <a:solidFill>
                  <a:srgbClr val="FFFFFF"/>
                </a:solidFill>
                <a:latin typeface="Calibri"/>
              </a:rPr>
              <a:t>Clean data in → reliable insights out.  Validation done before any analysis query was run.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11247120" cy="640080"/>
          </a:xfrm>
          <a:prstGeom prst="rect">
            <a:avLst/>
          </a:prstGeom>
          <a:noFill/>
        </p:spPr>
        <p:txBody>
          <a:bodyPr wrap="square" lIns="45720" tIns="18288" rIns="45720" bIns="18288" anchor="t">
            <a:spAutoFit/>
          </a:bodyPr>
          <a:lstStyle/>
          <a:p>
            <a:pPr algn="l"/>
            <a:r>
              <a:rPr sz="3000" b="1" i="0">
                <a:solidFill>
                  <a:srgbClr val="C00000"/>
                </a:solidFill>
                <a:latin typeface="Lato Black"/>
              </a:rPr>
              <a:t>Q1.  Senior most employee (by job title level)</a:t>
            </a:r>
          </a:p>
        </p:txBody>
      </p:sp>
      <p:sp>
        <p:nvSpPr>
          <p:cNvPr id="4" name="Rectangle 3"/>
          <p:cNvSpPr/>
          <p:nvPr/>
        </p:nvSpPr>
        <p:spPr>
          <a:xfrm>
            <a:off x="457200" y="841248"/>
            <a:ext cx="1097280" cy="36576"/>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371600"/>
            <a:ext cx="2743200" cy="320040"/>
          </a:xfrm>
          <a:prstGeom prst="rect">
            <a:avLst/>
          </a:prstGeom>
          <a:noFill/>
        </p:spPr>
        <p:txBody>
          <a:bodyPr wrap="square" lIns="45720" tIns="18288" rIns="45720" bIns="18288" anchor="t">
            <a:spAutoFit/>
          </a:bodyPr>
          <a:lstStyle/>
          <a:p>
            <a:pPr algn="l"/>
            <a:r>
              <a:rPr sz="1100" b="1" i="0">
                <a:solidFill>
                  <a:srgbClr val="C00000"/>
                </a:solidFill>
                <a:latin typeface="Lato Black"/>
              </a:rPr>
              <a:t>SQL  QUERY</a:t>
            </a:r>
          </a:p>
        </p:txBody>
      </p:sp>
      <p:sp>
        <p:nvSpPr>
          <p:cNvPr id="6" name="Rectangle 5"/>
          <p:cNvSpPr/>
          <p:nvPr/>
        </p:nvSpPr>
        <p:spPr>
          <a:xfrm>
            <a:off x="457200" y="1737360"/>
            <a:ext cx="11247120" cy="2286000"/>
          </a:xfrm>
          <a:prstGeom prst="rect">
            <a:avLst/>
          </a:prstGeom>
          <a:solidFill>
            <a:srgbClr val="1E2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737360"/>
            <a:ext cx="73152" cy="228600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21792" y="1828800"/>
            <a:ext cx="11018520" cy="2121408"/>
          </a:xfrm>
          <a:prstGeom prst="rect">
            <a:avLst/>
          </a:prstGeom>
          <a:noFill/>
        </p:spPr>
        <p:txBody>
          <a:bodyPr wrap="none" lIns="45720" tIns="18288" rIns="45720" bIns="18288">
            <a:spAutoFit/>
          </a:bodyPr>
          <a:lstStyle/>
          <a:p>
            <a:pPr>
              <a:lnSpc>
                <a:spcPct val="115000"/>
              </a:lnSpc>
            </a:pPr>
            <a:r>
              <a:rPr sz="1300" b="1">
                <a:solidFill>
                  <a:srgbClr val="FF7B72"/>
                </a:solidFill>
                <a:latin typeface="Consolas"/>
              </a:rPr>
              <a:t>SELECT</a:t>
            </a:r>
            <a:r>
              <a:rPr sz="1300">
                <a:solidFill>
                  <a:srgbClr val="E6E6E6"/>
                </a:solidFill>
                <a:latin typeface="Consolas"/>
              </a:rPr>
              <a:t> *</a:t>
            </a:r>
          </a:p>
          <a:p>
            <a:pPr>
              <a:lnSpc>
                <a:spcPct val="115000"/>
              </a:lnSpc>
            </a:pPr>
            <a:r>
              <a:rPr sz="1300" b="1">
                <a:solidFill>
                  <a:srgbClr val="FF7B72"/>
                </a:solidFill>
                <a:latin typeface="Consolas"/>
              </a:rPr>
              <a:t>FROM</a:t>
            </a:r>
            <a:r>
              <a:rPr sz="1300">
                <a:solidFill>
                  <a:srgbClr val="E6E6E6"/>
                </a:solidFill>
                <a:latin typeface="Consolas"/>
              </a:rPr>
              <a:t> </a:t>
            </a:r>
            <a:r>
              <a:rPr sz="1300" b="0">
                <a:solidFill>
                  <a:srgbClr val="E6E6E6"/>
                </a:solidFill>
                <a:latin typeface="Consolas"/>
              </a:rPr>
              <a:t>employee</a:t>
            </a:r>
          </a:p>
          <a:p>
            <a:pPr>
              <a:lnSpc>
                <a:spcPct val="115000"/>
              </a:lnSpc>
            </a:pPr>
            <a:r>
              <a:rPr sz="1300" b="1">
                <a:solidFill>
                  <a:srgbClr val="FF7B72"/>
                </a:solidFill>
                <a:latin typeface="Consolas"/>
              </a:rPr>
              <a:t>ORDER</a:t>
            </a:r>
            <a:r>
              <a:rPr sz="1300">
                <a:solidFill>
                  <a:srgbClr val="E6E6E6"/>
                </a:solidFill>
                <a:latin typeface="Consolas"/>
              </a:rPr>
              <a:t> </a:t>
            </a:r>
            <a:r>
              <a:rPr sz="1300" b="1">
                <a:solidFill>
                  <a:srgbClr val="FF7B72"/>
                </a:solidFill>
                <a:latin typeface="Consolas"/>
              </a:rPr>
              <a:t>BY</a:t>
            </a:r>
            <a:r>
              <a:rPr sz="1300">
                <a:solidFill>
                  <a:srgbClr val="E6E6E6"/>
                </a:solidFill>
                <a:latin typeface="Consolas"/>
              </a:rPr>
              <a:t> </a:t>
            </a:r>
            <a:r>
              <a:rPr sz="1300" b="0">
                <a:solidFill>
                  <a:srgbClr val="E6E6E6"/>
                </a:solidFill>
                <a:latin typeface="Consolas"/>
              </a:rPr>
              <a:t>levels</a:t>
            </a:r>
            <a:r>
              <a:rPr sz="1300">
                <a:solidFill>
                  <a:srgbClr val="E6E6E6"/>
                </a:solidFill>
                <a:latin typeface="Consolas"/>
              </a:rPr>
              <a:t> </a:t>
            </a:r>
            <a:r>
              <a:rPr sz="1300" b="1">
                <a:solidFill>
                  <a:srgbClr val="FF7B72"/>
                </a:solidFill>
                <a:latin typeface="Consolas"/>
              </a:rPr>
              <a:t>DESC</a:t>
            </a:r>
          </a:p>
          <a:p>
            <a:pPr>
              <a:lnSpc>
                <a:spcPct val="115000"/>
              </a:lnSpc>
            </a:pPr>
            <a:r>
              <a:rPr sz="1300" b="1">
                <a:solidFill>
                  <a:srgbClr val="FF7B72"/>
                </a:solidFill>
                <a:latin typeface="Consolas"/>
              </a:rPr>
              <a:t>LIMIT</a:t>
            </a:r>
            <a:r>
              <a:rPr sz="1300">
                <a:solidFill>
                  <a:srgbClr val="E6E6E6"/>
                </a:solidFill>
                <a:latin typeface="Consolas"/>
              </a:rPr>
              <a:t> </a:t>
            </a:r>
            <a:r>
              <a:rPr sz="1300" b="0">
                <a:solidFill>
                  <a:srgbClr val="E6E6E6"/>
                </a:solidFill>
                <a:latin typeface="Consolas"/>
              </a:rPr>
              <a:t>1</a:t>
            </a:r>
            <a:r>
              <a:rPr sz="1300">
                <a:solidFill>
                  <a:srgbClr val="E6E6E6"/>
                </a:solidFill>
                <a:latin typeface="Consolas"/>
              </a:rPr>
              <a:t>;</a:t>
            </a:r>
          </a:p>
        </p:txBody>
      </p:sp>
      <p:sp>
        <p:nvSpPr>
          <p:cNvPr id="9" name="TextBox 8"/>
          <p:cNvSpPr txBox="1"/>
          <p:nvPr/>
        </p:nvSpPr>
        <p:spPr>
          <a:xfrm>
            <a:off x="457200" y="4114800"/>
            <a:ext cx="2743200" cy="320040"/>
          </a:xfrm>
          <a:prstGeom prst="rect">
            <a:avLst/>
          </a:prstGeom>
          <a:noFill/>
        </p:spPr>
        <p:txBody>
          <a:bodyPr wrap="square" lIns="45720" tIns="18288" rIns="45720" bIns="18288" anchor="t">
            <a:spAutoFit/>
          </a:bodyPr>
          <a:lstStyle/>
          <a:p>
            <a:pPr algn="l"/>
            <a:r>
              <a:rPr sz="1100" b="1" i="0">
                <a:solidFill>
                  <a:srgbClr val="C00000"/>
                </a:solidFill>
                <a:latin typeface="Lato Black"/>
              </a:rPr>
              <a:t>OUTPUT</a:t>
            </a:r>
          </a:p>
        </p:txBody>
      </p:sp>
      <p:sp>
        <p:nvSpPr>
          <p:cNvPr id="10" name="Rectangle 9"/>
          <p:cNvSpPr/>
          <p:nvPr/>
        </p:nvSpPr>
        <p:spPr>
          <a:xfrm>
            <a:off x="457200" y="4434840"/>
            <a:ext cx="11247120" cy="1691640"/>
          </a:xfrm>
          <a:prstGeom prst="rect">
            <a:avLst/>
          </a:prstGeom>
          <a:solidFill>
            <a:srgbClr val="FFFFFF"/>
          </a:solidFill>
          <a:ln w="9525">
            <a:solidFill>
              <a:srgbClr val="EEEE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263640"/>
            <a:ext cx="12191695" cy="50292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7200" y="6263640"/>
            <a:ext cx="11247120" cy="502920"/>
          </a:xfrm>
          <a:prstGeom prst="rect">
            <a:avLst/>
          </a:prstGeom>
          <a:noFill/>
        </p:spPr>
        <p:txBody>
          <a:bodyPr wrap="square" lIns="45720" tIns="18288" rIns="45720" bIns="18288" anchor="ctr">
            <a:spAutoFit/>
          </a:bodyPr>
          <a:lstStyle/>
          <a:p>
            <a:pPr algn="l"/>
            <a:r>
              <a:rPr sz="1400" b="1" i="0">
                <a:solidFill>
                  <a:srgbClr val="FFFFFF"/>
                </a:solidFill>
                <a:latin typeface="Calibri"/>
              </a:rPr>
              <a:t>Result:  Mohan Madan — Senior General Manager (Level L7)</a:t>
            </a:r>
          </a:p>
        </p:txBody>
      </p:sp>
      <p:pic>
        <p:nvPicPr>
          <p:cNvPr id="14" name="Picture 13" descr="O1.png"/>
          <p:cNvPicPr>
            <a:picLocks noChangeAspect="1"/>
          </p:cNvPicPr>
          <p:nvPr/>
        </p:nvPicPr>
        <p:blipFill>
          <a:blip r:embed="rId2"/>
          <a:stretch>
            <a:fillRect/>
          </a:stretch>
        </p:blipFill>
        <p:spPr>
          <a:xfrm>
            <a:off x="1900112" y="4935524"/>
            <a:ext cx="8361295" cy="69027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11247120" cy="640080"/>
          </a:xfrm>
          <a:prstGeom prst="rect">
            <a:avLst/>
          </a:prstGeom>
          <a:noFill/>
        </p:spPr>
        <p:txBody>
          <a:bodyPr wrap="square" lIns="45720" tIns="18288" rIns="45720" bIns="18288" anchor="t">
            <a:spAutoFit/>
          </a:bodyPr>
          <a:lstStyle/>
          <a:p>
            <a:pPr algn="l"/>
            <a:r>
              <a:rPr sz="3000" b="1" i="0">
                <a:solidFill>
                  <a:srgbClr val="C00000"/>
                </a:solidFill>
                <a:latin typeface="Lato Black"/>
              </a:rPr>
              <a:t>Q2.  Countries with the most invoices</a:t>
            </a:r>
          </a:p>
        </p:txBody>
      </p:sp>
      <p:sp>
        <p:nvSpPr>
          <p:cNvPr id="4" name="Rectangle 3"/>
          <p:cNvSpPr/>
          <p:nvPr/>
        </p:nvSpPr>
        <p:spPr>
          <a:xfrm>
            <a:off x="457200" y="841248"/>
            <a:ext cx="1097280" cy="36576"/>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371600"/>
            <a:ext cx="2743200" cy="320040"/>
          </a:xfrm>
          <a:prstGeom prst="rect">
            <a:avLst/>
          </a:prstGeom>
          <a:noFill/>
        </p:spPr>
        <p:txBody>
          <a:bodyPr wrap="square" lIns="45720" tIns="18288" rIns="45720" bIns="18288" anchor="t">
            <a:spAutoFit/>
          </a:bodyPr>
          <a:lstStyle/>
          <a:p>
            <a:pPr algn="l"/>
            <a:r>
              <a:rPr sz="1100" b="1" i="0">
                <a:solidFill>
                  <a:srgbClr val="C00000"/>
                </a:solidFill>
                <a:latin typeface="Lato Black"/>
              </a:rPr>
              <a:t>SQL  QUERY</a:t>
            </a:r>
          </a:p>
        </p:txBody>
      </p:sp>
      <p:sp>
        <p:nvSpPr>
          <p:cNvPr id="6" name="Rectangle 5"/>
          <p:cNvSpPr/>
          <p:nvPr/>
        </p:nvSpPr>
        <p:spPr>
          <a:xfrm>
            <a:off x="457200" y="1737360"/>
            <a:ext cx="5669280" cy="4114800"/>
          </a:xfrm>
          <a:prstGeom prst="rect">
            <a:avLst/>
          </a:prstGeom>
          <a:solidFill>
            <a:srgbClr val="1E2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737360"/>
            <a:ext cx="73152" cy="411480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21792" y="1828800"/>
            <a:ext cx="5440680" cy="3950208"/>
          </a:xfrm>
          <a:prstGeom prst="rect">
            <a:avLst/>
          </a:prstGeom>
          <a:noFill/>
        </p:spPr>
        <p:txBody>
          <a:bodyPr wrap="none" lIns="45720" tIns="18288" rIns="45720" bIns="18288">
            <a:spAutoFit/>
          </a:bodyPr>
          <a:lstStyle/>
          <a:p>
            <a:pPr>
              <a:lnSpc>
                <a:spcPct val="115000"/>
              </a:lnSpc>
            </a:pPr>
            <a:r>
              <a:rPr sz="1300" b="1">
                <a:solidFill>
                  <a:srgbClr val="FF7B72"/>
                </a:solidFill>
                <a:latin typeface="Consolas"/>
              </a:rPr>
              <a:t>SELECT</a:t>
            </a:r>
            <a:r>
              <a:rPr sz="1300">
                <a:solidFill>
                  <a:srgbClr val="E6E6E6"/>
                </a:solidFill>
                <a:latin typeface="Consolas"/>
              </a:rPr>
              <a:t> </a:t>
            </a:r>
            <a:r>
              <a:rPr sz="1300" b="0">
                <a:solidFill>
                  <a:srgbClr val="E6E6E6"/>
                </a:solidFill>
                <a:latin typeface="Consolas"/>
              </a:rPr>
              <a:t>billing_country</a:t>
            </a:r>
            <a:r>
              <a:rPr sz="1300">
                <a:solidFill>
                  <a:srgbClr val="E6E6E6"/>
                </a:solidFill>
                <a:latin typeface="Consolas"/>
              </a:rPr>
              <a:t>, </a:t>
            </a:r>
            <a:r>
              <a:rPr sz="1300" b="1">
                <a:solidFill>
                  <a:srgbClr val="FF7B72"/>
                </a:solidFill>
                <a:latin typeface="Consolas"/>
              </a:rPr>
              <a:t>COUNT</a:t>
            </a:r>
            <a:r>
              <a:rPr sz="1300">
                <a:solidFill>
                  <a:srgbClr val="E6E6E6"/>
                </a:solidFill>
                <a:latin typeface="Consolas"/>
              </a:rPr>
              <a:t>(*) </a:t>
            </a:r>
            <a:r>
              <a:rPr sz="1300" b="1">
                <a:solidFill>
                  <a:srgbClr val="FF7B72"/>
                </a:solidFill>
                <a:latin typeface="Consolas"/>
              </a:rPr>
              <a:t>AS</a:t>
            </a:r>
            <a:r>
              <a:rPr sz="1300">
                <a:solidFill>
                  <a:srgbClr val="E6E6E6"/>
                </a:solidFill>
                <a:latin typeface="Consolas"/>
              </a:rPr>
              <a:t> </a:t>
            </a:r>
            <a:r>
              <a:rPr sz="1300" b="0">
                <a:solidFill>
                  <a:srgbClr val="E6E6E6"/>
                </a:solidFill>
                <a:latin typeface="Consolas"/>
              </a:rPr>
              <a:t>total_invoices</a:t>
            </a:r>
          </a:p>
          <a:p>
            <a:pPr>
              <a:lnSpc>
                <a:spcPct val="115000"/>
              </a:lnSpc>
            </a:pPr>
            <a:r>
              <a:rPr sz="1300" b="1">
                <a:solidFill>
                  <a:srgbClr val="FF7B72"/>
                </a:solidFill>
                <a:latin typeface="Consolas"/>
              </a:rPr>
              <a:t>FROM</a:t>
            </a:r>
            <a:r>
              <a:rPr sz="1300">
                <a:solidFill>
                  <a:srgbClr val="E6E6E6"/>
                </a:solidFill>
                <a:latin typeface="Consolas"/>
              </a:rPr>
              <a:t> </a:t>
            </a:r>
            <a:r>
              <a:rPr sz="1300" b="0">
                <a:solidFill>
                  <a:srgbClr val="E6E6E6"/>
                </a:solidFill>
                <a:latin typeface="Consolas"/>
              </a:rPr>
              <a:t>invoice</a:t>
            </a:r>
          </a:p>
          <a:p>
            <a:pPr>
              <a:lnSpc>
                <a:spcPct val="115000"/>
              </a:lnSpc>
            </a:pPr>
            <a:r>
              <a:rPr sz="1300" b="1">
                <a:solidFill>
                  <a:srgbClr val="FF7B72"/>
                </a:solidFill>
                <a:latin typeface="Consolas"/>
              </a:rPr>
              <a:t>GROUP</a:t>
            </a:r>
            <a:r>
              <a:rPr sz="1300">
                <a:solidFill>
                  <a:srgbClr val="E6E6E6"/>
                </a:solidFill>
                <a:latin typeface="Consolas"/>
              </a:rPr>
              <a:t> </a:t>
            </a:r>
            <a:r>
              <a:rPr sz="1300" b="1">
                <a:solidFill>
                  <a:srgbClr val="FF7B72"/>
                </a:solidFill>
                <a:latin typeface="Consolas"/>
              </a:rPr>
              <a:t>BY</a:t>
            </a:r>
            <a:r>
              <a:rPr sz="1300">
                <a:solidFill>
                  <a:srgbClr val="E6E6E6"/>
                </a:solidFill>
                <a:latin typeface="Consolas"/>
              </a:rPr>
              <a:t> </a:t>
            </a:r>
            <a:r>
              <a:rPr sz="1300" b="0">
                <a:solidFill>
                  <a:srgbClr val="E6E6E6"/>
                </a:solidFill>
                <a:latin typeface="Consolas"/>
              </a:rPr>
              <a:t>billing_country</a:t>
            </a:r>
          </a:p>
          <a:p>
            <a:pPr>
              <a:lnSpc>
                <a:spcPct val="115000"/>
              </a:lnSpc>
            </a:pPr>
            <a:r>
              <a:rPr sz="1300" b="1">
                <a:solidFill>
                  <a:srgbClr val="FF7B72"/>
                </a:solidFill>
                <a:latin typeface="Consolas"/>
              </a:rPr>
              <a:t>ORDER</a:t>
            </a:r>
            <a:r>
              <a:rPr sz="1300">
                <a:solidFill>
                  <a:srgbClr val="E6E6E6"/>
                </a:solidFill>
                <a:latin typeface="Consolas"/>
              </a:rPr>
              <a:t> </a:t>
            </a:r>
            <a:r>
              <a:rPr sz="1300" b="1">
                <a:solidFill>
                  <a:srgbClr val="FF7B72"/>
                </a:solidFill>
                <a:latin typeface="Consolas"/>
              </a:rPr>
              <a:t>BY</a:t>
            </a:r>
            <a:r>
              <a:rPr sz="1300">
                <a:solidFill>
                  <a:srgbClr val="E6E6E6"/>
                </a:solidFill>
                <a:latin typeface="Consolas"/>
              </a:rPr>
              <a:t> </a:t>
            </a:r>
            <a:r>
              <a:rPr sz="1300" b="0">
                <a:solidFill>
                  <a:srgbClr val="E6E6E6"/>
                </a:solidFill>
                <a:latin typeface="Consolas"/>
              </a:rPr>
              <a:t>total_invoices</a:t>
            </a:r>
            <a:r>
              <a:rPr sz="1300">
                <a:solidFill>
                  <a:srgbClr val="E6E6E6"/>
                </a:solidFill>
                <a:latin typeface="Consolas"/>
              </a:rPr>
              <a:t> </a:t>
            </a:r>
            <a:r>
              <a:rPr sz="1300" b="1">
                <a:solidFill>
                  <a:srgbClr val="FF7B72"/>
                </a:solidFill>
                <a:latin typeface="Consolas"/>
              </a:rPr>
              <a:t>DESC</a:t>
            </a:r>
            <a:r>
              <a:rPr sz="1300">
                <a:solidFill>
                  <a:srgbClr val="E6E6E6"/>
                </a:solidFill>
                <a:latin typeface="Consolas"/>
              </a:rPr>
              <a:t>;</a:t>
            </a:r>
          </a:p>
        </p:txBody>
      </p:sp>
      <p:sp>
        <p:nvSpPr>
          <p:cNvPr id="9" name="TextBox 8"/>
          <p:cNvSpPr txBox="1"/>
          <p:nvPr/>
        </p:nvSpPr>
        <p:spPr>
          <a:xfrm>
            <a:off x="6400800" y="1371600"/>
            <a:ext cx="2743200" cy="320040"/>
          </a:xfrm>
          <a:prstGeom prst="rect">
            <a:avLst/>
          </a:prstGeom>
          <a:noFill/>
        </p:spPr>
        <p:txBody>
          <a:bodyPr wrap="square" lIns="45720" tIns="18288" rIns="45720" bIns="18288" anchor="t">
            <a:spAutoFit/>
          </a:bodyPr>
          <a:lstStyle/>
          <a:p>
            <a:pPr algn="l"/>
            <a:r>
              <a:rPr sz="1100" b="1" i="0">
                <a:solidFill>
                  <a:srgbClr val="C00000"/>
                </a:solidFill>
                <a:latin typeface="Lato Black"/>
              </a:rPr>
              <a:t>OUTPUT</a:t>
            </a:r>
          </a:p>
        </p:txBody>
      </p:sp>
      <p:sp>
        <p:nvSpPr>
          <p:cNvPr id="10" name="Rectangle 9"/>
          <p:cNvSpPr/>
          <p:nvPr/>
        </p:nvSpPr>
        <p:spPr>
          <a:xfrm>
            <a:off x="6400800" y="1737360"/>
            <a:ext cx="5303520" cy="4114800"/>
          </a:xfrm>
          <a:prstGeom prst="rect">
            <a:avLst/>
          </a:prstGeom>
          <a:solidFill>
            <a:srgbClr val="FFFFFF"/>
          </a:solidFill>
          <a:ln w="9525">
            <a:solidFill>
              <a:srgbClr val="EEEE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263640"/>
            <a:ext cx="12191695" cy="50292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7200" y="6263640"/>
            <a:ext cx="11247120" cy="502920"/>
          </a:xfrm>
          <a:prstGeom prst="rect">
            <a:avLst/>
          </a:prstGeom>
          <a:noFill/>
        </p:spPr>
        <p:txBody>
          <a:bodyPr wrap="square" lIns="45720" tIns="18288" rIns="45720" bIns="18288" anchor="ctr">
            <a:spAutoFit/>
          </a:bodyPr>
          <a:lstStyle/>
          <a:p>
            <a:pPr algn="l"/>
            <a:r>
              <a:rPr sz="1400" b="1" i="0">
                <a:solidFill>
                  <a:srgbClr val="FFFFFF"/>
                </a:solidFill>
                <a:latin typeface="Calibri"/>
              </a:rPr>
              <a:t>Result:  USA leads with the highest number of invoices.</a:t>
            </a:r>
          </a:p>
        </p:txBody>
      </p:sp>
      <p:pic>
        <p:nvPicPr>
          <p:cNvPr id="14" name="Picture 13" descr="O2.png"/>
          <p:cNvPicPr>
            <a:picLocks noChangeAspect="1"/>
          </p:cNvPicPr>
          <p:nvPr/>
        </p:nvPicPr>
        <p:blipFill>
          <a:blip r:embed="rId2"/>
          <a:stretch>
            <a:fillRect/>
          </a:stretch>
        </p:blipFill>
        <p:spPr>
          <a:xfrm>
            <a:off x="8204093" y="1828800"/>
            <a:ext cx="1696933" cy="393192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11247120" cy="640080"/>
          </a:xfrm>
          <a:prstGeom prst="rect">
            <a:avLst/>
          </a:prstGeom>
          <a:noFill/>
        </p:spPr>
        <p:txBody>
          <a:bodyPr wrap="square" lIns="45720" tIns="18288" rIns="45720" bIns="18288" anchor="t">
            <a:spAutoFit/>
          </a:bodyPr>
          <a:lstStyle/>
          <a:p>
            <a:pPr algn="l"/>
            <a:r>
              <a:rPr sz="3000" b="1" i="0">
                <a:solidFill>
                  <a:srgbClr val="C00000"/>
                </a:solidFill>
                <a:latin typeface="Lato Black"/>
              </a:rPr>
              <a:t>Q3.  Top 3 values of total invoice</a:t>
            </a:r>
          </a:p>
        </p:txBody>
      </p:sp>
      <p:sp>
        <p:nvSpPr>
          <p:cNvPr id="4" name="Rectangle 3"/>
          <p:cNvSpPr/>
          <p:nvPr/>
        </p:nvSpPr>
        <p:spPr>
          <a:xfrm>
            <a:off x="457200" y="841248"/>
            <a:ext cx="1097280" cy="36576"/>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371600"/>
            <a:ext cx="2743200" cy="320040"/>
          </a:xfrm>
          <a:prstGeom prst="rect">
            <a:avLst/>
          </a:prstGeom>
          <a:noFill/>
        </p:spPr>
        <p:txBody>
          <a:bodyPr wrap="square" lIns="45720" tIns="18288" rIns="45720" bIns="18288" anchor="t">
            <a:spAutoFit/>
          </a:bodyPr>
          <a:lstStyle/>
          <a:p>
            <a:pPr algn="l"/>
            <a:r>
              <a:rPr sz="1100" b="1" i="0">
                <a:solidFill>
                  <a:srgbClr val="C00000"/>
                </a:solidFill>
                <a:latin typeface="Lato Black"/>
              </a:rPr>
              <a:t>SQL  QUERY</a:t>
            </a:r>
          </a:p>
        </p:txBody>
      </p:sp>
      <p:sp>
        <p:nvSpPr>
          <p:cNvPr id="6" name="Rectangle 5"/>
          <p:cNvSpPr/>
          <p:nvPr/>
        </p:nvSpPr>
        <p:spPr>
          <a:xfrm>
            <a:off x="457200" y="1737360"/>
            <a:ext cx="5669280" cy="4114800"/>
          </a:xfrm>
          <a:prstGeom prst="rect">
            <a:avLst/>
          </a:prstGeom>
          <a:solidFill>
            <a:srgbClr val="1E2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737360"/>
            <a:ext cx="73152" cy="411480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21792" y="1828800"/>
            <a:ext cx="5440680" cy="3950208"/>
          </a:xfrm>
          <a:prstGeom prst="rect">
            <a:avLst/>
          </a:prstGeom>
          <a:noFill/>
        </p:spPr>
        <p:txBody>
          <a:bodyPr wrap="none" lIns="45720" tIns="18288" rIns="45720" bIns="18288">
            <a:spAutoFit/>
          </a:bodyPr>
          <a:lstStyle/>
          <a:p>
            <a:pPr>
              <a:lnSpc>
                <a:spcPct val="115000"/>
              </a:lnSpc>
            </a:pPr>
            <a:r>
              <a:rPr sz="1300" b="1">
                <a:solidFill>
                  <a:srgbClr val="FF7B72"/>
                </a:solidFill>
                <a:latin typeface="Consolas"/>
              </a:rPr>
              <a:t>SELECT</a:t>
            </a:r>
            <a:r>
              <a:rPr sz="1300">
                <a:solidFill>
                  <a:srgbClr val="E6E6E6"/>
                </a:solidFill>
                <a:latin typeface="Consolas"/>
              </a:rPr>
              <a:t> </a:t>
            </a:r>
            <a:r>
              <a:rPr sz="1300" b="0">
                <a:solidFill>
                  <a:srgbClr val="E6E6E6"/>
                </a:solidFill>
                <a:latin typeface="Consolas"/>
              </a:rPr>
              <a:t>total</a:t>
            </a:r>
          </a:p>
          <a:p>
            <a:pPr>
              <a:lnSpc>
                <a:spcPct val="115000"/>
              </a:lnSpc>
            </a:pPr>
            <a:r>
              <a:rPr sz="1300" b="1">
                <a:solidFill>
                  <a:srgbClr val="FF7B72"/>
                </a:solidFill>
                <a:latin typeface="Consolas"/>
              </a:rPr>
              <a:t>FROM</a:t>
            </a:r>
            <a:r>
              <a:rPr sz="1300">
                <a:solidFill>
                  <a:srgbClr val="E6E6E6"/>
                </a:solidFill>
                <a:latin typeface="Consolas"/>
              </a:rPr>
              <a:t> </a:t>
            </a:r>
            <a:r>
              <a:rPr sz="1300" b="0">
                <a:solidFill>
                  <a:srgbClr val="E6E6E6"/>
                </a:solidFill>
                <a:latin typeface="Consolas"/>
              </a:rPr>
              <a:t>invoice</a:t>
            </a:r>
          </a:p>
          <a:p>
            <a:pPr>
              <a:lnSpc>
                <a:spcPct val="115000"/>
              </a:lnSpc>
            </a:pPr>
            <a:r>
              <a:rPr sz="1300" b="1">
                <a:solidFill>
                  <a:srgbClr val="FF7B72"/>
                </a:solidFill>
                <a:latin typeface="Consolas"/>
              </a:rPr>
              <a:t>ORDER</a:t>
            </a:r>
            <a:r>
              <a:rPr sz="1300">
                <a:solidFill>
                  <a:srgbClr val="E6E6E6"/>
                </a:solidFill>
                <a:latin typeface="Consolas"/>
              </a:rPr>
              <a:t> </a:t>
            </a:r>
            <a:r>
              <a:rPr sz="1300" b="1">
                <a:solidFill>
                  <a:srgbClr val="FF7B72"/>
                </a:solidFill>
                <a:latin typeface="Consolas"/>
              </a:rPr>
              <a:t>BY</a:t>
            </a:r>
            <a:r>
              <a:rPr sz="1300">
                <a:solidFill>
                  <a:srgbClr val="E6E6E6"/>
                </a:solidFill>
                <a:latin typeface="Consolas"/>
              </a:rPr>
              <a:t> </a:t>
            </a:r>
            <a:r>
              <a:rPr sz="1300" b="0">
                <a:solidFill>
                  <a:srgbClr val="E6E6E6"/>
                </a:solidFill>
                <a:latin typeface="Consolas"/>
              </a:rPr>
              <a:t>total</a:t>
            </a:r>
            <a:r>
              <a:rPr sz="1300">
                <a:solidFill>
                  <a:srgbClr val="E6E6E6"/>
                </a:solidFill>
                <a:latin typeface="Consolas"/>
              </a:rPr>
              <a:t> </a:t>
            </a:r>
            <a:r>
              <a:rPr sz="1300" b="1">
                <a:solidFill>
                  <a:srgbClr val="FF7B72"/>
                </a:solidFill>
                <a:latin typeface="Consolas"/>
              </a:rPr>
              <a:t>DESC</a:t>
            </a:r>
          </a:p>
          <a:p>
            <a:pPr>
              <a:lnSpc>
                <a:spcPct val="115000"/>
              </a:lnSpc>
            </a:pPr>
            <a:r>
              <a:rPr sz="1300" b="1">
                <a:solidFill>
                  <a:srgbClr val="FF7B72"/>
                </a:solidFill>
                <a:latin typeface="Consolas"/>
              </a:rPr>
              <a:t>LIMIT</a:t>
            </a:r>
            <a:r>
              <a:rPr sz="1300">
                <a:solidFill>
                  <a:srgbClr val="E6E6E6"/>
                </a:solidFill>
                <a:latin typeface="Consolas"/>
              </a:rPr>
              <a:t> </a:t>
            </a:r>
            <a:r>
              <a:rPr sz="1300" b="0">
                <a:solidFill>
                  <a:srgbClr val="E6E6E6"/>
                </a:solidFill>
                <a:latin typeface="Consolas"/>
              </a:rPr>
              <a:t>3</a:t>
            </a:r>
            <a:r>
              <a:rPr sz="1300">
                <a:solidFill>
                  <a:srgbClr val="E6E6E6"/>
                </a:solidFill>
                <a:latin typeface="Consolas"/>
              </a:rPr>
              <a:t>;</a:t>
            </a:r>
          </a:p>
        </p:txBody>
      </p:sp>
      <p:sp>
        <p:nvSpPr>
          <p:cNvPr id="9" name="TextBox 8"/>
          <p:cNvSpPr txBox="1"/>
          <p:nvPr/>
        </p:nvSpPr>
        <p:spPr>
          <a:xfrm>
            <a:off x="6400800" y="1371600"/>
            <a:ext cx="2743200" cy="320040"/>
          </a:xfrm>
          <a:prstGeom prst="rect">
            <a:avLst/>
          </a:prstGeom>
          <a:noFill/>
        </p:spPr>
        <p:txBody>
          <a:bodyPr wrap="square" lIns="45720" tIns="18288" rIns="45720" bIns="18288" anchor="t">
            <a:spAutoFit/>
          </a:bodyPr>
          <a:lstStyle/>
          <a:p>
            <a:pPr algn="l"/>
            <a:r>
              <a:rPr sz="1100" b="1" i="0">
                <a:solidFill>
                  <a:srgbClr val="C00000"/>
                </a:solidFill>
                <a:latin typeface="Lato Black"/>
              </a:rPr>
              <a:t>OUTPUT</a:t>
            </a:r>
          </a:p>
        </p:txBody>
      </p:sp>
      <p:sp>
        <p:nvSpPr>
          <p:cNvPr id="10" name="Rectangle 9"/>
          <p:cNvSpPr/>
          <p:nvPr/>
        </p:nvSpPr>
        <p:spPr>
          <a:xfrm>
            <a:off x="6400800" y="1737360"/>
            <a:ext cx="5303520" cy="4114800"/>
          </a:xfrm>
          <a:prstGeom prst="rect">
            <a:avLst/>
          </a:prstGeom>
          <a:solidFill>
            <a:srgbClr val="FFFFFF"/>
          </a:solidFill>
          <a:ln w="9525">
            <a:solidFill>
              <a:srgbClr val="EEEE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263640"/>
            <a:ext cx="12191695" cy="50292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7200" y="6263640"/>
            <a:ext cx="11247120" cy="502920"/>
          </a:xfrm>
          <a:prstGeom prst="rect">
            <a:avLst/>
          </a:prstGeom>
          <a:noFill/>
        </p:spPr>
        <p:txBody>
          <a:bodyPr wrap="square" lIns="45720" tIns="18288" rIns="45720" bIns="18288" anchor="ctr">
            <a:spAutoFit/>
          </a:bodyPr>
          <a:lstStyle/>
          <a:p>
            <a:pPr algn="l"/>
            <a:r>
              <a:rPr sz="1400" b="1" i="0">
                <a:solidFill>
                  <a:srgbClr val="FFFFFF"/>
                </a:solidFill>
                <a:latin typeface="Calibri"/>
              </a:rPr>
              <a:t>Result:  Top 3 invoice totals: 23.76, 19.80, 19.80</a:t>
            </a:r>
          </a:p>
        </p:txBody>
      </p:sp>
      <p:pic>
        <p:nvPicPr>
          <p:cNvPr id="14" name="Picture 13" descr="O3.png"/>
          <p:cNvPicPr>
            <a:picLocks noChangeAspect="1"/>
          </p:cNvPicPr>
          <p:nvPr/>
        </p:nvPicPr>
        <p:blipFill>
          <a:blip r:embed="rId2"/>
          <a:stretch>
            <a:fillRect/>
          </a:stretch>
        </p:blipFill>
        <p:spPr>
          <a:xfrm>
            <a:off x="7779467" y="2435647"/>
            <a:ext cx="2546185" cy="271822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11247120" cy="640080"/>
          </a:xfrm>
          <a:prstGeom prst="rect">
            <a:avLst/>
          </a:prstGeom>
          <a:noFill/>
        </p:spPr>
        <p:txBody>
          <a:bodyPr wrap="square" lIns="45720" tIns="18288" rIns="45720" bIns="18288" anchor="t">
            <a:spAutoFit/>
          </a:bodyPr>
          <a:lstStyle/>
          <a:p>
            <a:pPr algn="l"/>
            <a:r>
              <a:rPr sz="3000" b="1" i="0">
                <a:solidFill>
                  <a:srgbClr val="C00000"/>
                </a:solidFill>
                <a:latin typeface="Lato Black"/>
              </a:rPr>
              <a:t>Q4.  Best city for a music festival (highest invoice total)</a:t>
            </a:r>
          </a:p>
        </p:txBody>
      </p:sp>
      <p:sp>
        <p:nvSpPr>
          <p:cNvPr id="4" name="Rectangle 3"/>
          <p:cNvSpPr/>
          <p:nvPr/>
        </p:nvSpPr>
        <p:spPr>
          <a:xfrm>
            <a:off x="457200" y="841248"/>
            <a:ext cx="1097280" cy="36576"/>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371600"/>
            <a:ext cx="2743200" cy="320040"/>
          </a:xfrm>
          <a:prstGeom prst="rect">
            <a:avLst/>
          </a:prstGeom>
          <a:noFill/>
        </p:spPr>
        <p:txBody>
          <a:bodyPr wrap="square" lIns="45720" tIns="18288" rIns="45720" bIns="18288" anchor="t">
            <a:spAutoFit/>
          </a:bodyPr>
          <a:lstStyle/>
          <a:p>
            <a:pPr algn="l"/>
            <a:r>
              <a:rPr sz="1100" b="1" i="0">
                <a:solidFill>
                  <a:srgbClr val="C00000"/>
                </a:solidFill>
                <a:latin typeface="Lato Black"/>
              </a:rPr>
              <a:t>SQL  QUERY</a:t>
            </a:r>
          </a:p>
        </p:txBody>
      </p:sp>
      <p:sp>
        <p:nvSpPr>
          <p:cNvPr id="6" name="Rectangle 5"/>
          <p:cNvSpPr/>
          <p:nvPr/>
        </p:nvSpPr>
        <p:spPr>
          <a:xfrm>
            <a:off x="457200" y="1737360"/>
            <a:ext cx="5669280" cy="4114800"/>
          </a:xfrm>
          <a:prstGeom prst="rect">
            <a:avLst/>
          </a:prstGeom>
          <a:solidFill>
            <a:srgbClr val="1E2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737360"/>
            <a:ext cx="73152" cy="411480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21792" y="1828800"/>
            <a:ext cx="5440680" cy="3950208"/>
          </a:xfrm>
          <a:prstGeom prst="rect">
            <a:avLst/>
          </a:prstGeom>
          <a:noFill/>
        </p:spPr>
        <p:txBody>
          <a:bodyPr wrap="none" lIns="45720" tIns="18288" rIns="45720" bIns="18288">
            <a:spAutoFit/>
          </a:bodyPr>
          <a:lstStyle/>
          <a:p>
            <a:pPr>
              <a:lnSpc>
                <a:spcPct val="115000"/>
              </a:lnSpc>
            </a:pPr>
            <a:r>
              <a:rPr sz="1300" b="1">
                <a:solidFill>
                  <a:srgbClr val="FF7B72"/>
                </a:solidFill>
                <a:latin typeface="Consolas"/>
              </a:rPr>
              <a:t>SELECT</a:t>
            </a:r>
            <a:r>
              <a:rPr sz="1300">
                <a:solidFill>
                  <a:srgbClr val="E6E6E6"/>
                </a:solidFill>
                <a:latin typeface="Consolas"/>
              </a:rPr>
              <a:t> </a:t>
            </a:r>
            <a:r>
              <a:rPr sz="1300" b="0">
                <a:solidFill>
                  <a:srgbClr val="E6E6E6"/>
                </a:solidFill>
                <a:latin typeface="Consolas"/>
              </a:rPr>
              <a:t>billing_city</a:t>
            </a:r>
            <a:r>
              <a:rPr sz="1300">
                <a:solidFill>
                  <a:srgbClr val="E6E6E6"/>
                </a:solidFill>
                <a:latin typeface="Consolas"/>
              </a:rPr>
              <a:t>, </a:t>
            </a:r>
            <a:r>
              <a:rPr sz="1300" b="1">
                <a:solidFill>
                  <a:srgbClr val="FF7B72"/>
                </a:solidFill>
                <a:latin typeface="Consolas"/>
              </a:rPr>
              <a:t>SUM</a:t>
            </a:r>
            <a:r>
              <a:rPr sz="1300">
                <a:solidFill>
                  <a:srgbClr val="E6E6E6"/>
                </a:solidFill>
                <a:latin typeface="Consolas"/>
              </a:rPr>
              <a:t>(</a:t>
            </a:r>
            <a:r>
              <a:rPr sz="1300" b="0">
                <a:solidFill>
                  <a:srgbClr val="E6E6E6"/>
                </a:solidFill>
                <a:latin typeface="Consolas"/>
              </a:rPr>
              <a:t>total</a:t>
            </a:r>
            <a:r>
              <a:rPr sz="1300">
                <a:solidFill>
                  <a:srgbClr val="E6E6E6"/>
                </a:solidFill>
                <a:latin typeface="Consolas"/>
              </a:rPr>
              <a:t>) </a:t>
            </a:r>
            <a:r>
              <a:rPr sz="1300" b="1">
                <a:solidFill>
                  <a:srgbClr val="FF7B72"/>
                </a:solidFill>
                <a:latin typeface="Consolas"/>
              </a:rPr>
              <a:t>AS</a:t>
            </a:r>
            <a:r>
              <a:rPr sz="1300">
                <a:solidFill>
                  <a:srgbClr val="E6E6E6"/>
                </a:solidFill>
                <a:latin typeface="Consolas"/>
              </a:rPr>
              <a:t> </a:t>
            </a:r>
            <a:r>
              <a:rPr sz="1300" b="0">
                <a:solidFill>
                  <a:srgbClr val="E6E6E6"/>
                </a:solidFill>
                <a:latin typeface="Consolas"/>
              </a:rPr>
              <a:t>total_revenue</a:t>
            </a:r>
          </a:p>
          <a:p>
            <a:pPr>
              <a:lnSpc>
                <a:spcPct val="115000"/>
              </a:lnSpc>
            </a:pPr>
            <a:r>
              <a:rPr sz="1300" b="1">
                <a:solidFill>
                  <a:srgbClr val="FF7B72"/>
                </a:solidFill>
                <a:latin typeface="Consolas"/>
              </a:rPr>
              <a:t>FROM</a:t>
            </a:r>
            <a:r>
              <a:rPr sz="1300">
                <a:solidFill>
                  <a:srgbClr val="E6E6E6"/>
                </a:solidFill>
                <a:latin typeface="Consolas"/>
              </a:rPr>
              <a:t> </a:t>
            </a:r>
            <a:r>
              <a:rPr sz="1300" b="0">
                <a:solidFill>
                  <a:srgbClr val="E6E6E6"/>
                </a:solidFill>
                <a:latin typeface="Consolas"/>
              </a:rPr>
              <a:t>invoice</a:t>
            </a:r>
          </a:p>
          <a:p>
            <a:pPr>
              <a:lnSpc>
                <a:spcPct val="115000"/>
              </a:lnSpc>
            </a:pPr>
            <a:r>
              <a:rPr sz="1300" b="1">
                <a:solidFill>
                  <a:srgbClr val="FF7B72"/>
                </a:solidFill>
                <a:latin typeface="Consolas"/>
              </a:rPr>
              <a:t>GROUP</a:t>
            </a:r>
            <a:r>
              <a:rPr sz="1300">
                <a:solidFill>
                  <a:srgbClr val="E6E6E6"/>
                </a:solidFill>
                <a:latin typeface="Consolas"/>
              </a:rPr>
              <a:t> </a:t>
            </a:r>
            <a:r>
              <a:rPr sz="1300" b="1">
                <a:solidFill>
                  <a:srgbClr val="FF7B72"/>
                </a:solidFill>
                <a:latin typeface="Consolas"/>
              </a:rPr>
              <a:t>BY</a:t>
            </a:r>
            <a:r>
              <a:rPr sz="1300">
                <a:solidFill>
                  <a:srgbClr val="E6E6E6"/>
                </a:solidFill>
                <a:latin typeface="Consolas"/>
              </a:rPr>
              <a:t> </a:t>
            </a:r>
            <a:r>
              <a:rPr sz="1300" b="0">
                <a:solidFill>
                  <a:srgbClr val="E6E6E6"/>
                </a:solidFill>
                <a:latin typeface="Consolas"/>
              </a:rPr>
              <a:t>billing_city</a:t>
            </a:r>
          </a:p>
          <a:p>
            <a:pPr>
              <a:lnSpc>
                <a:spcPct val="115000"/>
              </a:lnSpc>
            </a:pPr>
            <a:r>
              <a:rPr sz="1300" b="1">
                <a:solidFill>
                  <a:srgbClr val="FF7B72"/>
                </a:solidFill>
                <a:latin typeface="Consolas"/>
              </a:rPr>
              <a:t>ORDER</a:t>
            </a:r>
            <a:r>
              <a:rPr sz="1300">
                <a:solidFill>
                  <a:srgbClr val="E6E6E6"/>
                </a:solidFill>
                <a:latin typeface="Consolas"/>
              </a:rPr>
              <a:t> </a:t>
            </a:r>
            <a:r>
              <a:rPr sz="1300" b="1">
                <a:solidFill>
                  <a:srgbClr val="FF7B72"/>
                </a:solidFill>
                <a:latin typeface="Consolas"/>
              </a:rPr>
              <a:t>BY</a:t>
            </a:r>
            <a:r>
              <a:rPr sz="1300">
                <a:solidFill>
                  <a:srgbClr val="E6E6E6"/>
                </a:solidFill>
                <a:latin typeface="Consolas"/>
              </a:rPr>
              <a:t> </a:t>
            </a:r>
            <a:r>
              <a:rPr sz="1300" b="0">
                <a:solidFill>
                  <a:srgbClr val="E6E6E6"/>
                </a:solidFill>
                <a:latin typeface="Consolas"/>
              </a:rPr>
              <a:t>total_revenue</a:t>
            </a:r>
            <a:r>
              <a:rPr sz="1300">
                <a:solidFill>
                  <a:srgbClr val="E6E6E6"/>
                </a:solidFill>
                <a:latin typeface="Consolas"/>
              </a:rPr>
              <a:t> </a:t>
            </a:r>
            <a:r>
              <a:rPr sz="1300" b="1">
                <a:solidFill>
                  <a:srgbClr val="FF7B72"/>
                </a:solidFill>
                <a:latin typeface="Consolas"/>
              </a:rPr>
              <a:t>DESC</a:t>
            </a:r>
          </a:p>
          <a:p>
            <a:pPr>
              <a:lnSpc>
                <a:spcPct val="115000"/>
              </a:lnSpc>
            </a:pPr>
            <a:r>
              <a:rPr sz="1300" b="1">
                <a:solidFill>
                  <a:srgbClr val="FF7B72"/>
                </a:solidFill>
                <a:latin typeface="Consolas"/>
              </a:rPr>
              <a:t>LIMIT</a:t>
            </a:r>
            <a:r>
              <a:rPr sz="1300">
                <a:solidFill>
                  <a:srgbClr val="E6E6E6"/>
                </a:solidFill>
                <a:latin typeface="Consolas"/>
              </a:rPr>
              <a:t> </a:t>
            </a:r>
            <a:r>
              <a:rPr sz="1300" b="0">
                <a:solidFill>
                  <a:srgbClr val="E6E6E6"/>
                </a:solidFill>
                <a:latin typeface="Consolas"/>
              </a:rPr>
              <a:t>1</a:t>
            </a:r>
            <a:r>
              <a:rPr sz="1300">
                <a:solidFill>
                  <a:srgbClr val="E6E6E6"/>
                </a:solidFill>
                <a:latin typeface="Consolas"/>
              </a:rPr>
              <a:t>;</a:t>
            </a:r>
          </a:p>
        </p:txBody>
      </p:sp>
      <p:sp>
        <p:nvSpPr>
          <p:cNvPr id="9" name="TextBox 8"/>
          <p:cNvSpPr txBox="1"/>
          <p:nvPr/>
        </p:nvSpPr>
        <p:spPr>
          <a:xfrm>
            <a:off x="6400800" y="1371600"/>
            <a:ext cx="2743200" cy="320040"/>
          </a:xfrm>
          <a:prstGeom prst="rect">
            <a:avLst/>
          </a:prstGeom>
          <a:noFill/>
        </p:spPr>
        <p:txBody>
          <a:bodyPr wrap="square" lIns="45720" tIns="18288" rIns="45720" bIns="18288" anchor="t">
            <a:spAutoFit/>
          </a:bodyPr>
          <a:lstStyle/>
          <a:p>
            <a:pPr algn="l"/>
            <a:r>
              <a:rPr sz="1100" b="1" i="0">
                <a:solidFill>
                  <a:srgbClr val="C00000"/>
                </a:solidFill>
                <a:latin typeface="Lato Black"/>
              </a:rPr>
              <a:t>OUTPUT</a:t>
            </a:r>
          </a:p>
        </p:txBody>
      </p:sp>
      <p:sp>
        <p:nvSpPr>
          <p:cNvPr id="10" name="Rectangle 9"/>
          <p:cNvSpPr/>
          <p:nvPr/>
        </p:nvSpPr>
        <p:spPr>
          <a:xfrm>
            <a:off x="6400800" y="1737360"/>
            <a:ext cx="5303520" cy="4114800"/>
          </a:xfrm>
          <a:prstGeom prst="rect">
            <a:avLst/>
          </a:prstGeom>
          <a:solidFill>
            <a:srgbClr val="FFFFFF"/>
          </a:solidFill>
          <a:ln w="9525">
            <a:solidFill>
              <a:srgbClr val="EEEE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263640"/>
            <a:ext cx="12191695" cy="50292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7200" y="6263640"/>
            <a:ext cx="11247120" cy="502920"/>
          </a:xfrm>
          <a:prstGeom prst="rect">
            <a:avLst/>
          </a:prstGeom>
          <a:noFill/>
        </p:spPr>
        <p:txBody>
          <a:bodyPr wrap="square" lIns="45720" tIns="18288" rIns="45720" bIns="18288" anchor="ctr">
            <a:spAutoFit/>
          </a:bodyPr>
          <a:lstStyle/>
          <a:p>
            <a:pPr algn="l"/>
            <a:r>
              <a:rPr sz="1400" b="1" i="0">
                <a:solidFill>
                  <a:srgbClr val="FFFFFF"/>
                </a:solidFill>
                <a:latin typeface="Calibri"/>
              </a:rPr>
              <a:t>Result:  Prague — highest total invoice revenue.</a:t>
            </a:r>
          </a:p>
        </p:txBody>
      </p:sp>
      <p:pic>
        <p:nvPicPr>
          <p:cNvPr id="14" name="Picture 13" descr="O4.png"/>
          <p:cNvPicPr>
            <a:picLocks noChangeAspect="1"/>
          </p:cNvPicPr>
          <p:nvPr/>
        </p:nvPicPr>
        <p:blipFill>
          <a:blip r:embed="rId2"/>
          <a:stretch>
            <a:fillRect/>
          </a:stretch>
        </p:blipFill>
        <p:spPr>
          <a:xfrm>
            <a:off x="6492240" y="3186367"/>
            <a:ext cx="5120640" cy="121678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11247120" cy="640080"/>
          </a:xfrm>
          <a:prstGeom prst="rect">
            <a:avLst/>
          </a:prstGeom>
          <a:noFill/>
        </p:spPr>
        <p:txBody>
          <a:bodyPr wrap="square" lIns="45720" tIns="18288" rIns="45720" bIns="18288" anchor="t">
            <a:spAutoFit/>
          </a:bodyPr>
          <a:lstStyle/>
          <a:p>
            <a:pPr algn="l"/>
            <a:r>
              <a:rPr sz="3000" b="1" i="0">
                <a:solidFill>
                  <a:srgbClr val="C00000"/>
                </a:solidFill>
                <a:latin typeface="Lato Black"/>
              </a:rPr>
              <a:t>Q5.  Best customer (who has spent the most money)</a:t>
            </a:r>
          </a:p>
        </p:txBody>
      </p:sp>
      <p:sp>
        <p:nvSpPr>
          <p:cNvPr id="4" name="Rectangle 3"/>
          <p:cNvSpPr/>
          <p:nvPr/>
        </p:nvSpPr>
        <p:spPr>
          <a:xfrm>
            <a:off x="457200" y="841248"/>
            <a:ext cx="1097280" cy="36576"/>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371600"/>
            <a:ext cx="2743200" cy="320040"/>
          </a:xfrm>
          <a:prstGeom prst="rect">
            <a:avLst/>
          </a:prstGeom>
          <a:noFill/>
        </p:spPr>
        <p:txBody>
          <a:bodyPr wrap="square" lIns="45720" tIns="18288" rIns="45720" bIns="18288" anchor="t">
            <a:spAutoFit/>
          </a:bodyPr>
          <a:lstStyle/>
          <a:p>
            <a:pPr algn="l"/>
            <a:r>
              <a:rPr sz="1100" b="1" i="0">
                <a:solidFill>
                  <a:srgbClr val="C00000"/>
                </a:solidFill>
                <a:latin typeface="Lato Black"/>
              </a:rPr>
              <a:t>SQL  QUERY</a:t>
            </a:r>
          </a:p>
        </p:txBody>
      </p:sp>
      <p:sp>
        <p:nvSpPr>
          <p:cNvPr id="6" name="Rectangle 5"/>
          <p:cNvSpPr/>
          <p:nvPr/>
        </p:nvSpPr>
        <p:spPr>
          <a:xfrm>
            <a:off x="457200" y="1737360"/>
            <a:ext cx="5669280" cy="4114800"/>
          </a:xfrm>
          <a:prstGeom prst="rect">
            <a:avLst/>
          </a:prstGeom>
          <a:solidFill>
            <a:srgbClr val="1E2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737360"/>
            <a:ext cx="73152" cy="411480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21792" y="1828800"/>
            <a:ext cx="5440680" cy="3950208"/>
          </a:xfrm>
          <a:prstGeom prst="rect">
            <a:avLst/>
          </a:prstGeom>
          <a:noFill/>
        </p:spPr>
        <p:txBody>
          <a:bodyPr wrap="none" lIns="45720" tIns="18288" rIns="45720" bIns="18288">
            <a:spAutoFit/>
          </a:bodyPr>
          <a:lstStyle/>
          <a:p>
            <a:pPr>
              <a:lnSpc>
                <a:spcPct val="115000"/>
              </a:lnSpc>
            </a:pPr>
            <a:r>
              <a:rPr sz="1300" b="1">
                <a:solidFill>
                  <a:srgbClr val="FF7B72"/>
                </a:solidFill>
                <a:latin typeface="Consolas"/>
              </a:rPr>
              <a:t>SELECT</a:t>
            </a:r>
            <a:r>
              <a:rPr sz="1300">
                <a:solidFill>
                  <a:srgbClr val="E6E6E6"/>
                </a:solidFill>
                <a:latin typeface="Consolas"/>
              </a:rPr>
              <a:t> </a:t>
            </a:r>
            <a:r>
              <a:rPr sz="1300" b="0">
                <a:solidFill>
                  <a:srgbClr val="E6E6E6"/>
                </a:solidFill>
                <a:latin typeface="Consolas"/>
              </a:rPr>
              <a:t>c</a:t>
            </a:r>
            <a:r>
              <a:rPr sz="1300">
                <a:solidFill>
                  <a:srgbClr val="E6E6E6"/>
                </a:solidFill>
                <a:latin typeface="Consolas"/>
              </a:rPr>
              <a:t>.</a:t>
            </a:r>
            <a:r>
              <a:rPr sz="1300" b="0">
                <a:solidFill>
                  <a:srgbClr val="E6E6E6"/>
                </a:solidFill>
                <a:latin typeface="Consolas"/>
              </a:rPr>
              <a:t>customer_id</a:t>
            </a:r>
            <a:r>
              <a:rPr sz="1300">
                <a:solidFill>
                  <a:srgbClr val="E6E6E6"/>
                </a:solidFill>
                <a:latin typeface="Consolas"/>
              </a:rPr>
              <a:t>, </a:t>
            </a:r>
            <a:r>
              <a:rPr sz="1300" b="0">
                <a:solidFill>
                  <a:srgbClr val="E6E6E6"/>
                </a:solidFill>
                <a:latin typeface="Consolas"/>
              </a:rPr>
              <a:t>c</a:t>
            </a:r>
            <a:r>
              <a:rPr sz="1300">
                <a:solidFill>
                  <a:srgbClr val="E6E6E6"/>
                </a:solidFill>
                <a:latin typeface="Consolas"/>
              </a:rPr>
              <a:t>.</a:t>
            </a:r>
            <a:r>
              <a:rPr sz="1300" b="0">
                <a:solidFill>
                  <a:srgbClr val="E6E6E6"/>
                </a:solidFill>
                <a:latin typeface="Consolas"/>
              </a:rPr>
              <a:t>first_name</a:t>
            </a:r>
            <a:r>
              <a:rPr sz="1300">
                <a:solidFill>
                  <a:srgbClr val="E6E6E6"/>
                </a:solidFill>
                <a:latin typeface="Consolas"/>
              </a:rPr>
              <a:t>, </a:t>
            </a:r>
            <a:r>
              <a:rPr sz="1300" b="0">
                <a:solidFill>
                  <a:srgbClr val="E6E6E6"/>
                </a:solidFill>
                <a:latin typeface="Consolas"/>
              </a:rPr>
              <a:t>c</a:t>
            </a:r>
            <a:r>
              <a:rPr sz="1300">
                <a:solidFill>
                  <a:srgbClr val="E6E6E6"/>
                </a:solidFill>
                <a:latin typeface="Consolas"/>
              </a:rPr>
              <a:t>.</a:t>
            </a:r>
            <a:r>
              <a:rPr sz="1300" b="0">
                <a:solidFill>
                  <a:srgbClr val="E6E6E6"/>
                </a:solidFill>
                <a:latin typeface="Consolas"/>
              </a:rPr>
              <a:t>last_name</a:t>
            </a:r>
            <a:r>
              <a:rPr sz="1300">
                <a:solidFill>
                  <a:srgbClr val="E6E6E6"/>
                </a:solidFill>
                <a:latin typeface="Consolas"/>
              </a:rPr>
              <a:t>,</a:t>
            </a:r>
          </a:p>
          <a:p>
            <a:pPr>
              <a:lnSpc>
                <a:spcPct val="115000"/>
              </a:lnSpc>
            </a:pPr>
            <a:r>
              <a:rPr sz="1300">
                <a:solidFill>
                  <a:srgbClr val="E6E6E6"/>
                </a:solidFill>
                <a:latin typeface="Consolas"/>
              </a:rPr>
              <a:t>       </a:t>
            </a:r>
            <a:r>
              <a:rPr sz="1300" b="1">
                <a:solidFill>
                  <a:srgbClr val="FF7B72"/>
                </a:solidFill>
                <a:latin typeface="Consolas"/>
              </a:rPr>
              <a:t>SUM</a:t>
            </a:r>
            <a:r>
              <a:rPr sz="1300">
                <a:solidFill>
                  <a:srgbClr val="E6E6E6"/>
                </a:solidFill>
                <a:latin typeface="Consolas"/>
              </a:rPr>
              <a:t>(</a:t>
            </a:r>
            <a:r>
              <a:rPr sz="1300" b="0">
                <a:solidFill>
                  <a:srgbClr val="E6E6E6"/>
                </a:solidFill>
                <a:latin typeface="Consolas"/>
              </a:rPr>
              <a:t>i</a:t>
            </a:r>
            <a:r>
              <a:rPr sz="1300">
                <a:solidFill>
                  <a:srgbClr val="E6E6E6"/>
                </a:solidFill>
                <a:latin typeface="Consolas"/>
              </a:rPr>
              <a:t>.</a:t>
            </a:r>
            <a:r>
              <a:rPr sz="1300" b="0">
                <a:solidFill>
                  <a:srgbClr val="E6E6E6"/>
                </a:solidFill>
                <a:latin typeface="Consolas"/>
              </a:rPr>
              <a:t>total</a:t>
            </a:r>
            <a:r>
              <a:rPr sz="1300">
                <a:solidFill>
                  <a:srgbClr val="E6E6E6"/>
                </a:solidFill>
                <a:latin typeface="Consolas"/>
              </a:rPr>
              <a:t>) </a:t>
            </a:r>
            <a:r>
              <a:rPr sz="1300" b="1">
                <a:solidFill>
                  <a:srgbClr val="FF7B72"/>
                </a:solidFill>
                <a:latin typeface="Consolas"/>
              </a:rPr>
              <a:t>AS</a:t>
            </a:r>
            <a:r>
              <a:rPr sz="1300">
                <a:solidFill>
                  <a:srgbClr val="E6E6E6"/>
                </a:solidFill>
                <a:latin typeface="Consolas"/>
              </a:rPr>
              <a:t> </a:t>
            </a:r>
            <a:r>
              <a:rPr sz="1300" b="0">
                <a:solidFill>
                  <a:srgbClr val="E6E6E6"/>
                </a:solidFill>
                <a:latin typeface="Consolas"/>
              </a:rPr>
              <a:t>total_spent</a:t>
            </a:r>
          </a:p>
          <a:p>
            <a:pPr>
              <a:lnSpc>
                <a:spcPct val="115000"/>
              </a:lnSpc>
            </a:pPr>
            <a:r>
              <a:rPr sz="1300" b="1">
                <a:solidFill>
                  <a:srgbClr val="FF7B72"/>
                </a:solidFill>
                <a:latin typeface="Consolas"/>
              </a:rPr>
              <a:t>FROM</a:t>
            </a:r>
            <a:r>
              <a:rPr sz="1300">
                <a:solidFill>
                  <a:srgbClr val="E6E6E6"/>
                </a:solidFill>
                <a:latin typeface="Consolas"/>
              </a:rPr>
              <a:t> </a:t>
            </a:r>
            <a:r>
              <a:rPr sz="1300" b="0">
                <a:solidFill>
                  <a:srgbClr val="E6E6E6"/>
                </a:solidFill>
                <a:latin typeface="Consolas"/>
              </a:rPr>
              <a:t>customer</a:t>
            </a:r>
            <a:r>
              <a:rPr sz="1300">
                <a:solidFill>
                  <a:srgbClr val="E6E6E6"/>
                </a:solidFill>
                <a:latin typeface="Consolas"/>
              </a:rPr>
              <a:t> </a:t>
            </a:r>
            <a:r>
              <a:rPr sz="1300" b="0">
                <a:solidFill>
                  <a:srgbClr val="E6E6E6"/>
                </a:solidFill>
                <a:latin typeface="Consolas"/>
              </a:rPr>
              <a:t>c</a:t>
            </a:r>
          </a:p>
          <a:p>
            <a:pPr>
              <a:lnSpc>
                <a:spcPct val="115000"/>
              </a:lnSpc>
            </a:pPr>
            <a:r>
              <a:rPr sz="1300" b="1">
                <a:solidFill>
                  <a:srgbClr val="FF7B72"/>
                </a:solidFill>
                <a:latin typeface="Consolas"/>
              </a:rPr>
              <a:t>JOIN</a:t>
            </a:r>
            <a:r>
              <a:rPr sz="1300">
                <a:solidFill>
                  <a:srgbClr val="E6E6E6"/>
                </a:solidFill>
                <a:latin typeface="Consolas"/>
              </a:rPr>
              <a:t> </a:t>
            </a:r>
            <a:r>
              <a:rPr sz="1300" b="0">
                <a:solidFill>
                  <a:srgbClr val="E6E6E6"/>
                </a:solidFill>
                <a:latin typeface="Consolas"/>
              </a:rPr>
              <a:t>invoice</a:t>
            </a:r>
            <a:r>
              <a:rPr sz="1300">
                <a:solidFill>
                  <a:srgbClr val="E6E6E6"/>
                </a:solidFill>
                <a:latin typeface="Consolas"/>
              </a:rPr>
              <a:t> </a:t>
            </a:r>
            <a:r>
              <a:rPr sz="1300" b="0">
                <a:solidFill>
                  <a:srgbClr val="E6E6E6"/>
                </a:solidFill>
                <a:latin typeface="Consolas"/>
              </a:rPr>
              <a:t>i</a:t>
            </a:r>
            <a:r>
              <a:rPr sz="1300">
                <a:solidFill>
                  <a:srgbClr val="E6E6E6"/>
                </a:solidFill>
                <a:latin typeface="Consolas"/>
              </a:rPr>
              <a:t> </a:t>
            </a:r>
            <a:r>
              <a:rPr sz="1300" b="1">
                <a:solidFill>
                  <a:srgbClr val="FF7B72"/>
                </a:solidFill>
                <a:latin typeface="Consolas"/>
              </a:rPr>
              <a:t>ON</a:t>
            </a:r>
            <a:r>
              <a:rPr sz="1300">
                <a:solidFill>
                  <a:srgbClr val="E6E6E6"/>
                </a:solidFill>
                <a:latin typeface="Consolas"/>
              </a:rPr>
              <a:t> </a:t>
            </a:r>
            <a:r>
              <a:rPr sz="1300" b="0">
                <a:solidFill>
                  <a:srgbClr val="E6E6E6"/>
                </a:solidFill>
                <a:latin typeface="Consolas"/>
              </a:rPr>
              <a:t>c</a:t>
            </a:r>
            <a:r>
              <a:rPr sz="1300">
                <a:solidFill>
                  <a:srgbClr val="E6E6E6"/>
                </a:solidFill>
                <a:latin typeface="Consolas"/>
              </a:rPr>
              <a:t>.</a:t>
            </a:r>
            <a:r>
              <a:rPr sz="1300" b="0">
                <a:solidFill>
                  <a:srgbClr val="E6E6E6"/>
                </a:solidFill>
                <a:latin typeface="Consolas"/>
              </a:rPr>
              <a:t>customer_id</a:t>
            </a:r>
            <a:r>
              <a:rPr sz="1300">
                <a:solidFill>
                  <a:srgbClr val="E6E6E6"/>
                </a:solidFill>
                <a:latin typeface="Consolas"/>
              </a:rPr>
              <a:t> = </a:t>
            </a:r>
            <a:r>
              <a:rPr sz="1300" b="0">
                <a:solidFill>
                  <a:srgbClr val="E6E6E6"/>
                </a:solidFill>
                <a:latin typeface="Consolas"/>
              </a:rPr>
              <a:t>i</a:t>
            </a:r>
            <a:r>
              <a:rPr sz="1300">
                <a:solidFill>
                  <a:srgbClr val="E6E6E6"/>
                </a:solidFill>
                <a:latin typeface="Consolas"/>
              </a:rPr>
              <a:t>.</a:t>
            </a:r>
            <a:r>
              <a:rPr sz="1300" b="0">
                <a:solidFill>
                  <a:srgbClr val="E6E6E6"/>
                </a:solidFill>
                <a:latin typeface="Consolas"/>
              </a:rPr>
              <a:t>customer_id</a:t>
            </a:r>
          </a:p>
          <a:p>
            <a:pPr>
              <a:lnSpc>
                <a:spcPct val="115000"/>
              </a:lnSpc>
            </a:pPr>
            <a:r>
              <a:rPr sz="1300" b="1">
                <a:solidFill>
                  <a:srgbClr val="FF7B72"/>
                </a:solidFill>
                <a:latin typeface="Consolas"/>
              </a:rPr>
              <a:t>GROUP</a:t>
            </a:r>
            <a:r>
              <a:rPr sz="1300">
                <a:solidFill>
                  <a:srgbClr val="E6E6E6"/>
                </a:solidFill>
                <a:latin typeface="Consolas"/>
              </a:rPr>
              <a:t> </a:t>
            </a:r>
            <a:r>
              <a:rPr sz="1300" b="1">
                <a:solidFill>
                  <a:srgbClr val="FF7B72"/>
                </a:solidFill>
                <a:latin typeface="Consolas"/>
              </a:rPr>
              <a:t>BY</a:t>
            </a:r>
            <a:r>
              <a:rPr sz="1300">
                <a:solidFill>
                  <a:srgbClr val="E6E6E6"/>
                </a:solidFill>
                <a:latin typeface="Consolas"/>
              </a:rPr>
              <a:t> </a:t>
            </a:r>
            <a:r>
              <a:rPr sz="1300" b="0">
                <a:solidFill>
                  <a:srgbClr val="E6E6E6"/>
                </a:solidFill>
                <a:latin typeface="Consolas"/>
              </a:rPr>
              <a:t>c</a:t>
            </a:r>
            <a:r>
              <a:rPr sz="1300">
                <a:solidFill>
                  <a:srgbClr val="E6E6E6"/>
                </a:solidFill>
                <a:latin typeface="Consolas"/>
              </a:rPr>
              <a:t>.</a:t>
            </a:r>
            <a:r>
              <a:rPr sz="1300" b="0">
                <a:solidFill>
                  <a:srgbClr val="E6E6E6"/>
                </a:solidFill>
                <a:latin typeface="Consolas"/>
              </a:rPr>
              <a:t>customer_id</a:t>
            </a:r>
            <a:r>
              <a:rPr sz="1300">
                <a:solidFill>
                  <a:srgbClr val="E6E6E6"/>
                </a:solidFill>
                <a:latin typeface="Consolas"/>
              </a:rPr>
              <a:t>, </a:t>
            </a:r>
            <a:r>
              <a:rPr sz="1300" b="0">
                <a:solidFill>
                  <a:srgbClr val="E6E6E6"/>
                </a:solidFill>
                <a:latin typeface="Consolas"/>
              </a:rPr>
              <a:t>c</a:t>
            </a:r>
            <a:r>
              <a:rPr sz="1300">
                <a:solidFill>
                  <a:srgbClr val="E6E6E6"/>
                </a:solidFill>
                <a:latin typeface="Consolas"/>
              </a:rPr>
              <a:t>.</a:t>
            </a:r>
            <a:r>
              <a:rPr sz="1300" b="0">
                <a:solidFill>
                  <a:srgbClr val="E6E6E6"/>
                </a:solidFill>
                <a:latin typeface="Consolas"/>
              </a:rPr>
              <a:t>first_name</a:t>
            </a:r>
            <a:r>
              <a:rPr sz="1300">
                <a:solidFill>
                  <a:srgbClr val="E6E6E6"/>
                </a:solidFill>
                <a:latin typeface="Consolas"/>
              </a:rPr>
              <a:t>, </a:t>
            </a:r>
            <a:r>
              <a:rPr sz="1300" b="0">
                <a:solidFill>
                  <a:srgbClr val="E6E6E6"/>
                </a:solidFill>
                <a:latin typeface="Consolas"/>
              </a:rPr>
              <a:t>c</a:t>
            </a:r>
            <a:r>
              <a:rPr sz="1300">
                <a:solidFill>
                  <a:srgbClr val="E6E6E6"/>
                </a:solidFill>
                <a:latin typeface="Consolas"/>
              </a:rPr>
              <a:t>.</a:t>
            </a:r>
            <a:r>
              <a:rPr sz="1300" b="0">
                <a:solidFill>
                  <a:srgbClr val="E6E6E6"/>
                </a:solidFill>
                <a:latin typeface="Consolas"/>
              </a:rPr>
              <a:t>last_name</a:t>
            </a:r>
          </a:p>
          <a:p>
            <a:pPr>
              <a:lnSpc>
                <a:spcPct val="115000"/>
              </a:lnSpc>
            </a:pPr>
            <a:r>
              <a:rPr sz="1300" b="1">
                <a:solidFill>
                  <a:srgbClr val="FF7B72"/>
                </a:solidFill>
                <a:latin typeface="Consolas"/>
              </a:rPr>
              <a:t>ORDER</a:t>
            </a:r>
            <a:r>
              <a:rPr sz="1300">
                <a:solidFill>
                  <a:srgbClr val="E6E6E6"/>
                </a:solidFill>
                <a:latin typeface="Consolas"/>
              </a:rPr>
              <a:t> </a:t>
            </a:r>
            <a:r>
              <a:rPr sz="1300" b="1">
                <a:solidFill>
                  <a:srgbClr val="FF7B72"/>
                </a:solidFill>
                <a:latin typeface="Consolas"/>
              </a:rPr>
              <a:t>BY</a:t>
            </a:r>
            <a:r>
              <a:rPr sz="1300">
                <a:solidFill>
                  <a:srgbClr val="E6E6E6"/>
                </a:solidFill>
                <a:latin typeface="Consolas"/>
              </a:rPr>
              <a:t> </a:t>
            </a:r>
            <a:r>
              <a:rPr sz="1300" b="0">
                <a:solidFill>
                  <a:srgbClr val="E6E6E6"/>
                </a:solidFill>
                <a:latin typeface="Consolas"/>
              </a:rPr>
              <a:t>total_spent</a:t>
            </a:r>
            <a:r>
              <a:rPr sz="1300">
                <a:solidFill>
                  <a:srgbClr val="E6E6E6"/>
                </a:solidFill>
                <a:latin typeface="Consolas"/>
              </a:rPr>
              <a:t> </a:t>
            </a:r>
            <a:r>
              <a:rPr sz="1300" b="1">
                <a:solidFill>
                  <a:srgbClr val="FF7B72"/>
                </a:solidFill>
                <a:latin typeface="Consolas"/>
              </a:rPr>
              <a:t>DESC</a:t>
            </a:r>
          </a:p>
          <a:p>
            <a:pPr>
              <a:lnSpc>
                <a:spcPct val="115000"/>
              </a:lnSpc>
            </a:pPr>
            <a:r>
              <a:rPr sz="1300" b="1">
                <a:solidFill>
                  <a:srgbClr val="FF7B72"/>
                </a:solidFill>
                <a:latin typeface="Consolas"/>
              </a:rPr>
              <a:t>LIMIT</a:t>
            </a:r>
            <a:r>
              <a:rPr sz="1300">
                <a:solidFill>
                  <a:srgbClr val="E6E6E6"/>
                </a:solidFill>
                <a:latin typeface="Consolas"/>
              </a:rPr>
              <a:t> </a:t>
            </a:r>
            <a:r>
              <a:rPr sz="1300" b="0">
                <a:solidFill>
                  <a:srgbClr val="E6E6E6"/>
                </a:solidFill>
                <a:latin typeface="Consolas"/>
              </a:rPr>
              <a:t>1</a:t>
            </a:r>
            <a:r>
              <a:rPr sz="1300">
                <a:solidFill>
                  <a:srgbClr val="E6E6E6"/>
                </a:solidFill>
                <a:latin typeface="Consolas"/>
              </a:rPr>
              <a:t>;</a:t>
            </a:r>
          </a:p>
        </p:txBody>
      </p:sp>
      <p:sp>
        <p:nvSpPr>
          <p:cNvPr id="9" name="TextBox 8"/>
          <p:cNvSpPr txBox="1"/>
          <p:nvPr/>
        </p:nvSpPr>
        <p:spPr>
          <a:xfrm>
            <a:off x="6400800" y="1371600"/>
            <a:ext cx="2743200" cy="320040"/>
          </a:xfrm>
          <a:prstGeom prst="rect">
            <a:avLst/>
          </a:prstGeom>
          <a:noFill/>
        </p:spPr>
        <p:txBody>
          <a:bodyPr wrap="square" lIns="45720" tIns="18288" rIns="45720" bIns="18288" anchor="t">
            <a:spAutoFit/>
          </a:bodyPr>
          <a:lstStyle/>
          <a:p>
            <a:pPr algn="l"/>
            <a:r>
              <a:rPr sz="1100" b="1" i="0">
                <a:solidFill>
                  <a:srgbClr val="C00000"/>
                </a:solidFill>
                <a:latin typeface="Lato Black"/>
              </a:rPr>
              <a:t>OUTPUT</a:t>
            </a:r>
          </a:p>
        </p:txBody>
      </p:sp>
      <p:sp>
        <p:nvSpPr>
          <p:cNvPr id="10" name="Rectangle 9"/>
          <p:cNvSpPr/>
          <p:nvPr/>
        </p:nvSpPr>
        <p:spPr>
          <a:xfrm>
            <a:off x="6400800" y="1737360"/>
            <a:ext cx="5303520" cy="4114800"/>
          </a:xfrm>
          <a:prstGeom prst="rect">
            <a:avLst/>
          </a:prstGeom>
          <a:solidFill>
            <a:srgbClr val="FFFFFF"/>
          </a:solidFill>
          <a:ln w="9525">
            <a:solidFill>
              <a:srgbClr val="EEEE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263640"/>
            <a:ext cx="12191695" cy="50292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7200" y="6263640"/>
            <a:ext cx="11247120" cy="502920"/>
          </a:xfrm>
          <a:prstGeom prst="rect">
            <a:avLst/>
          </a:prstGeom>
          <a:noFill/>
        </p:spPr>
        <p:txBody>
          <a:bodyPr wrap="square" lIns="45720" tIns="18288" rIns="45720" bIns="18288" anchor="ctr">
            <a:spAutoFit/>
          </a:bodyPr>
          <a:lstStyle/>
          <a:p>
            <a:pPr algn="l"/>
            <a:r>
              <a:rPr sz="1400" b="1" i="0">
                <a:solidFill>
                  <a:srgbClr val="FFFFFF"/>
                </a:solidFill>
                <a:latin typeface="Calibri"/>
              </a:rPr>
              <a:t>Result:  Top customer identified — highest lifetime spend.</a:t>
            </a:r>
          </a:p>
        </p:txBody>
      </p:sp>
      <p:pic>
        <p:nvPicPr>
          <p:cNvPr id="14" name="Picture 13" descr="O5.png"/>
          <p:cNvPicPr>
            <a:picLocks noChangeAspect="1"/>
          </p:cNvPicPr>
          <p:nvPr/>
        </p:nvPicPr>
        <p:blipFill>
          <a:blip r:embed="rId2"/>
          <a:stretch>
            <a:fillRect/>
          </a:stretch>
        </p:blipFill>
        <p:spPr>
          <a:xfrm>
            <a:off x="6492240" y="3413097"/>
            <a:ext cx="5120640" cy="76332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11247120" cy="640080"/>
          </a:xfrm>
          <a:prstGeom prst="rect">
            <a:avLst/>
          </a:prstGeom>
          <a:noFill/>
        </p:spPr>
        <p:txBody>
          <a:bodyPr wrap="square" lIns="45720" tIns="18288" rIns="45720" bIns="18288" anchor="t">
            <a:spAutoFit/>
          </a:bodyPr>
          <a:lstStyle/>
          <a:p>
            <a:pPr algn="l"/>
            <a:r>
              <a:rPr sz="3000" b="1" i="0">
                <a:solidFill>
                  <a:srgbClr val="C00000"/>
                </a:solidFill>
                <a:latin typeface="Lato Black"/>
              </a:rPr>
              <a:t>Q6.  Email, first name, last name &amp; genre of all Rock listeners</a:t>
            </a:r>
          </a:p>
        </p:txBody>
      </p:sp>
      <p:sp>
        <p:nvSpPr>
          <p:cNvPr id="4" name="Rectangle 3"/>
          <p:cNvSpPr/>
          <p:nvPr/>
        </p:nvSpPr>
        <p:spPr>
          <a:xfrm>
            <a:off x="457200" y="841248"/>
            <a:ext cx="1097280" cy="36576"/>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371600"/>
            <a:ext cx="2743200" cy="320040"/>
          </a:xfrm>
          <a:prstGeom prst="rect">
            <a:avLst/>
          </a:prstGeom>
          <a:noFill/>
        </p:spPr>
        <p:txBody>
          <a:bodyPr wrap="square" lIns="45720" tIns="18288" rIns="45720" bIns="18288" anchor="t">
            <a:spAutoFit/>
          </a:bodyPr>
          <a:lstStyle/>
          <a:p>
            <a:pPr algn="l"/>
            <a:r>
              <a:rPr sz="1100" b="1" i="0">
                <a:solidFill>
                  <a:srgbClr val="C00000"/>
                </a:solidFill>
                <a:latin typeface="Lato Black"/>
              </a:rPr>
              <a:t>SQL  QUERY</a:t>
            </a:r>
          </a:p>
        </p:txBody>
      </p:sp>
      <p:sp>
        <p:nvSpPr>
          <p:cNvPr id="6" name="Rectangle 5"/>
          <p:cNvSpPr/>
          <p:nvPr/>
        </p:nvSpPr>
        <p:spPr>
          <a:xfrm>
            <a:off x="457200" y="1737360"/>
            <a:ext cx="5669280" cy="4114800"/>
          </a:xfrm>
          <a:prstGeom prst="rect">
            <a:avLst/>
          </a:prstGeom>
          <a:solidFill>
            <a:srgbClr val="1E2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737360"/>
            <a:ext cx="73152" cy="411480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21792" y="1828800"/>
            <a:ext cx="5483232" cy="2092881"/>
          </a:xfrm>
          <a:prstGeom prst="rect">
            <a:avLst/>
          </a:prstGeom>
          <a:noFill/>
        </p:spPr>
        <p:txBody>
          <a:bodyPr wrap="none" lIns="45720" tIns="18288" rIns="45720" bIns="18288">
            <a:spAutoFit/>
          </a:bodyPr>
          <a:lstStyle/>
          <a:p>
            <a:pPr>
              <a:lnSpc>
                <a:spcPct val="115000"/>
              </a:lnSpc>
            </a:pPr>
            <a:r>
              <a:rPr sz="1300" b="1" dirty="0">
                <a:solidFill>
                  <a:srgbClr val="FF7B72"/>
                </a:solidFill>
                <a:latin typeface="Consolas"/>
              </a:rPr>
              <a:t>SELECT</a:t>
            </a:r>
            <a:r>
              <a:rPr sz="1300" dirty="0">
                <a:solidFill>
                  <a:srgbClr val="E6E6E6"/>
                </a:solidFill>
                <a:latin typeface="Consolas"/>
              </a:rPr>
              <a:t> </a:t>
            </a:r>
            <a:r>
              <a:rPr sz="1300" b="1" dirty="0">
                <a:solidFill>
                  <a:srgbClr val="FF7B72"/>
                </a:solidFill>
                <a:latin typeface="Consolas"/>
              </a:rPr>
              <a:t>DISTINCT</a:t>
            </a:r>
            <a:r>
              <a:rPr sz="1300" dirty="0">
                <a:solidFill>
                  <a:srgbClr val="E6E6E6"/>
                </a:solidFill>
                <a:latin typeface="Consolas"/>
              </a:rPr>
              <a:t> </a:t>
            </a:r>
            <a:r>
              <a:rPr sz="1300" b="0" dirty="0" err="1">
                <a:solidFill>
                  <a:srgbClr val="E6E6E6"/>
                </a:solidFill>
                <a:latin typeface="Consolas"/>
              </a:rPr>
              <a:t>c</a:t>
            </a:r>
            <a:r>
              <a:rPr sz="1300" dirty="0" err="1">
                <a:solidFill>
                  <a:srgbClr val="E6E6E6"/>
                </a:solidFill>
                <a:latin typeface="Consolas"/>
              </a:rPr>
              <a:t>.</a:t>
            </a:r>
            <a:r>
              <a:rPr sz="1300" b="0" dirty="0" err="1">
                <a:solidFill>
                  <a:srgbClr val="E6E6E6"/>
                </a:solidFill>
                <a:latin typeface="Consolas"/>
              </a:rPr>
              <a:t>email</a:t>
            </a:r>
            <a:r>
              <a:rPr sz="1300" dirty="0">
                <a:solidFill>
                  <a:srgbClr val="E6E6E6"/>
                </a:solidFill>
                <a:latin typeface="Consolas"/>
              </a:rPr>
              <a:t>, </a:t>
            </a:r>
            <a:r>
              <a:rPr sz="1300" b="0" dirty="0" err="1">
                <a:solidFill>
                  <a:srgbClr val="E6E6E6"/>
                </a:solidFill>
                <a:latin typeface="Consolas"/>
              </a:rPr>
              <a:t>c</a:t>
            </a:r>
            <a:r>
              <a:rPr sz="1300" dirty="0" err="1">
                <a:solidFill>
                  <a:srgbClr val="E6E6E6"/>
                </a:solidFill>
                <a:latin typeface="Consolas"/>
              </a:rPr>
              <a:t>.</a:t>
            </a:r>
            <a:r>
              <a:rPr sz="1300" b="0" dirty="0" err="1">
                <a:solidFill>
                  <a:srgbClr val="E6E6E6"/>
                </a:solidFill>
                <a:latin typeface="Consolas"/>
              </a:rPr>
              <a:t>first_name</a:t>
            </a:r>
            <a:r>
              <a:rPr sz="1300" dirty="0">
                <a:solidFill>
                  <a:srgbClr val="E6E6E6"/>
                </a:solidFill>
                <a:latin typeface="Consolas"/>
              </a:rPr>
              <a:t>, </a:t>
            </a:r>
            <a:r>
              <a:rPr sz="1300" b="0" dirty="0" err="1">
                <a:solidFill>
                  <a:srgbClr val="E6E6E6"/>
                </a:solidFill>
                <a:latin typeface="Consolas"/>
              </a:rPr>
              <a:t>c</a:t>
            </a:r>
            <a:r>
              <a:rPr sz="1300" dirty="0" err="1">
                <a:solidFill>
                  <a:srgbClr val="E6E6E6"/>
                </a:solidFill>
                <a:latin typeface="Consolas"/>
              </a:rPr>
              <a:t>.</a:t>
            </a:r>
            <a:r>
              <a:rPr sz="1300" b="0" dirty="0" err="1">
                <a:solidFill>
                  <a:srgbClr val="E6E6E6"/>
                </a:solidFill>
                <a:latin typeface="Consolas"/>
              </a:rPr>
              <a:t>last_name</a:t>
            </a:r>
            <a:r>
              <a:rPr sz="1300" dirty="0">
                <a:solidFill>
                  <a:srgbClr val="E6E6E6"/>
                </a:solidFill>
                <a:latin typeface="Consolas"/>
              </a:rPr>
              <a:t>, </a:t>
            </a:r>
            <a:r>
              <a:rPr sz="1300" b="0" dirty="0">
                <a:solidFill>
                  <a:srgbClr val="E6E6E6"/>
                </a:solidFill>
                <a:latin typeface="Consolas"/>
              </a:rPr>
              <a:t>g</a:t>
            </a:r>
            <a:r>
              <a:rPr sz="1300" dirty="0">
                <a:solidFill>
                  <a:srgbClr val="E6E6E6"/>
                </a:solidFill>
                <a:latin typeface="Consolas"/>
              </a:rPr>
              <a:t>.</a:t>
            </a:r>
            <a:r>
              <a:rPr sz="1300" b="0" dirty="0">
                <a:solidFill>
                  <a:srgbClr val="E6E6E6"/>
                </a:solidFill>
                <a:latin typeface="Consolas"/>
              </a:rPr>
              <a:t>name</a:t>
            </a:r>
            <a:r>
              <a:rPr sz="1300" dirty="0">
                <a:solidFill>
                  <a:srgbClr val="E6E6E6"/>
                </a:solidFill>
                <a:latin typeface="Consolas"/>
              </a:rPr>
              <a:t> </a:t>
            </a:r>
            <a:endParaRPr lang="en-US" sz="1300" dirty="0">
              <a:solidFill>
                <a:srgbClr val="E6E6E6"/>
              </a:solidFill>
              <a:latin typeface="Consolas"/>
            </a:endParaRPr>
          </a:p>
          <a:p>
            <a:pPr>
              <a:lnSpc>
                <a:spcPct val="115000"/>
              </a:lnSpc>
            </a:pPr>
            <a:r>
              <a:rPr sz="1300" b="1" dirty="0">
                <a:solidFill>
                  <a:srgbClr val="FF7B72"/>
                </a:solidFill>
                <a:latin typeface="Consolas"/>
              </a:rPr>
              <a:t>AS</a:t>
            </a:r>
            <a:r>
              <a:rPr sz="1300" dirty="0">
                <a:solidFill>
                  <a:srgbClr val="E6E6E6"/>
                </a:solidFill>
                <a:latin typeface="Consolas"/>
              </a:rPr>
              <a:t> </a:t>
            </a:r>
            <a:r>
              <a:rPr sz="1300" b="0" dirty="0">
                <a:solidFill>
                  <a:srgbClr val="E6E6E6"/>
                </a:solidFill>
                <a:latin typeface="Consolas"/>
              </a:rPr>
              <a:t>genre</a:t>
            </a:r>
          </a:p>
          <a:p>
            <a:pPr>
              <a:lnSpc>
                <a:spcPct val="115000"/>
              </a:lnSpc>
            </a:pPr>
            <a:r>
              <a:rPr sz="1300" b="1" dirty="0">
                <a:solidFill>
                  <a:srgbClr val="FF7B72"/>
                </a:solidFill>
                <a:latin typeface="Consolas"/>
              </a:rPr>
              <a:t>FROM</a:t>
            </a:r>
            <a:r>
              <a:rPr sz="1300" dirty="0">
                <a:solidFill>
                  <a:srgbClr val="E6E6E6"/>
                </a:solidFill>
                <a:latin typeface="Consolas"/>
              </a:rPr>
              <a:t> </a:t>
            </a:r>
            <a:r>
              <a:rPr sz="1300" b="0" dirty="0">
                <a:solidFill>
                  <a:srgbClr val="E6E6E6"/>
                </a:solidFill>
                <a:latin typeface="Consolas"/>
              </a:rPr>
              <a:t>customer</a:t>
            </a:r>
            <a:r>
              <a:rPr sz="1300" dirty="0">
                <a:solidFill>
                  <a:srgbClr val="E6E6E6"/>
                </a:solidFill>
                <a:latin typeface="Consolas"/>
              </a:rPr>
              <a:t> </a:t>
            </a:r>
            <a:r>
              <a:rPr sz="1300" b="0" dirty="0">
                <a:solidFill>
                  <a:srgbClr val="E6E6E6"/>
                </a:solidFill>
                <a:latin typeface="Consolas"/>
              </a:rPr>
              <a:t>c</a:t>
            </a:r>
          </a:p>
          <a:p>
            <a:pPr>
              <a:lnSpc>
                <a:spcPct val="115000"/>
              </a:lnSpc>
            </a:pPr>
            <a:r>
              <a:rPr sz="1300" b="1" dirty="0">
                <a:solidFill>
                  <a:srgbClr val="FF7B72"/>
                </a:solidFill>
                <a:latin typeface="Consolas"/>
              </a:rPr>
              <a:t>JOIN</a:t>
            </a:r>
            <a:r>
              <a:rPr sz="1300" dirty="0">
                <a:solidFill>
                  <a:srgbClr val="E6E6E6"/>
                </a:solidFill>
                <a:latin typeface="Consolas"/>
              </a:rPr>
              <a:t> </a:t>
            </a:r>
            <a:r>
              <a:rPr sz="1300" b="0" dirty="0">
                <a:solidFill>
                  <a:srgbClr val="E6E6E6"/>
                </a:solidFill>
                <a:latin typeface="Consolas"/>
              </a:rPr>
              <a:t>invoice</a:t>
            </a:r>
            <a:r>
              <a:rPr sz="1300" dirty="0">
                <a:solidFill>
                  <a:srgbClr val="E6E6E6"/>
                </a:solidFill>
                <a:latin typeface="Consolas"/>
              </a:rPr>
              <a:t> </a:t>
            </a:r>
            <a:r>
              <a:rPr sz="1300" b="0" dirty="0" err="1">
                <a:solidFill>
                  <a:srgbClr val="E6E6E6"/>
                </a:solidFill>
                <a:latin typeface="Consolas"/>
              </a:rPr>
              <a:t>i</a:t>
            </a:r>
            <a:r>
              <a:rPr sz="1300" dirty="0">
                <a:solidFill>
                  <a:srgbClr val="E6E6E6"/>
                </a:solidFill>
                <a:latin typeface="Consolas"/>
              </a:rPr>
              <a:t>       </a:t>
            </a:r>
            <a:r>
              <a:rPr sz="1300" b="1" dirty="0">
                <a:solidFill>
                  <a:srgbClr val="FF7B72"/>
                </a:solidFill>
                <a:latin typeface="Consolas"/>
              </a:rPr>
              <a:t>ON</a:t>
            </a:r>
            <a:r>
              <a:rPr sz="1300" dirty="0">
                <a:solidFill>
                  <a:srgbClr val="E6E6E6"/>
                </a:solidFill>
                <a:latin typeface="Consolas"/>
              </a:rPr>
              <a:t> </a:t>
            </a:r>
            <a:r>
              <a:rPr sz="1300" b="0" dirty="0" err="1">
                <a:solidFill>
                  <a:srgbClr val="E6E6E6"/>
                </a:solidFill>
                <a:latin typeface="Consolas"/>
              </a:rPr>
              <a:t>c</a:t>
            </a:r>
            <a:r>
              <a:rPr sz="1300" dirty="0" err="1">
                <a:solidFill>
                  <a:srgbClr val="E6E6E6"/>
                </a:solidFill>
                <a:latin typeface="Consolas"/>
              </a:rPr>
              <a:t>.</a:t>
            </a:r>
            <a:r>
              <a:rPr sz="1300" b="0" dirty="0" err="1">
                <a:solidFill>
                  <a:srgbClr val="E6E6E6"/>
                </a:solidFill>
                <a:latin typeface="Consolas"/>
              </a:rPr>
              <a:t>customer_id</a:t>
            </a:r>
            <a:r>
              <a:rPr sz="1300" dirty="0">
                <a:solidFill>
                  <a:srgbClr val="E6E6E6"/>
                </a:solidFill>
                <a:latin typeface="Consolas"/>
              </a:rPr>
              <a:t> = </a:t>
            </a:r>
            <a:r>
              <a:rPr sz="1300" b="0" dirty="0" err="1">
                <a:solidFill>
                  <a:srgbClr val="E6E6E6"/>
                </a:solidFill>
                <a:latin typeface="Consolas"/>
              </a:rPr>
              <a:t>i</a:t>
            </a:r>
            <a:r>
              <a:rPr sz="1300" dirty="0" err="1">
                <a:solidFill>
                  <a:srgbClr val="E6E6E6"/>
                </a:solidFill>
                <a:latin typeface="Consolas"/>
              </a:rPr>
              <a:t>.</a:t>
            </a:r>
            <a:r>
              <a:rPr sz="1300" b="0" dirty="0" err="1">
                <a:solidFill>
                  <a:srgbClr val="E6E6E6"/>
                </a:solidFill>
                <a:latin typeface="Consolas"/>
              </a:rPr>
              <a:t>customer_id</a:t>
            </a:r>
            <a:endParaRPr sz="1300" b="0" dirty="0">
              <a:solidFill>
                <a:srgbClr val="E6E6E6"/>
              </a:solidFill>
              <a:latin typeface="Consolas"/>
            </a:endParaRPr>
          </a:p>
          <a:p>
            <a:pPr>
              <a:lnSpc>
                <a:spcPct val="115000"/>
              </a:lnSpc>
            </a:pPr>
            <a:r>
              <a:rPr sz="1300" b="1" dirty="0">
                <a:solidFill>
                  <a:srgbClr val="FF7B72"/>
                </a:solidFill>
                <a:latin typeface="Consolas"/>
              </a:rPr>
              <a:t>JOIN</a:t>
            </a:r>
            <a:r>
              <a:rPr sz="1300" dirty="0">
                <a:solidFill>
                  <a:srgbClr val="E6E6E6"/>
                </a:solidFill>
                <a:latin typeface="Consolas"/>
              </a:rPr>
              <a:t> </a:t>
            </a:r>
            <a:r>
              <a:rPr sz="1300" b="0" dirty="0" err="1">
                <a:solidFill>
                  <a:srgbClr val="E6E6E6"/>
                </a:solidFill>
                <a:latin typeface="Consolas"/>
              </a:rPr>
              <a:t>invoice_line</a:t>
            </a:r>
            <a:r>
              <a:rPr sz="1300" dirty="0">
                <a:solidFill>
                  <a:srgbClr val="E6E6E6"/>
                </a:solidFill>
                <a:latin typeface="Consolas"/>
              </a:rPr>
              <a:t> </a:t>
            </a:r>
            <a:r>
              <a:rPr sz="1300" b="0" dirty="0">
                <a:solidFill>
                  <a:srgbClr val="E6E6E6"/>
                </a:solidFill>
                <a:latin typeface="Consolas"/>
              </a:rPr>
              <a:t>il</a:t>
            </a:r>
            <a:r>
              <a:rPr sz="1300" dirty="0">
                <a:solidFill>
                  <a:srgbClr val="E6E6E6"/>
                </a:solidFill>
                <a:latin typeface="Consolas"/>
              </a:rPr>
              <a:t> </a:t>
            </a:r>
            <a:r>
              <a:rPr sz="1300" b="1" dirty="0">
                <a:solidFill>
                  <a:srgbClr val="FF7B72"/>
                </a:solidFill>
                <a:latin typeface="Consolas"/>
              </a:rPr>
              <a:t>ON</a:t>
            </a:r>
            <a:r>
              <a:rPr sz="1300" dirty="0">
                <a:solidFill>
                  <a:srgbClr val="E6E6E6"/>
                </a:solidFill>
                <a:latin typeface="Consolas"/>
              </a:rPr>
              <a:t> </a:t>
            </a:r>
            <a:r>
              <a:rPr sz="1300" b="0" dirty="0" err="1">
                <a:solidFill>
                  <a:srgbClr val="E6E6E6"/>
                </a:solidFill>
                <a:latin typeface="Consolas"/>
              </a:rPr>
              <a:t>i</a:t>
            </a:r>
            <a:r>
              <a:rPr sz="1300" dirty="0" err="1">
                <a:solidFill>
                  <a:srgbClr val="E6E6E6"/>
                </a:solidFill>
                <a:latin typeface="Consolas"/>
              </a:rPr>
              <a:t>.</a:t>
            </a:r>
            <a:r>
              <a:rPr sz="1300" b="0" dirty="0" err="1">
                <a:solidFill>
                  <a:srgbClr val="E6E6E6"/>
                </a:solidFill>
                <a:latin typeface="Consolas"/>
              </a:rPr>
              <a:t>invoice_id</a:t>
            </a:r>
            <a:r>
              <a:rPr sz="1300" dirty="0">
                <a:solidFill>
                  <a:srgbClr val="E6E6E6"/>
                </a:solidFill>
                <a:latin typeface="Consolas"/>
              </a:rPr>
              <a:t> = </a:t>
            </a:r>
            <a:r>
              <a:rPr sz="1300" b="0" dirty="0" err="1">
                <a:solidFill>
                  <a:srgbClr val="E6E6E6"/>
                </a:solidFill>
                <a:latin typeface="Consolas"/>
              </a:rPr>
              <a:t>il</a:t>
            </a:r>
            <a:r>
              <a:rPr sz="1300" dirty="0" err="1">
                <a:solidFill>
                  <a:srgbClr val="E6E6E6"/>
                </a:solidFill>
                <a:latin typeface="Consolas"/>
              </a:rPr>
              <a:t>.</a:t>
            </a:r>
            <a:r>
              <a:rPr sz="1300" b="0" dirty="0" err="1">
                <a:solidFill>
                  <a:srgbClr val="E6E6E6"/>
                </a:solidFill>
                <a:latin typeface="Consolas"/>
              </a:rPr>
              <a:t>invoice_id</a:t>
            </a:r>
            <a:endParaRPr sz="1300" b="0" dirty="0">
              <a:solidFill>
                <a:srgbClr val="E6E6E6"/>
              </a:solidFill>
              <a:latin typeface="Consolas"/>
            </a:endParaRPr>
          </a:p>
          <a:p>
            <a:pPr>
              <a:lnSpc>
                <a:spcPct val="115000"/>
              </a:lnSpc>
            </a:pPr>
            <a:r>
              <a:rPr sz="1300" b="1" dirty="0">
                <a:solidFill>
                  <a:srgbClr val="FF7B72"/>
                </a:solidFill>
                <a:latin typeface="Consolas"/>
              </a:rPr>
              <a:t>JOIN</a:t>
            </a:r>
            <a:r>
              <a:rPr sz="1300" dirty="0">
                <a:solidFill>
                  <a:srgbClr val="E6E6E6"/>
                </a:solidFill>
                <a:latin typeface="Consolas"/>
              </a:rPr>
              <a:t> </a:t>
            </a:r>
            <a:r>
              <a:rPr sz="1300" b="0" dirty="0">
                <a:solidFill>
                  <a:srgbClr val="E6E6E6"/>
                </a:solidFill>
                <a:latin typeface="Consolas"/>
              </a:rPr>
              <a:t>track</a:t>
            </a:r>
            <a:r>
              <a:rPr sz="1300" dirty="0">
                <a:solidFill>
                  <a:srgbClr val="E6E6E6"/>
                </a:solidFill>
                <a:latin typeface="Consolas"/>
              </a:rPr>
              <a:t> </a:t>
            </a:r>
            <a:r>
              <a:rPr sz="1300" b="0" dirty="0">
                <a:solidFill>
                  <a:srgbClr val="E6E6E6"/>
                </a:solidFill>
                <a:latin typeface="Consolas"/>
              </a:rPr>
              <a:t>t</a:t>
            </a:r>
            <a:r>
              <a:rPr sz="1300" dirty="0">
                <a:solidFill>
                  <a:srgbClr val="E6E6E6"/>
                </a:solidFill>
                <a:latin typeface="Consolas"/>
              </a:rPr>
              <a:t>         </a:t>
            </a:r>
            <a:r>
              <a:rPr sz="1300" b="1" dirty="0">
                <a:solidFill>
                  <a:srgbClr val="FF7B72"/>
                </a:solidFill>
                <a:latin typeface="Consolas"/>
              </a:rPr>
              <a:t>ON</a:t>
            </a:r>
            <a:r>
              <a:rPr sz="1300" dirty="0">
                <a:solidFill>
                  <a:srgbClr val="E6E6E6"/>
                </a:solidFill>
                <a:latin typeface="Consolas"/>
              </a:rPr>
              <a:t> </a:t>
            </a:r>
            <a:r>
              <a:rPr sz="1300" b="0" dirty="0" err="1">
                <a:solidFill>
                  <a:srgbClr val="E6E6E6"/>
                </a:solidFill>
                <a:latin typeface="Consolas"/>
              </a:rPr>
              <a:t>il</a:t>
            </a:r>
            <a:r>
              <a:rPr sz="1300" dirty="0" err="1">
                <a:solidFill>
                  <a:srgbClr val="E6E6E6"/>
                </a:solidFill>
                <a:latin typeface="Consolas"/>
              </a:rPr>
              <a:t>.</a:t>
            </a:r>
            <a:r>
              <a:rPr sz="1300" b="0" dirty="0" err="1">
                <a:solidFill>
                  <a:srgbClr val="E6E6E6"/>
                </a:solidFill>
                <a:latin typeface="Consolas"/>
              </a:rPr>
              <a:t>track_id</a:t>
            </a:r>
            <a:r>
              <a:rPr sz="1300" dirty="0">
                <a:solidFill>
                  <a:srgbClr val="E6E6E6"/>
                </a:solidFill>
                <a:latin typeface="Consolas"/>
              </a:rPr>
              <a:t> = </a:t>
            </a:r>
            <a:r>
              <a:rPr sz="1300" b="0" dirty="0" err="1">
                <a:solidFill>
                  <a:srgbClr val="E6E6E6"/>
                </a:solidFill>
                <a:latin typeface="Consolas"/>
              </a:rPr>
              <a:t>t</a:t>
            </a:r>
            <a:r>
              <a:rPr sz="1300" dirty="0" err="1">
                <a:solidFill>
                  <a:srgbClr val="E6E6E6"/>
                </a:solidFill>
                <a:latin typeface="Consolas"/>
              </a:rPr>
              <a:t>.</a:t>
            </a:r>
            <a:r>
              <a:rPr sz="1300" b="0" dirty="0" err="1">
                <a:solidFill>
                  <a:srgbClr val="E6E6E6"/>
                </a:solidFill>
                <a:latin typeface="Consolas"/>
              </a:rPr>
              <a:t>track_id</a:t>
            </a:r>
            <a:endParaRPr sz="1300" b="0" dirty="0">
              <a:solidFill>
                <a:srgbClr val="E6E6E6"/>
              </a:solidFill>
              <a:latin typeface="Consolas"/>
            </a:endParaRPr>
          </a:p>
          <a:p>
            <a:pPr>
              <a:lnSpc>
                <a:spcPct val="115000"/>
              </a:lnSpc>
            </a:pPr>
            <a:r>
              <a:rPr sz="1300" b="1" dirty="0">
                <a:solidFill>
                  <a:srgbClr val="FF7B72"/>
                </a:solidFill>
                <a:latin typeface="Consolas"/>
              </a:rPr>
              <a:t>JOIN</a:t>
            </a:r>
            <a:r>
              <a:rPr sz="1300" dirty="0">
                <a:solidFill>
                  <a:srgbClr val="E6E6E6"/>
                </a:solidFill>
                <a:latin typeface="Consolas"/>
              </a:rPr>
              <a:t> </a:t>
            </a:r>
            <a:r>
              <a:rPr sz="1300" b="0" dirty="0">
                <a:solidFill>
                  <a:srgbClr val="E6E6E6"/>
                </a:solidFill>
                <a:latin typeface="Consolas"/>
              </a:rPr>
              <a:t>genre</a:t>
            </a:r>
            <a:r>
              <a:rPr sz="1300" dirty="0">
                <a:solidFill>
                  <a:srgbClr val="E6E6E6"/>
                </a:solidFill>
                <a:latin typeface="Consolas"/>
              </a:rPr>
              <a:t> </a:t>
            </a:r>
            <a:r>
              <a:rPr sz="1300" b="0" dirty="0">
                <a:solidFill>
                  <a:srgbClr val="E6E6E6"/>
                </a:solidFill>
                <a:latin typeface="Consolas"/>
              </a:rPr>
              <a:t>g</a:t>
            </a:r>
            <a:r>
              <a:rPr sz="1300" dirty="0">
                <a:solidFill>
                  <a:srgbClr val="E6E6E6"/>
                </a:solidFill>
                <a:latin typeface="Consolas"/>
              </a:rPr>
              <a:t>         </a:t>
            </a:r>
            <a:r>
              <a:rPr sz="1300" b="1" dirty="0">
                <a:solidFill>
                  <a:srgbClr val="FF7B72"/>
                </a:solidFill>
                <a:latin typeface="Consolas"/>
              </a:rPr>
              <a:t>ON</a:t>
            </a:r>
            <a:r>
              <a:rPr sz="1300" dirty="0">
                <a:solidFill>
                  <a:srgbClr val="E6E6E6"/>
                </a:solidFill>
                <a:latin typeface="Consolas"/>
              </a:rPr>
              <a:t> </a:t>
            </a:r>
            <a:r>
              <a:rPr sz="1300" b="0" dirty="0" err="1">
                <a:solidFill>
                  <a:srgbClr val="E6E6E6"/>
                </a:solidFill>
                <a:latin typeface="Consolas"/>
              </a:rPr>
              <a:t>t</a:t>
            </a:r>
            <a:r>
              <a:rPr sz="1300" dirty="0" err="1">
                <a:solidFill>
                  <a:srgbClr val="E6E6E6"/>
                </a:solidFill>
                <a:latin typeface="Consolas"/>
              </a:rPr>
              <a:t>.</a:t>
            </a:r>
            <a:r>
              <a:rPr sz="1300" b="0" dirty="0" err="1">
                <a:solidFill>
                  <a:srgbClr val="E6E6E6"/>
                </a:solidFill>
                <a:latin typeface="Consolas"/>
              </a:rPr>
              <a:t>genre_id</a:t>
            </a:r>
            <a:r>
              <a:rPr sz="1300" dirty="0">
                <a:solidFill>
                  <a:srgbClr val="E6E6E6"/>
                </a:solidFill>
                <a:latin typeface="Consolas"/>
              </a:rPr>
              <a:t> = </a:t>
            </a:r>
            <a:r>
              <a:rPr sz="1300" b="0" dirty="0" err="1">
                <a:solidFill>
                  <a:srgbClr val="E6E6E6"/>
                </a:solidFill>
                <a:latin typeface="Consolas"/>
              </a:rPr>
              <a:t>g</a:t>
            </a:r>
            <a:r>
              <a:rPr sz="1300" dirty="0" err="1">
                <a:solidFill>
                  <a:srgbClr val="E6E6E6"/>
                </a:solidFill>
                <a:latin typeface="Consolas"/>
              </a:rPr>
              <a:t>.</a:t>
            </a:r>
            <a:r>
              <a:rPr sz="1300" b="0" dirty="0" err="1">
                <a:solidFill>
                  <a:srgbClr val="E6E6E6"/>
                </a:solidFill>
                <a:latin typeface="Consolas"/>
              </a:rPr>
              <a:t>genre_id</a:t>
            </a:r>
            <a:endParaRPr sz="1300" b="0" dirty="0">
              <a:solidFill>
                <a:srgbClr val="E6E6E6"/>
              </a:solidFill>
              <a:latin typeface="Consolas"/>
            </a:endParaRPr>
          </a:p>
          <a:p>
            <a:pPr>
              <a:lnSpc>
                <a:spcPct val="115000"/>
              </a:lnSpc>
            </a:pPr>
            <a:r>
              <a:rPr sz="1300" b="1" dirty="0">
                <a:solidFill>
                  <a:srgbClr val="FF7B72"/>
                </a:solidFill>
                <a:latin typeface="Consolas"/>
              </a:rPr>
              <a:t>WHERE</a:t>
            </a:r>
            <a:r>
              <a:rPr sz="1300" dirty="0">
                <a:solidFill>
                  <a:srgbClr val="E6E6E6"/>
                </a:solidFill>
                <a:latin typeface="Consolas"/>
              </a:rPr>
              <a:t> </a:t>
            </a:r>
            <a:r>
              <a:rPr sz="1300" b="0" dirty="0">
                <a:solidFill>
                  <a:srgbClr val="E6E6E6"/>
                </a:solidFill>
                <a:latin typeface="Consolas"/>
              </a:rPr>
              <a:t>g</a:t>
            </a:r>
            <a:r>
              <a:rPr sz="1300" dirty="0">
                <a:solidFill>
                  <a:srgbClr val="E6E6E6"/>
                </a:solidFill>
                <a:latin typeface="Consolas"/>
              </a:rPr>
              <a:t>.</a:t>
            </a:r>
            <a:r>
              <a:rPr sz="1300" b="0" dirty="0">
                <a:solidFill>
                  <a:srgbClr val="E6E6E6"/>
                </a:solidFill>
                <a:latin typeface="Consolas"/>
              </a:rPr>
              <a:t>name</a:t>
            </a:r>
            <a:r>
              <a:rPr sz="1300" dirty="0">
                <a:solidFill>
                  <a:srgbClr val="E6E6E6"/>
                </a:solidFill>
                <a:latin typeface="Consolas"/>
              </a:rPr>
              <a:t> = '</a:t>
            </a:r>
            <a:r>
              <a:rPr sz="1300" b="0" dirty="0">
                <a:solidFill>
                  <a:srgbClr val="E6E6E6"/>
                </a:solidFill>
                <a:latin typeface="Consolas"/>
              </a:rPr>
              <a:t>Rock</a:t>
            </a:r>
            <a:r>
              <a:rPr sz="1300" dirty="0">
                <a:solidFill>
                  <a:srgbClr val="E6E6E6"/>
                </a:solidFill>
                <a:latin typeface="Consolas"/>
              </a:rPr>
              <a:t>'</a:t>
            </a:r>
          </a:p>
          <a:p>
            <a:pPr>
              <a:lnSpc>
                <a:spcPct val="115000"/>
              </a:lnSpc>
            </a:pPr>
            <a:r>
              <a:rPr sz="1300" b="1" dirty="0">
                <a:solidFill>
                  <a:srgbClr val="FF7B72"/>
                </a:solidFill>
                <a:latin typeface="Consolas"/>
              </a:rPr>
              <a:t>ORDER</a:t>
            </a:r>
            <a:r>
              <a:rPr sz="1300" dirty="0">
                <a:solidFill>
                  <a:srgbClr val="E6E6E6"/>
                </a:solidFill>
                <a:latin typeface="Consolas"/>
              </a:rPr>
              <a:t> </a:t>
            </a:r>
            <a:r>
              <a:rPr sz="1300" b="1" dirty="0">
                <a:solidFill>
                  <a:srgbClr val="FF7B72"/>
                </a:solidFill>
                <a:latin typeface="Consolas"/>
              </a:rPr>
              <a:t>BY</a:t>
            </a:r>
            <a:r>
              <a:rPr sz="1300" dirty="0">
                <a:solidFill>
                  <a:srgbClr val="E6E6E6"/>
                </a:solidFill>
                <a:latin typeface="Consolas"/>
              </a:rPr>
              <a:t> </a:t>
            </a:r>
            <a:r>
              <a:rPr sz="1300" b="0" dirty="0" err="1">
                <a:solidFill>
                  <a:srgbClr val="E6E6E6"/>
                </a:solidFill>
                <a:latin typeface="Consolas"/>
              </a:rPr>
              <a:t>c</a:t>
            </a:r>
            <a:r>
              <a:rPr sz="1300" dirty="0" err="1">
                <a:solidFill>
                  <a:srgbClr val="E6E6E6"/>
                </a:solidFill>
                <a:latin typeface="Consolas"/>
              </a:rPr>
              <a:t>.</a:t>
            </a:r>
            <a:r>
              <a:rPr sz="1300" b="0" dirty="0" err="1">
                <a:solidFill>
                  <a:srgbClr val="E6E6E6"/>
                </a:solidFill>
                <a:latin typeface="Consolas"/>
              </a:rPr>
              <a:t>email</a:t>
            </a:r>
            <a:r>
              <a:rPr sz="1300" dirty="0">
                <a:solidFill>
                  <a:srgbClr val="E6E6E6"/>
                </a:solidFill>
                <a:latin typeface="Consolas"/>
              </a:rPr>
              <a:t>;</a:t>
            </a:r>
          </a:p>
        </p:txBody>
      </p:sp>
      <p:sp>
        <p:nvSpPr>
          <p:cNvPr id="9" name="TextBox 8"/>
          <p:cNvSpPr txBox="1"/>
          <p:nvPr/>
        </p:nvSpPr>
        <p:spPr>
          <a:xfrm>
            <a:off x="6400800" y="1371600"/>
            <a:ext cx="2743200" cy="320040"/>
          </a:xfrm>
          <a:prstGeom prst="rect">
            <a:avLst/>
          </a:prstGeom>
          <a:noFill/>
        </p:spPr>
        <p:txBody>
          <a:bodyPr wrap="square" lIns="45720" tIns="18288" rIns="45720" bIns="18288" anchor="t">
            <a:spAutoFit/>
          </a:bodyPr>
          <a:lstStyle/>
          <a:p>
            <a:pPr algn="l"/>
            <a:r>
              <a:rPr sz="1100" b="1" i="0">
                <a:solidFill>
                  <a:srgbClr val="C00000"/>
                </a:solidFill>
                <a:latin typeface="Lato Black"/>
              </a:rPr>
              <a:t>OUTPUT</a:t>
            </a:r>
          </a:p>
        </p:txBody>
      </p:sp>
      <p:sp>
        <p:nvSpPr>
          <p:cNvPr id="10" name="Rectangle 9"/>
          <p:cNvSpPr/>
          <p:nvPr/>
        </p:nvSpPr>
        <p:spPr>
          <a:xfrm>
            <a:off x="6400800" y="1737360"/>
            <a:ext cx="5303520" cy="4114800"/>
          </a:xfrm>
          <a:prstGeom prst="rect">
            <a:avLst/>
          </a:prstGeom>
          <a:solidFill>
            <a:srgbClr val="FFFFFF"/>
          </a:solidFill>
          <a:ln w="9525">
            <a:solidFill>
              <a:srgbClr val="EEEE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263640"/>
            <a:ext cx="12191695" cy="50292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7200" y="6263640"/>
            <a:ext cx="11247120" cy="502920"/>
          </a:xfrm>
          <a:prstGeom prst="rect">
            <a:avLst/>
          </a:prstGeom>
          <a:noFill/>
        </p:spPr>
        <p:txBody>
          <a:bodyPr wrap="square" lIns="45720" tIns="18288" rIns="45720" bIns="18288" anchor="ctr">
            <a:spAutoFit/>
          </a:bodyPr>
          <a:lstStyle/>
          <a:p>
            <a:pPr algn="l"/>
            <a:r>
              <a:rPr sz="1400" b="1" i="0">
                <a:solidFill>
                  <a:srgbClr val="FFFFFF"/>
                </a:solidFill>
                <a:latin typeface="Calibri"/>
              </a:rPr>
              <a:t>Result:  All Rock-genre listeners listed, sorted by email.</a:t>
            </a:r>
          </a:p>
        </p:txBody>
      </p:sp>
      <p:pic>
        <p:nvPicPr>
          <p:cNvPr id="14" name="Picture 13" descr="O6.png"/>
          <p:cNvPicPr>
            <a:picLocks noChangeAspect="1"/>
          </p:cNvPicPr>
          <p:nvPr/>
        </p:nvPicPr>
        <p:blipFill>
          <a:blip r:embed="rId2"/>
          <a:stretch>
            <a:fillRect/>
          </a:stretch>
        </p:blipFill>
        <p:spPr>
          <a:xfrm>
            <a:off x="7952558" y="1828800"/>
            <a:ext cx="2200002" cy="393192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11247120" cy="640080"/>
          </a:xfrm>
          <a:prstGeom prst="rect">
            <a:avLst/>
          </a:prstGeom>
          <a:noFill/>
        </p:spPr>
        <p:txBody>
          <a:bodyPr wrap="square" lIns="45720" tIns="18288" rIns="45720" bIns="18288" anchor="t">
            <a:spAutoFit/>
          </a:bodyPr>
          <a:lstStyle/>
          <a:p>
            <a:pPr algn="l"/>
            <a:r>
              <a:rPr sz="3000" b="1" i="0">
                <a:solidFill>
                  <a:srgbClr val="C00000"/>
                </a:solidFill>
                <a:latin typeface="Lato Black"/>
              </a:rPr>
              <a:t>Q7.  Top 10 Rock artists by number of tracks</a:t>
            </a:r>
          </a:p>
        </p:txBody>
      </p:sp>
      <p:sp>
        <p:nvSpPr>
          <p:cNvPr id="4" name="Rectangle 3"/>
          <p:cNvSpPr/>
          <p:nvPr/>
        </p:nvSpPr>
        <p:spPr>
          <a:xfrm>
            <a:off x="457200" y="841248"/>
            <a:ext cx="1097280" cy="36576"/>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371600"/>
            <a:ext cx="2743200" cy="320040"/>
          </a:xfrm>
          <a:prstGeom prst="rect">
            <a:avLst/>
          </a:prstGeom>
          <a:noFill/>
        </p:spPr>
        <p:txBody>
          <a:bodyPr wrap="square" lIns="45720" tIns="18288" rIns="45720" bIns="18288" anchor="t">
            <a:spAutoFit/>
          </a:bodyPr>
          <a:lstStyle/>
          <a:p>
            <a:pPr algn="l"/>
            <a:r>
              <a:rPr sz="1100" b="1" i="0">
                <a:solidFill>
                  <a:srgbClr val="C00000"/>
                </a:solidFill>
                <a:latin typeface="Lato Black"/>
              </a:rPr>
              <a:t>SQL  QUERY</a:t>
            </a:r>
          </a:p>
        </p:txBody>
      </p:sp>
      <p:sp>
        <p:nvSpPr>
          <p:cNvPr id="6" name="Rectangle 5"/>
          <p:cNvSpPr/>
          <p:nvPr/>
        </p:nvSpPr>
        <p:spPr>
          <a:xfrm>
            <a:off x="457200" y="1737360"/>
            <a:ext cx="5669280" cy="4114800"/>
          </a:xfrm>
          <a:prstGeom prst="rect">
            <a:avLst/>
          </a:prstGeom>
          <a:solidFill>
            <a:srgbClr val="1E2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737360"/>
            <a:ext cx="73152" cy="411480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21792" y="1828800"/>
            <a:ext cx="5440680" cy="3950208"/>
          </a:xfrm>
          <a:prstGeom prst="rect">
            <a:avLst/>
          </a:prstGeom>
          <a:noFill/>
        </p:spPr>
        <p:txBody>
          <a:bodyPr wrap="none" lIns="45720" tIns="18288" rIns="45720" bIns="18288">
            <a:spAutoFit/>
          </a:bodyPr>
          <a:lstStyle/>
          <a:p>
            <a:pPr>
              <a:lnSpc>
                <a:spcPct val="115000"/>
              </a:lnSpc>
            </a:pPr>
            <a:r>
              <a:rPr sz="1100" b="1">
                <a:solidFill>
                  <a:srgbClr val="FF7B72"/>
                </a:solidFill>
                <a:latin typeface="Consolas"/>
              </a:rPr>
              <a:t>SELECT</a:t>
            </a:r>
            <a:r>
              <a:rPr sz="1100">
                <a:solidFill>
                  <a:srgbClr val="E6E6E6"/>
                </a:solidFill>
                <a:latin typeface="Consolas"/>
              </a:rPr>
              <a:t> </a:t>
            </a:r>
            <a:r>
              <a:rPr sz="1100" b="0">
                <a:solidFill>
                  <a:srgbClr val="E6E6E6"/>
                </a:solidFill>
                <a:latin typeface="Consolas"/>
              </a:rPr>
              <a:t>a</a:t>
            </a:r>
            <a:r>
              <a:rPr sz="1100">
                <a:solidFill>
                  <a:srgbClr val="E6E6E6"/>
                </a:solidFill>
                <a:latin typeface="Consolas"/>
              </a:rPr>
              <a:t>.</a:t>
            </a:r>
            <a:r>
              <a:rPr sz="1100" b="0">
                <a:solidFill>
                  <a:srgbClr val="E6E6E6"/>
                </a:solidFill>
                <a:latin typeface="Consolas"/>
              </a:rPr>
              <a:t>name</a:t>
            </a:r>
            <a:r>
              <a:rPr sz="1100">
                <a:solidFill>
                  <a:srgbClr val="E6E6E6"/>
                </a:solidFill>
                <a:latin typeface="Consolas"/>
              </a:rPr>
              <a:t> </a:t>
            </a:r>
            <a:r>
              <a:rPr sz="1100" b="1">
                <a:solidFill>
                  <a:srgbClr val="FF7B72"/>
                </a:solidFill>
                <a:latin typeface="Consolas"/>
              </a:rPr>
              <a:t>AS</a:t>
            </a:r>
            <a:r>
              <a:rPr sz="1100">
                <a:solidFill>
                  <a:srgbClr val="E6E6E6"/>
                </a:solidFill>
                <a:latin typeface="Consolas"/>
              </a:rPr>
              <a:t> </a:t>
            </a:r>
            <a:r>
              <a:rPr sz="1100" b="0">
                <a:solidFill>
                  <a:srgbClr val="E6E6E6"/>
                </a:solidFill>
                <a:latin typeface="Consolas"/>
              </a:rPr>
              <a:t>artist_name</a:t>
            </a:r>
            <a:r>
              <a:rPr sz="1100">
                <a:solidFill>
                  <a:srgbClr val="E6E6E6"/>
                </a:solidFill>
                <a:latin typeface="Consolas"/>
              </a:rPr>
              <a:t>,</a:t>
            </a:r>
          </a:p>
          <a:p>
            <a:pPr>
              <a:lnSpc>
                <a:spcPct val="115000"/>
              </a:lnSpc>
            </a:pPr>
            <a:r>
              <a:rPr sz="1100">
                <a:solidFill>
                  <a:srgbClr val="E6E6E6"/>
                </a:solidFill>
                <a:latin typeface="Consolas"/>
              </a:rPr>
              <a:t>       </a:t>
            </a:r>
            <a:r>
              <a:rPr sz="1100" b="1">
                <a:solidFill>
                  <a:srgbClr val="FF7B72"/>
                </a:solidFill>
                <a:latin typeface="Consolas"/>
              </a:rPr>
              <a:t>COUNT</a:t>
            </a:r>
            <a:r>
              <a:rPr sz="1100">
                <a:solidFill>
                  <a:srgbClr val="E6E6E6"/>
                </a:solidFill>
                <a:latin typeface="Consolas"/>
              </a:rPr>
              <a:t>(</a:t>
            </a:r>
            <a:r>
              <a:rPr sz="1100" b="0">
                <a:solidFill>
                  <a:srgbClr val="E6E6E6"/>
                </a:solidFill>
                <a:latin typeface="Consolas"/>
              </a:rPr>
              <a:t>t</a:t>
            </a:r>
            <a:r>
              <a:rPr sz="1100">
                <a:solidFill>
                  <a:srgbClr val="E6E6E6"/>
                </a:solidFill>
                <a:latin typeface="Consolas"/>
              </a:rPr>
              <a:t>.</a:t>
            </a:r>
            <a:r>
              <a:rPr sz="1100" b="0">
                <a:solidFill>
                  <a:srgbClr val="E6E6E6"/>
                </a:solidFill>
                <a:latin typeface="Consolas"/>
              </a:rPr>
              <a:t>track_id</a:t>
            </a:r>
            <a:r>
              <a:rPr sz="1100">
                <a:solidFill>
                  <a:srgbClr val="E6E6E6"/>
                </a:solidFill>
                <a:latin typeface="Consolas"/>
              </a:rPr>
              <a:t>) </a:t>
            </a:r>
            <a:r>
              <a:rPr sz="1100" b="1">
                <a:solidFill>
                  <a:srgbClr val="FF7B72"/>
                </a:solidFill>
                <a:latin typeface="Consolas"/>
              </a:rPr>
              <a:t>AS</a:t>
            </a:r>
            <a:r>
              <a:rPr sz="1100">
                <a:solidFill>
                  <a:srgbClr val="E6E6E6"/>
                </a:solidFill>
                <a:latin typeface="Consolas"/>
              </a:rPr>
              <a:t> </a:t>
            </a:r>
            <a:r>
              <a:rPr sz="1100" b="0">
                <a:solidFill>
                  <a:srgbClr val="E6E6E6"/>
                </a:solidFill>
                <a:latin typeface="Consolas"/>
              </a:rPr>
              <a:t>total_tracks</a:t>
            </a:r>
          </a:p>
          <a:p>
            <a:pPr>
              <a:lnSpc>
                <a:spcPct val="115000"/>
              </a:lnSpc>
            </a:pPr>
            <a:r>
              <a:rPr sz="1100" b="1">
                <a:solidFill>
                  <a:srgbClr val="FF7B72"/>
                </a:solidFill>
                <a:latin typeface="Consolas"/>
              </a:rPr>
              <a:t>FROM</a:t>
            </a:r>
            <a:r>
              <a:rPr sz="1100">
                <a:solidFill>
                  <a:srgbClr val="E6E6E6"/>
                </a:solidFill>
                <a:latin typeface="Consolas"/>
              </a:rPr>
              <a:t> </a:t>
            </a:r>
            <a:r>
              <a:rPr sz="1100" b="0">
                <a:solidFill>
                  <a:srgbClr val="E6E6E6"/>
                </a:solidFill>
                <a:latin typeface="Consolas"/>
              </a:rPr>
              <a:t>artist</a:t>
            </a:r>
            <a:r>
              <a:rPr sz="1100">
                <a:solidFill>
                  <a:srgbClr val="E6E6E6"/>
                </a:solidFill>
                <a:latin typeface="Consolas"/>
              </a:rPr>
              <a:t> </a:t>
            </a:r>
            <a:r>
              <a:rPr sz="1100" b="0">
                <a:solidFill>
                  <a:srgbClr val="E6E6E6"/>
                </a:solidFill>
                <a:latin typeface="Consolas"/>
              </a:rPr>
              <a:t>a</a:t>
            </a:r>
          </a:p>
          <a:p>
            <a:pPr>
              <a:lnSpc>
                <a:spcPct val="115000"/>
              </a:lnSpc>
            </a:pPr>
            <a:r>
              <a:rPr sz="1100" b="1">
                <a:solidFill>
                  <a:srgbClr val="FF7B72"/>
                </a:solidFill>
                <a:latin typeface="Consolas"/>
              </a:rPr>
              <a:t>JOIN</a:t>
            </a:r>
            <a:r>
              <a:rPr sz="1100">
                <a:solidFill>
                  <a:srgbClr val="E6E6E6"/>
                </a:solidFill>
                <a:latin typeface="Consolas"/>
              </a:rPr>
              <a:t> </a:t>
            </a:r>
            <a:r>
              <a:rPr sz="1100" b="0">
                <a:solidFill>
                  <a:srgbClr val="E6E6E6"/>
                </a:solidFill>
                <a:latin typeface="Consolas"/>
              </a:rPr>
              <a:t>album</a:t>
            </a:r>
            <a:r>
              <a:rPr sz="1100">
                <a:solidFill>
                  <a:srgbClr val="E6E6E6"/>
                </a:solidFill>
                <a:latin typeface="Consolas"/>
              </a:rPr>
              <a:t> </a:t>
            </a:r>
            <a:r>
              <a:rPr sz="1100" b="0">
                <a:solidFill>
                  <a:srgbClr val="E6E6E6"/>
                </a:solidFill>
                <a:latin typeface="Consolas"/>
              </a:rPr>
              <a:t>al</a:t>
            </a:r>
            <a:r>
              <a:rPr sz="1100">
                <a:solidFill>
                  <a:srgbClr val="E6E6E6"/>
                </a:solidFill>
                <a:latin typeface="Consolas"/>
              </a:rPr>
              <a:t> </a:t>
            </a:r>
            <a:r>
              <a:rPr sz="1100" b="1">
                <a:solidFill>
                  <a:srgbClr val="FF7B72"/>
                </a:solidFill>
                <a:latin typeface="Consolas"/>
              </a:rPr>
              <a:t>ON</a:t>
            </a:r>
            <a:r>
              <a:rPr sz="1100">
                <a:solidFill>
                  <a:srgbClr val="E6E6E6"/>
                </a:solidFill>
                <a:latin typeface="Consolas"/>
              </a:rPr>
              <a:t> </a:t>
            </a:r>
            <a:r>
              <a:rPr sz="1100" b="0">
                <a:solidFill>
                  <a:srgbClr val="E6E6E6"/>
                </a:solidFill>
                <a:latin typeface="Consolas"/>
              </a:rPr>
              <a:t>a</a:t>
            </a:r>
            <a:r>
              <a:rPr sz="1100">
                <a:solidFill>
                  <a:srgbClr val="E6E6E6"/>
                </a:solidFill>
                <a:latin typeface="Consolas"/>
              </a:rPr>
              <a:t>.</a:t>
            </a:r>
            <a:r>
              <a:rPr sz="1100" b="0">
                <a:solidFill>
                  <a:srgbClr val="E6E6E6"/>
                </a:solidFill>
                <a:latin typeface="Consolas"/>
              </a:rPr>
              <a:t>artist_id</a:t>
            </a:r>
            <a:r>
              <a:rPr sz="1100">
                <a:solidFill>
                  <a:srgbClr val="E6E6E6"/>
                </a:solidFill>
                <a:latin typeface="Consolas"/>
              </a:rPr>
              <a:t> = </a:t>
            </a:r>
            <a:r>
              <a:rPr sz="1100" b="0">
                <a:solidFill>
                  <a:srgbClr val="E6E6E6"/>
                </a:solidFill>
                <a:latin typeface="Consolas"/>
              </a:rPr>
              <a:t>al</a:t>
            </a:r>
            <a:r>
              <a:rPr sz="1100">
                <a:solidFill>
                  <a:srgbClr val="E6E6E6"/>
                </a:solidFill>
                <a:latin typeface="Consolas"/>
              </a:rPr>
              <a:t>.</a:t>
            </a:r>
            <a:r>
              <a:rPr sz="1100" b="0">
                <a:solidFill>
                  <a:srgbClr val="E6E6E6"/>
                </a:solidFill>
                <a:latin typeface="Consolas"/>
              </a:rPr>
              <a:t>artist_id</a:t>
            </a:r>
          </a:p>
          <a:p>
            <a:pPr>
              <a:lnSpc>
                <a:spcPct val="115000"/>
              </a:lnSpc>
            </a:pPr>
            <a:r>
              <a:rPr sz="1100" b="1">
                <a:solidFill>
                  <a:srgbClr val="FF7B72"/>
                </a:solidFill>
                <a:latin typeface="Consolas"/>
              </a:rPr>
              <a:t>JOIN</a:t>
            </a:r>
            <a:r>
              <a:rPr sz="1100">
                <a:solidFill>
                  <a:srgbClr val="E6E6E6"/>
                </a:solidFill>
                <a:latin typeface="Consolas"/>
              </a:rPr>
              <a:t> </a:t>
            </a:r>
            <a:r>
              <a:rPr sz="1100" b="0">
                <a:solidFill>
                  <a:srgbClr val="E6E6E6"/>
                </a:solidFill>
                <a:latin typeface="Consolas"/>
              </a:rPr>
              <a:t>track</a:t>
            </a:r>
            <a:r>
              <a:rPr sz="1100">
                <a:solidFill>
                  <a:srgbClr val="E6E6E6"/>
                </a:solidFill>
                <a:latin typeface="Consolas"/>
              </a:rPr>
              <a:t> </a:t>
            </a:r>
            <a:r>
              <a:rPr sz="1100" b="0">
                <a:solidFill>
                  <a:srgbClr val="E6E6E6"/>
                </a:solidFill>
                <a:latin typeface="Consolas"/>
              </a:rPr>
              <a:t>t</a:t>
            </a:r>
            <a:r>
              <a:rPr sz="1100">
                <a:solidFill>
                  <a:srgbClr val="E6E6E6"/>
                </a:solidFill>
                <a:latin typeface="Consolas"/>
              </a:rPr>
              <a:t>  </a:t>
            </a:r>
            <a:r>
              <a:rPr sz="1100" b="1">
                <a:solidFill>
                  <a:srgbClr val="FF7B72"/>
                </a:solidFill>
                <a:latin typeface="Consolas"/>
              </a:rPr>
              <a:t>ON</a:t>
            </a:r>
            <a:r>
              <a:rPr sz="1100">
                <a:solidFill>
                  <a:srgbClr val="E6E6E6"/>
                </a:solidFill>
                <a:latin typeface="Consolas"/>
              </a:rPr>
              <a:t> </a:t>
            </a:r>
            <a:r>
              <a:rPr sz="1100" b="0">
                <a:solidFill>
                  <a:srgbClr val="E6E6E6"/>
                </a:solidFill>
                <a:latin typeface="Consolas"/>
              </a:rPr>
              <a:t>al</a:t>
            </a:r>
            <a:r>
              <a:rPr sz="1100">
                <a:solidFill>
                  <a:srgbClr val="E6E6E6"/>
                </a:solidFill>
                <a:latin typeface="Consolas"/>
              </a:rPr>
              <a:t>.</a:t>
            </a:r>
            <a:r>
              <a:rPr sz="1100" b="0">
                <a:solidFill>
                  <a:srgbClr val="E6E6E6"/>
                </a:solidFill>
                <a:latin typeface="Consolas"/>
              </a:rPr>
              <a:t>album_id</a:t>
            </a:r>
            <a:r>
              <a:rPr sz="1100">
                <a:solidFill>
                  <a:srgbClr val="E6E6E6"/>
                </a:solidFill>
                <a:latin typeface="Consolas"/>
              </a:rPr>
              <a:t> = </a:t>
            </a:r>
            <a:r>
              <a:rPr sz="1100" b="0">
                <a:solidFill>
                  <a:srgbClr val="E6E6E6"/>
                </a:solidFill>
                <a:latin typeface="Consolas"/>
              </a:rPr>
              <a:t>t</a:t>
            </a:r>
            <a:r>
              <a:rPr sz="1100">
                <a:solidFill>
                  <a:srgbClr val="E6E6E6"/>
                </a:solidFill>
                <a:latin typeface="Consolas"/>
              </a:rPr>
              <a:t>.</a:t>
            </a:r>
            <a:r>
              <a:rPr sz="1100" b="0">
                <a:solidFill>
                  <a:srgbClr val="E6E6E6"/>
                </a:solidFill>
                <a:latin typeface="Consolas"/>
              </a:rPr>
              <a:t>album_id</a:t>
            </a:r>
          </a:p>
          <a:p>
            <a:pPr>
              <a:lnSpc>
                <a:spcPct val="115000"/>
              </a:lnSpc>
            </a:pPr>
            <a:r>
              <a:rPr sz="1100" b="1">
                <a:solidFill>
                  <a:srgbClr val="FF7B72"/>
                </a:solidFill>
                <a:latin typeface="Consolas"/>
              </a:rPr>
              <a:t>JOIN</a:t>
            </a:r>
            <a:r>
              <a:rPr sz="1100">
                <a:solidFill>
                  <a:srgbClr val="E6E6E6"/>
                </a:solidFill>
                <a:latin typeface="Consolas"/>
              </a:rPr>
              <a:t> </a:t>
            </a:r>
            <a:r>
              <a:rPr sz="1100" b="0">
                <a:solidFill>
                  <a:srgbClr val="E6E6E6"/>
                </a:solidFill>
                <a:latin typeface="Consolas"/>
              </a:rPr>
              <a:t>genre</a:t>
            </a:r>
            <a:r>
              <a:rPr sz="1100">
                <a:solidFill>
                  <a:srgbClr val="E6E6E6"/>
                </a:solidFill>
                <a:latin typeface="Consolas"/>
              </a:rPr>
              <a:t> </a:t>
            </a:r>
            <a:r>
              <a:rPr sz="1100" b="0">
                <a:solidFill>
                  <a:srgbClr val="E6E6E6"/>
                </a:solidFill>
                <a:latin typeface="Consolas"/>
              </a:rPr>
              <a:t>g</a:t>
            </a:r>
            <a:r>
              <a:rPr sz="1100">
                <a:solidFill>
                  <a:srgbClr val="E6E6E6"/>
                </a:solidFill>
                <a:latin typeface="Consolas"/>
              </a:rPr>
              <a:t>  </a:t>
            </a:r>
            <a:r>
              <a:rPr sz="1100" b="1">
                <a:solidFill>
                  <a:srgbClr val="FF7B72"/>
                </a:solidFill>
                <a:latin typeface="Consolas"/>
              </a:rPr>
              <a:t>ON</a:t>
            </a:r>
            <a:r>
              <a:rPr sz="1100">
                <a:solidFill>
                  <a:srgbClr val="E6E6E6"/>
                </a:solidFill>
                <a:latin typeface="Consolas"/>
              </a:rPr>
              <a:t> </a:t>
            </a:r>
            <a:r>
              <a:rPr sz="1100" b="0">
                <a:solidFill>
                  <a:srgbClr val="E6E6E6"/>
                </a:solidFill>
                <a:latin typeface="Consolas"/>
              </a:rPr>
              <a:t>t</a:t>
            </a:r>
            <a:r>
              <a:rPr sz="1100">
                <a:solidFill>
                  <a:srgbClr val="E6E6E6"/>
                </a:solidFill>
                <a:latin typeface="Consolas"/>
              </a:rPr>
              <a:t>.</a:t>
            </a:r>
            <a:r>
              <a:rPr sz="1100" b="0">
                <a:solidFill>
                  <a:srgbClr val="E6E6E6"/>
                </a:solidFill>
                <a:latin typeface="Consolas"/>
              </a:rPr>
              <a:t>genre_id</a:t>
            </a:r>
            <a:r>
              <a:rPr sz="1100">
                <a:solidFill>
                  <a:srgbClr val="E6E6E6"/>
                </a:solidFill>
                <a:latin typeface="Consolas"/>
              </a:rPr>
              <a:t> = </a:t>
            </a:r>
            <a:r>
              <a:rPr sz="1100" b="0">
                <a:solidFill>
                  <a:srgbClr val="E6E6E6"/>
                </a:solidFill>
                <a:latin typeface="Consolas"/>
              </a:rPr>
              <a:t>g</a:t>
            </a:r>
            <a:r>
              <a:rPr sz="1100">
                <a:solidFill>
                  <a:srgbClr val="E6E6E6"/>
                </a:solidFill>
                <a:latin typeface="Consolas"/>
              </a:rPr>
              <a:t>.</a:t>
            </a:r>
            <a:r>
              <a:rPr sz="1100" b="0">
                <a:solidFill>
                  <a:srgbClr val="E6E6E6"/>
                </a:solidFill>
                <a:latin typeface="Consolas"/>
              </a:rPr>
              <a:t>genre_id</a:t>
            </a:r>
          </a:p>
          <a:p>
            <a:pPr>
              <a:lnSpc>
                <a:spcPct val="115000"/>
              </a:lnSpc>
            </a:pPr>
            <a:r>
              <a:rPr sz="1100" b="1">
                <a:solidFill>
                  <a:srgbClr val="FF7B72"/>
                </a:solidFill>
                <a:latin typeface="Consolas"/>
              </a:rPr>
              <a:t>WHERE</a:t>
            </a:r>
            <a:r>
              <a:rPr sz="1100">
                <a:solidFill>
                  <a:srgbClr val="E6E6E6"/>
                </a:solidFill>
                <a:latin typeface="Consolas"/>
              </a:rPr>
              <a:t> </a:t>
            </a:r>
            <a:r>
              <a:rPr sz="1100" b="0">
                <a:solidFill>
                  <a:srgbClr val="E6E6E6"/>
                </a:solidFill>
                <a:latin typeface="Consolas"/>
              </a:rPr>
              <a:t>g</a:t>
            </a:r>
            <a:r>
              <a:rPr sz="1100">
                <a:solidFill>
                  <a:srgbClr val="E6E6E6"/>
                </a:solidFill>
                <a:latin typeface="Consolas"/>
              </a:rPr>
              <a:t>.</a:t>
            </a:r>
            <a:r>
              <a:rPr sz="1100" b="0">
                <a:solidFill>
                  <a:srgbClr val="E6E6E6"/>
                </a:solidFill>
                <a:latin typeface="Consolas"/>
              </a:rPr>
              <a:t>name</a:t>
            </a:r>
            <a:r>
              <a:rPr sz="1100">
                <a:solidFill>
                  <a:srgbClr val="E6E6E6"/>
                </a:solidFill>
                <a:latin typeface="Consolas"/>
              </a:rPr>
              <a:t> = '</a:t>
            </a:r>
            <a:r>
              <a:rPr sz="1100" b="0">
                <a:solidFill>
                  <a:srgbClr val="E6E6E6"/>
                </a:solidFill>
                <a:latin typeface="Consolas"/>
              </a:rPr>
              <a:t>Rock</a:t>
            </a:r>
            <a:r>
              <a:rPr sz="1100">
                <a:solidFill>
                  <a:srgbClr val="E6E6E6"/>
                </a:solidFill>
                <a:latin typeface="Consolas"/>
              </a:rPr>
              <a:t>'</a:t>
            </a:r>
          </a:p>
          <a:p>
            <a:pPr>
              <a:lnSpc>
                <a:spcPct val="115000"/>
              </a:lnSpc>
            </a:pPr>
            <a:r>
              <a:rPr sz="1100" b="1">
                <a:solidFill>
                  <a:srgbClr val="FF7B72"/>
                </a:solidFill>
                <a:latin typeface="Consolas"/>
              </a:rPr>
              <a:t>GROUP</a:t>
            </a:r>
            <a:r>
              <a:rPr sz="1100">
                <a:solidFill>
                  <a:srgbClr val="E6E6E6"/>
                </a:solidFill>
                <a:latin typeface="Consolas"/>
              </a:rPr>
              <a:t> </a:t>
            </a:r>
            <a:r>
              <a:rPr sz="1100" b="1">
                <a:solidFill>
                  <a:srgbClr val="FF7B72"/>
                </a:solidFill>
                <a:latin typeface="Consolas"/>
              </a:rPr>
              <a:t>BY</a:t>
            </a:r>
            <a:r>
              <a:rPr sz="1100">
                <a:solidFill>
                  <a:srgbClr val="E6E6E6"/>
                </a:solidFill>
                <a:latin typeface="Consolas"/>
              </a:rPr>
              <a:t> </a:t>
            </a:r>
            <a:r>
              <a:rPr sz="1100" b="0">
                <a:solidFill>
                  <a:srgbClr val="E6E6E6"/>
                </a:solidFill>
                <a:latin typeface="Consolas"/>
              </a:rPr>
              <a:t>a</a:t>
            </a:r>
            <a:r>
              <a:rPr sz="1100">
                <a:solidFill>
                  <a:srgbClr val="E6E6E6"/>
                </a:solidFill>
                <a:latin typeface="Consolas"/>
              </a:rPr>
              <a:t>.</a:t>
            </a:r>
            <a:r>
              <a:rPr sz="1100" b="0">
                <a:solidFill>
                  <a:srgbClr val="E6E6E6"/>
                </a:solidFill>
                <a:latin typeface="Consolas"/>
              </a:rPr>
              <a:t>artist_id</a:t>
            </a:r>
            <a:r>
              <a:rPr sz="1100">
                <a:solidFill>
                  <a:srgbClr val="E6E6E6"/>
                </a:solidFill>
                <a:latin typeface="Consolas"/>
              </a:rPr>
              <a:t>, </a:t>
            </a:r>
            <a:r>
              <a:rPr sz="1100" b="0">
                <a:solidFill>
                  <a:srgbClr val="E6E6E6"/>
                </a:solidFill>
                <a:latin typeface="Consolas"/>
              </a:rPr>
              <a:t>a</a:t>
            </a:r>
            <a:r>
              <a:rPr sz="1100">
                <a:solidFill>
                  <a:srgbClr val="E6E6E6"/>
                </a:solidFill>
                <a:latin typeface="Consolas"/>
              </a:rPr>
              <a:t>.</a:t>
            </a:r>
            <a:r>
              <a:rPr sz="1100" b="0">
                <a:solidFill>
                  <a:srgbClr val="E6E6E6"/>
                </a:solidFill>
                <a:latin typeface="Consolas"/>
              </a:rPr>
              <a:t>name</a:t>
            </a:r>
          </a:p>
          <a:p>
            <a:pPr>
              <a:lnSpc>
                <a:spcPct val="115000"/>
              </a:lnSpc>
            </a:pPr>
            <a:r>
              <a:rPr sz="1100" b="1">
                <a:solidFill>
                  <a:srgbClr val="FF7B72"/>
                </a:solidFill>
                <a:latin typeface="Consolas"/>
              </a:rPr>
              <a:t>ORDER</a:t>
            </a:r>
            <a:r>
              <a:rPr sz="1100">
                <a:solidFill>
                  <a:srgbClr val="E6E6E6"/>
                </a:solidFill>
                <a:latin typeface="Consolas"/>
              </a:rPr>
              <a:t> </a:t>
            </a:r>
            <a:r>
              <a:rPr sz="1100" b="1">
                <a:solidFill>
                  <a:srgbClr val="FF7B72"/>
                </a:solidFill>
                <a:latin typeface="Consolas"/>
              </a:rPr>
              <a:t>BY</a:t>
            </a:r>
            <a:r>
              <a:rPr sz="1100">
                <a:solidFill>
                  <a:srgbClr val="E6E6E6"/>
                </a:solidFill>
                <a:latin typeface="Consolas"/>
              </a:rPr>
              <a:t> </a:t>
            </a:r>
            <a:r>
              <a:rPr sz="1100" b="0">
                <a:solidFill>
                  <a:srgbClr val="E6E6E6"/>
                </a:solidFill>
                <a:latin typeface="Consolas"/>
              </a:rPr>
              <a:t>total_tracks</a:t>
            </a:r>
            <a:r>
              <a:rPr sz="1100">
                <a:solidFill>
                  <a:srgbClr val="E6E6E6"/>
                </a:solidFill>
                <a:latin typeface="Consolas"/>
              </a:rPr>
              <a:t> </a:t>
            </a:r>
            <a:r>
              <a:rPr sz="1100" b="1">
                <a:solidFill>
                  <a:srgbClr val="FF7B72"/>
                </a:solidFill>
                <a:latin typeface="Consolas"/>
              </a:rPr>
              <a:t>DESC</a:t>
            </a:r>
          </a:p>
          <a:p>
            <a:pPr>
              <a:lnSpc>
                <a:spcPct val="115000"/>
              </a:lnSpc>
            </a:pPr>
            <a:r>
              <a:rPr sz="1100" b="1">
                <a:solidFill>
                  <a:srgbClr val="FF7B72"/>
                </a:solidFill>
                <a:latin typeface="Consolas"/>
              </a:rPr>
              <a:t>LIMIT</a:t>
            </a:r>
            <a:r>
              <a:rPr sz="1100">
                <a:solidFill>
                  <a:srgbClr val="E6E6E6"/>
                </a:solidFill>
                <a:latin typeface="Consolas"/>
              </a:rPr>
              <a:t> </a:t>
            </a:r>
            <a:r>
              <a:rPr sz="1100" b="0">
                <a:solidFill>
                  <a:srgbClr val="E6E6E6"/>
                </a:solidFill>
                <a:latin typeface="Consolas"/>
              </a:rPr>
              <a:t>10</a:t>
            </a:r>
            <a:r>
              <a:rPr sz="1100">
                <a:solidFill>
                  <a:srgbClr val="E6E6E6"/>
                </a:solidFill>
                <a:latin typeface="Consolas"/>
              </a:rPr>
              <a:t>;</a:t>
            </a:r>
          </a:p>
        </p:txBody>
      </p:sp>
      <p:sp>
        <p:nvSpPr>
          <p:cNvPr id="9" name="TextBox 8"/>
          <p:cNvSpPr txBox="1"/>
          <p:nvPr/>
        </p:nvSpPr>
        <p:spPr>
          <a:xfrm>
            <a:off x="6400800" y="1371600"/>
            <a:ext cx="2743200" cy="320040"/>
          </a:xfrm>
          <a:prstGeom prst="rect">
            <a:avLst/>
          </a:prstGeom>
          <a:noFill/>
        </p:spPr>
        <p:txBody>
          <a:bodyPr wrap="square" lIns="45720" tIns="18288" rIns="45720" bIns="18288" anchor="t">
            <a:spAutoFit/>
          </a:bodyPr>
          <a:lstStyle/>
          <a:p>
            <a:pPr algn="l"/>
            <a:r>
              <a:rPr sz="1100" b="1" i="0">
                <a:solidFill>
                  <a:srgbClr val="C00000"/>
                </a:solidFill>
                <a:latin typeface="Lato Black"/>
              </a:rPr>
              <a:t>OUTPUT</a:t>
            </a:r>
          </a:p>
        </p:txBody>
      </p:sp>
      <p:sp>
        <p:nvSpPr>
          <p:cNvPr id="10" name="Rectangle 9"/>
          <p:cNvSpPr/>
          <p:nvPr/>
        </p:nvSpPr>
        <p:spPr>
          <a:xfrm>
            <a:off x="6400800" y="1737360"/>
            <a:ext cx="5303520" cy="4114800"/>
          </a:xfrm>
          <a:prstGeom prst="rect">
            <a:avLst/>
          </a:prstGeom>
          <a:solidFill>
            <a:srgbClr val="FFFFFF"/>
          </a:solidFill>
          <a:ln w="9525">
            <a:solidFill>
              <a:srgbClr val="EEEE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263640"/>
            <a:ext cx="12191695" cy="50292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7200" y="6263640"/>
            <a:ext cx="11247120" cy="502920"/>
          </a:xfrm>
          <a:prstGeom prst="rect">
            <a:avLst/>
          </a:prstGeom>
          <a:noFill/>
        </p:spPr>
        <p:txBody>
          <a:bodyPr wrap="square" lIns="45720" tIns="18288" rIns="45720" bIns="18288" anchor="ctr">
            <a:spAutoFit/>
          </a:bodyPr>
          <a:lstStyle/>
          <a:p>
            <a:pPr algn="l"/>
            <a:r>
              <a:rPr sz="1400" b="1" i="0">
                <a:solidFill>
                  <a:srgbClr val="FFFFFF"/>
                </a:solidFill>
                <a:latin typeface="Calibri"/>
              </a:rPr>
              <a:t>Result:  Led Zeppelin, U2, Deep Purple dominate the Rock catalog.</a:t>
            </a:r>
          </a:p>
        </p:txBody>
      </p:sp>
      <p:pic>
        <p:nvPicPr>
          <p:cNvPr id="14" name="Picture 13" descr="O7.png"/>
          <p:cNvPicPr>
            <a:picLocks noChangeAspect="1"/>
          </p:cNvPicPr>
          <p:nvPr/>
        </p:nvPicPr>
        <p:blipFill>
          <a:blip r:embed="rId2"/>
          <a:stretch>
            <a:fillRect/>
          </a:stretch>
        </p:blipFill>
        <p:spPr>
          <a:xfrm>
            <a:off x="7079503" y="2355764"/>
            <a:ext cx="3946114" cy="287799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11247120" cy="640080"/>
          </a:xfrm>
          <a:prstGeom prst="rect">
            <a:avLst/>
          </a:prstGeom>
          <a:noFill/>
        </p:spPr>
        <p:txBody>
          <a:bodyPr wrap="square" lIns="45720" tIns="18288" rIns="45720" bIns="18288" anchor="t">
            <a:spAutoFit/>
          </a:bodyPr>
          <a:lstStyle/>
          <a:p>
            <a:pPr algn="l"/>
            <a:r>
              <a:rPr sz="3000" b="1" i="0">
                <a:solidFill>
                  <a:srgbClr val="C00000"/>
                </a:solidFill>
                <a:latin typeface="Lato Black"/>
              </a:rPr>
              <a:t>Q8.  Tracks longer than the average song length</a:t>
            </a:r>
          </a:p>
        </p:txBody>
      </p:sp>
      <p:sp>
        <p:nvSpPr>
          <p:cNvPr id="4" name="Rectangle 3"/>
          <p:cNvSpPr/>
          <p:nvPr/>
        </p:nvSpPr>
        <p:spPr>
          <a:xfrm>
            <a:off x="457200" y="841248"/>
            <a:ext cx="1097280" cy="36576"/>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371600"/>
            <a:ext cx="2743200" cy="320040"/>
          </a:xfrm>
          <a:prstGeom prst="rect">
            <a:avLst/>
          </a:prstGeom>
          <a:noFill/>
        </p:spPr>
        <p:txBody>
          <a:bodyPr wrap="square" lIns="45720" tIns="18288" rIns="45720" bIns="18288" anchor="t">
            <a:spAutoFit/>
          </a:bodyPr>
          <a:lstStyle/>
          <a:p>
            <a:pPr algn="l"/>
            <a:r>
              <a:rPr sz="1100" b="1" i="0">
                <a:solidFill>
                  <a:srgbClr val="C00000"/>
                </a:solidFill>
                <a:latin typeface="Lato Black"/>
              </a:rPr>
              <a:t>SQL  QUERY</a:t>
            </a:r>
          </a:p>
        </p:txBody>
      </p:sp>
      <p:sp>
        <p:nvSpPr>
          <p:cNvPr id="6" name="Rectangle 5"/>
          <p:cNvSpPr/>
          <p:nvPr/>
        </p:nvSpPr>
        <p:spPr>
          <a:xfrm>
            <a:off x="457200" y="1737360"/>
            <a:ext cx="5669280" cy="4114800"/>
          </a:xfrm>
          <a:prstGeom prst="rect">
            <a:avLst/>
          </a:prstGeom>
          <a:solidFill>
            <a:srgbClr val="1E2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737360"/>
            <a:ext cx="73152" cy="411480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21792" y="1828800"/>
            <a:ext cx="5440680" cy="3950208"/>
          </a:xfrm>
          <a:prstGeom prst="rect">
            <a:avLst/>
          </a:prstGeom>
          <a:noFill/>
        </p:spPr>
        <p:txBody>
          <a:bodyPr wrap="none" lIns="45720" tIns="18288" rIns="45720" bIns="18288">
            <a:spAutoFit/>
          </a:bodyPr>
          <a:lstStyle/>
          <a:p>
            <a:pPr>
              <a:lnSpc>
                <a:spcPct val="115000"/>
              </a:lnSpc>
            </a:pPr>
            <a:r>
              <a:rPr sz="1300" b="1">
                <a:solidFill>
                  <a:srgbClr val="FF7B72"/>
                </a:solidFill>
                <a:latin typeface="Consolas"/>
              </a:rPr>
              <a:t>SELECT</a:t>
            </a:r>
            <a:r>
              <a:rPr sz="1300">
                <a:solidFill>
                  <a:srgbClr val="E6E6E6"/>
                </a:solidFill>
                <a:latin typeface="Consolas"/>
              </a:rPr>
              <a:t> </a:t>
            </a:r>
            <a:r>
              <a:rPr sz="1300" b="0">
                <a:solidFill>
                  <a:srgbClr val="E6E6E6"/>
                </a:solidFill>
                <a:latin typeface="Consolas"/>
              </a:rPr>
              <a:t>name</a:t>
            </a:r>
            <a:r>
              <a:rPr sz="1300">
                <a:solidFill>
                  <a:srgbClr val="E6E6E6"/>
                </a:solidFill>
                <a:latin typeface="Consolas"/>
              </a:rPr>
              <a:t>, </a:t>
            </a:r>
            <a:r>
              <a:rPr sz="1300" b="0">
                <a:solidFill>
                  <a:srgbClr val="E6E6E6"/>
                </a:solidFill>
                <a:latin typeface="Consolas"/>
              </a:rPr>
              <a:t>milliseconds</a:t>
            </a:r>
          </a:p>
          <a:p>
            <a:pPr>
              <a:lnSpc>
                <a:spcPct val="115000"/>
              </a:lnSpc>
            </a:pPr>
            <a:r>
              <a:rPr sz="1300" b="1">
                <a:solidFill>
                  <a:srgbClr val="FF7B72"/>
                </a:solidFill>
                <a:latin typeface="Consolas"/>
              </a:rPr>
              <a:t>FROM</a:t>
            </a:r>
            <a:r>
              <a:rPr sz="1300">
                <a:solidFill>
                  <a:srgbClr val="E6E6E6"/>
                </a:solidFill>
                <a:latin typeface="Consolas"/>
              </a:rPr>
              <a:t> </a:t>
            </a:r>
            <a:r>
              <a:rPr sz="1300" b="0">
                <a:solidFill>
                  <a:srgbClr val="E6E6E6"/>
                </a:solidFill>
                <a:latin typeface="Consolas"/>
              </a:rPr>
              <a:t>track</a:t>
            </a:r>
          </a:p>
          <a:p>
            <a:pPr>
              <a:lnSpc>
                <a:spcPct val="115000"/>
              </a:lnSpc>
            </a:pPr>
            <a:r>
              <a:rPr sz="1300" b="1">
                <a:solidFill>
                  <a:srgbClr val="FF7B72"/>
                </a:solidFill>
                <a:latin typeface="Consolas"/>
              </a:rPr>
              <a:t>WHERE</a:t>
            </a:r>
            <a:r>
              <a:rPr sz="1300">
                <a:solidFill>
                  <a:srgbClr val="E6E6E6"/>
                </a:solidFill>
                <a:latin typeface="Consolas"/>
              </a:rPr>
              <a:t> </a:t>
            </a:r>
            <a:r>
              <a:rPr sz="1300" b="0">
                <a:solidFill>
                  <a:srgbClr val="E6E6E6"/>
                </a:solidFill>
                <a:latin typeface="Consolas"/>
              </a:rPr>
              <a:t>milliseconds</a:t>
            </a:r>
            <a:r>
              <a:rPr sz="1300">
                <a:solidFill>
                  <a:srgbClr val="E6E6E6"/>
                </a:solidFill>
                <a:latin typeface="Consolas"/>
              </a:rPr>
              <a:t> &gt; (</a:t>
            </a:r>
          </a:p>
          <a:p>
            <a:pPr>
              <a:lnSpc>
                <a:spcPct val="115000"/>
              </a:lnSpc>
            </a:pPr>
            <a:r>
              <a:rPr sz="1300">
                <a:solidFill>
                  <a:srgbClr val="E6E6E6"/>
                </a:solidFill>
                <a:latin typeface="Consolas"/>
              </a:rPr>
              <a:t>    </a:t>
            </a:r>
            <a:r>
              <a:rPr sz="1300" b="1">
                <a:solidFill>
                  <a:srgbClr val="FF7B72"/>
                </a:solidFill>
                <a:latin typeface="Consolas"/>
              </a:rPr>
              <a:t>SELECT</a:t>
            </a:r>
            <a:r>
              <a:rPr sz="1300">
                <a:solidFill>
                  <a:srgbClr val="E6E6E6"/>
                </a:solidFill>
                <a:latin typeface="Consolas"/>
              </a:rPr>
              <a:t> </a:t>
            </a:r>
            <a:r>
              <a:rPr sz="1300" b="1">
                <a:solidFill>
                  <a:srgbClr val="FF7B72"/>
                </a:solidFill>
                <a:latin typeface="Consolas"/>
              </a:rPr>
              <a:t>AVG</a:t>
            </a:r>
            <a:r>
              <a:rPr sz="1300">
                <a:solidFill>
                  <a:srgbClr val="E6E6E6"/>
                </a:solidFill>
                <a:latin typeface="Consolas"/>
              </a:rPr>
              <a:t>(</a:t>
            </a:r>
            <a:r>
              <a:rPr sz="1300" b="0">
                <a:solidFill>
                  <a:srgbClr val="E6E6E6"/>
                </a:solidFill>
                <a:latin typeface="Consolas"/>
              </a:rPr>
              <a:t>milliseconds</a:t>
            </a:r>
            <a:r>
              <a:rPr sz="1300">
                <a:solidFill>
                  <a:srgbClr val="E6E6E6"/>
                </a:solidFill>
                <a:latin typeface="Consolas"/>
              </a:rPr>
              <a:t>) </a:t>
            </a:r>
            <a:r>
              <a:rPr sz="1300" b="1">
                <a:solidFill>
                  <a:srgbClr val="FF7B72"/>
                </a:solidFill>
                <a:latin typeface="Consolas"/>
              </a:rPr>
              <a:t>FROM</a:t>
            </a:r>
            <a:r>
              <a:rPr sz="1300">
                <a:solidFill>
                  <a:srgbClr val="E6E6E6"/>
                </a:solidFill>
                <a:latin typeface="Consolas"/>
              </a:rPr>
              <a:t> </a:t>
            </a:r>
            <a:r>
              <a:rPr sz="1300" b="0">
                <a:solidFill>
                  <a:srgbClr val="E6E6E6"/>
                </a:solidFill>
                <a:latin typeface="Consolas"/>
              </a:rPr>
              <a:t>track</a:t>
            </a:r>
          </a:p>
          <a:p>
            <a:pPr>
              <a:lnSpc>
                <a:spcPct val="115000"/>
              </a:lnSpc>
            </a:pPr>
            <a:r>
              <a:rPr sz="1300">
                <a:solidFill>
                  <a:srgbClr val="E6E6E6"/>
                </a:solidFill>
                <a:latin typeface="Consolas"/>
              </a:rPr>
              <a:t>)</a:t>
            </a:r>
          </a:p>
          <a:p>
            <a:pPr>
              <a:lnSpc>
                <a:spcPct val="115000"/>
              </a:lnSpc>
            </a:pPr>
            <a:r>
              <a:rPr sz="1300" b="1">
                <a:solidFill>
                  <a:srgbClr val="FF7B72"/>
                </a:solidFill>
                <a:latin typeface="Consolas"/>
              </a:rPr>
              <a:t>ORDER</a:t>
            </a:r>
            <a:r>
              <a:rPr sz="1300">
                <a:solidFill>
                  <a:srgbClr val="E6E6E6"/>
                </a:solidFill>
                <a:latin typeface="Consolas"/>
              </a:rPr>
              <a:t> </a:t>
            </a:r>
            <a:r>
              <a:rPr sz="1300" b="1">
                <a:solidFill>
                  <a:srgbClr val="FF7B72"/>
                </a:solidFill>
                <a:latin typeface="Consolas"/>
              </a:rPr>
              <a:t>BY</a:t>
            </a:r>
            <a:r>
              <a:rPr sz="1300">
                <a:solidFill>
                  <a:srgbClr val="E6E6E6"/>
                </a:solidFill>
                <a:latin typeface="Consolas"/>
              </a:rPr>
              <a:t> </a:t>
            </a:r>
            <a:r>
              <a:rPr sz="1300" b="0">
                <a:solidFill>
                  <a:srgbClr val="E6E6E6"/>
                </a:solidFill>
                <a:latin typeface="Consolas"/>
              </a:rPr>
              <a:t>milliseconds</a:t>
            </a:r>
            <a:r>
              <a:rPr sz="1300">
                <a:solidFill>
                  <a:srgbClr val="E6E6E6"/>
                </a:solidFill>
                <a:latin typeface="Consolas"/>
              </a:rPr>
              <a:t> </a:t>
            </a:r>
            <a:r>
              <a:rPr sz="1300" b="1">
                <a:solidFill>
                  <a:srgbClr val="FF7B72"/>
                </a:solidFill>
                <a:latin typeface="Consolas"/>
              </a:rPr>
              <a:t>DESC</a:t>
            </a:r>
            <a:r>
              <a:rPr sz="1300">
                <a:solidFill>
                  <a:srgbClr val="E6E6E6"/>
                </a:solidFill>
                <a:latin typeface="Consolas"/>
              </a:rPr>
              <a:t>;</a:t>
            </a:r>
          </a:p>
        </p:txBody>
      </p:sp>
      <p:sp>
        <p:nvSpPr>
          <p:cNvPr id="9" name="TextBox 8"/>
          <p:cNvSpPr txBox="1"/>
          <p:nvPr/>
        </p:nvSpPr>
        <p:spPr>
          <a:xfrm>
            <a:off x="6400800" y="1371600"/>
            <a:ext cx="2743200" cy="320040"/>
          </a:xfrm>
          <a:prstGeom prst="rect">
            <a:avLst/>
          </a:prstGeom>
          <a:noFill/>
        </p:spPr>
        <p:txBody>
          <a:bodyPr wrap="square" lIns="45720" tIns="18288" rIns="45720" bIns="18288" anchor="t">
            <a:spAutoFit/>
          </a:bodyPr>
          <a:lstStyle/>
          <a:p>
            <a:pPr algn="l"/>
            <a:r>
              <a:rPr sz="1100" b="1" i="0">
                <a:solidFill>
                  <a:srgbClr val="C00000"/>
                </a:solidFill>
                <a:latin typeface="Lato Black"/>
              </a:rPr>
              <a:t>OUTPUT</a:t>
            </a:r>
          </a:p>
        </p:txBody>
      </p:sp>
      <p:sp>
        <p:nvSpPr>
          <p:cNvPr id="10" name="Rectangle 9"/>
          <p:cNvSpPr/>
          <p:nvPr/>
        </p:nvSpPr>
        <p:spPr>
          <a:xfrm>
            <a:off x="6400800" y="1737360"/>
            <a:ext cx="5303520" cy="4114800"/>
          </a:xfrm>
          <a:prstGeom prst="rect">
            <a:avLst/>
          </a:prstGeom>
          <a:solidFill>
            <a:srgbClr val="FFFFFF"/>
          </a:solidFill>
          <a:ln w="9525">
            <a:solidFill>
              <a:srgbClr val="EEEE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263640"/>
            <a:ext cx="12191695" cy="50292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7200" y="6263640"/>
            <a:ext cx="11247120" cy="502920"/>
          </a:xfrm>
          <a:prstGeom prst="rect">
            <a:avLst/>
          </a:prstGeom>
          <a:noFill/>
        </p:spPr>
        <p:txBody>
          <a:bodyPr wrap="square" lIns="45720" tIns="18288" rIns="45720" bIns="18288" anchor="ctr">
            <a:spAutoFit/>
          </a:bodyPr>
          <a:lstStyle/>
          <a:p>
            <a:pPr algn="l"/>
            <a:r>
              <a:rPr sz="1400" b="1" i="0">
                <a:solidFill>
                  <a:srgbClr val="FFFFFF"/>
                </a:solidFill>
                <a:latin typeface="Calibri"/>
              </a:rPr>
              <a:t>Result:  Longest tracks surfaced — classical &amp; live recordings.</a:t>
            </a:r>
          </a:p>
        </p:txBody>
      </p:sp>
      <p:pic>
        <p:nvPicPr>
          <p:cNvPr id="14" name="Picture 13" descr="O8.png"/>
          <p:cNvPicPr>
            <a:picLocks noChangeAspect="1"/>
          </p:cNvPicPr>
          <p:nvPr/>
        </p:nvPicPr>
        <p:blipFill>
          <a:blip r:embed="rId2"/>
          <a:stretch>
            <a:fillRect/>
          </a:stretch>
        </p:blipFill>
        <p:spPr>
          <a:xfrm>
            <a:off x="8351909" y="1828800"/>
            <a:ext cx="1401300" cy="393192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11247120" cy="640080"/>
          </a:xfrm>
          <a:prstGeom prst="rect">
            <a:avLst/>
          </a:prstGeom>
          <a:noFill/>
        </p:spPr>
        <p:txBody>
          <a:bodyPr wrap="square" lIns="45720" tIns="18288" rIns="45720" bIns="18288" anchor="t">
            <a:spAutoFit/>
          </a:bodyPr>
          <a:lstStyle/>
          <a:p>
            <a:pPr algn="l"/>
            <a:r>
              <a:rPr sz="3000" b="1" i="0">
                <a:solidFill>
                  <a:srgbClr val="C00000"/>
                </a:solidFill>
                <a:latin typeface="Lato Black"/>
              </a:rPr>
              <a:t>Q9.  Amount spent by each customer on each artist</a:t>
            </a:r>
          </a:p>
        </p:txBody>
      </p:sp>
      <p:sp>
        <p:nvSpPr>
          <p:cNvPr id="4" name="Rectangle 3"/>
          <p:cNvSpPr/>
          <p:nvPr/>
        </p:nvSpPr>
        <p:spPr>
          <a:xfrm>
            <a:off x="457200" y="841248"/>
            <a:ext cx="1097280" cy="36576"/>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371600"/>
            <a:ext cx="2743200" cy="320040"/>
          </a:xfrm>
          <a:prstGeom prst="rect">
            <a:avLst/>
          </a:prstGeom>
          <a:noFill/>
        </p:spPr>
        <p:txBody>
          <a:bodyPr wrap="square" lIns="45720" tIns="18288" rIns="45720" bIns="18288" anchor="t">
            <a:spAutoFit/>
          </a:bodyPr>
          <a:lstStyle/>
          <a:p>
            <a:pPr algn="l"/>
            <a:r>
              <a:rPr sz="1100" b="1" i="0">
                <a:solidFill>
                  <a:srgbClr val="C00000"/>
                </a:solidFill>
                <a:latin typeface="Lato Black"/>
              </a:rPr>
              <a:t>SQL  QUERY</a:t>
            </a:r>
          </a:p>
        </p:txBody>
      </p:sp>
      <p:sp>
        <p:nvSpPr>
          <p:cNvPr id="6" name="Rectangle 5"/>
          <p:cNvSpPr/>
          <p:nvPr/>
        </p:nvSpPr>
        <p:spPr>
          <a:xfrm>
            <a:off x="457200" y="1737360"/>
            <a:ext cx="5669280" cy="4114800"/>
          </a:xfrm>
          <a:prstGeom prst="rect">
            <a:avLst/>
          </a:prstGeom>
          <a:solidFill>
            <a:srgbClr val="1E2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737360"/>
            <a:ext cx="73152" cy="411480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21792" y="1828800"/>
            <a:ext cx="5440680" cy="3950208"/>
          </a:xfrm>
          <a:prstGeom prst="rect">
            <a:avLst/>
          </a:prstGeom>
          <a:noFill/>
        </p:spPr>
        <p:txBody>
          <a:bodyPr wrap="none" lIns="45720" tIns="18288" rIns="45720" bIns="18288">
            <a:spAutoFit/>
          </a:bodyPr>
          <a:lstStyle/>
          <a:p>
            <a:pPr>
              <a:lnSpc>
                <a:spcPct val="115000"/>
              </a:lnSpc>
            </a:pPr>
            <a:r>
              <a:rPr sz="1100" b="1">
                <a:solidFill>
                  <a:srgbClr val="FF7B72"/>
                </a:solidFill>
                <a:latin typeface="Consolas"/>
              </a:rPr>
              <a:t>SELECT</a:t>
            </a:r>
            <a:r>
              <a:rPr sz="1100">
                <a:solidFill>
                  <a:srgbClr val="E6E6E6"/>
                </a:solidFill>
                <a:latin typeface="Consolas"/>
              </a:rPr>
              <a:t> </a:t>
            </a:r>
            <a:r>
              <a:rPr sz="1100" b="0">
                <a:solidFill>
                  <a:srgbClr val="E6E6E6"/>
                </a:solidFill>
                <a:latin typeface="Consolas"/>
              </a:rPr>
              <a:t>c</a:t>
            </a:r>
            <a:r>
              <a:rPr sz="1100">
                <a:solidFill>
                  <a:srgbClr val="E6E6E6"/>
                </a:solidFill>
                <a:latin typeface="Consolas"/>
              </a:rPr>
              <a:t>.</a:t>
            </a:r>
            <a:r>
              <a:rPr sz="1100" b="0">
                <a:solidFill>
                  <a:srgbClr val="E6E6E6"/>
                </a:solidFill>
                <a:latin typeface="Consolas"/>
              </a:rPr>
              <a:t>first_name</a:t>
            </a:r>
            <a:r>
              <a:rPr sz="1100">
                <a:solidFill>
                  <a:srgbClr val="E6E6E6"/>
                </a:solidFill>
                <a:latin typeface="Consolas"/>
              </a:rPr>
              <a:t>, </a:t>
            </a:r>
            <a:r>
              <a:rPr sz="1100" b="0">
                <a:solidFill>
                  <a:srgbClr val="E6E6E6"/>
                </a:solidFill>
                <a:latin typeface="Consolas"/>
              </a:rPr>
              <a:t>c</a:t>
            </a:r>
            <a:r>
              <a:rPr sz="1100">
                <a:solidFill>
                  <a:srgbClr val="E6E6E6"/>
                </a:solidFill>
                <a:latin typeface="Consolas"/>
              </a:rPr>
              <a:t>.</a:t>
            </a:r>
            <a:r>
              <a:rPr sz="1100" b="0">
                <a:solidFill>
                  <a:srgbClr val="E6E6E6"/>
                </a:solidFill>
                <a:latin typeface="Consolas"/>
              </a:rPr>
              <a:t>last_name</a:t>
            </a:r>
            <a:r>
              <a:rPr sz="1100">
                <a:solidFill>
                  <a:srgbClr val="E6E6E6"/>
                </a:solidFill>
                <a:latin typeface="Consolas"/>
              </a:rPr>
              <a:t>, </a:t>
            </a:r>
            <a:r>
              <a:rPr sz="1100" b="0">
                <a:solidFill>
                  <a:srgbClr val="E6E6E6"/>
                </a:solidFill>
                <a:latin typeface="Consolas"/>
              </a:rPr>
              <a:t>a</a:t>
            </a:r>
            <a:r>
              <a:rPr sz="1100">
                <a:solidFill>
                  <a:srgbClr val="E6E6E6"/>
                </a:solidFill>
                <a:latin typeface="Consolas"/>
              </a:rPr>
              <a:t>.</a:t>
            </a:r>
            <a:r>
              <a:rPr sz="1100" b="0">
                <a:solidFill>
                  <a:srgbClr val="E6E6E6"/>
                </a:solidFill>
                <a:latin typeface="Consolas"/>
              </a:rPr>
              <a:t>name</a:t>
            </a:r>
            <a:r>
              <a:rPr sz="1100">
                <a:solidFill>
                  <a:srgbClr val="E6E6E6"/>
                </a:solidFill>
                <a:latin typeface="Consolas"/>
              </a:rPr>
              <a:t> </a:t>
            </a:r>
            <a:r>
              <a:rPr sz="1100" b="1">
                <a:solidFill>
                  <a:srgbClr val="FF7B72"/>
                </a:solidFill>
                <a:latin typeface="Consolas"/>
              </a:rPr>
              <a:t>AS</a:t>
            </a:r>
            <a:r>
              <a:rPr sz="1100">
                <a:solidFill>
                  <a:srgbClr val="E6E6E6"/>
                </a:solidFill>
                <a:latin typeface="Consolas"/>
              </a:rPr>
              <a:t> </a:t>
            </a:r>
            <a:r>
              <a:rPr sz="1100" b="0">
                <a:solidFill>
                  <a:srgbClr val="E6E6E6"/>
                </a:solidFill>
                <a:latin typeface="Consolas"/>
              </a:rPr>
              <a:t>artist_name</a:t>
            </a:r>
            <a:r>
              <a:rPr sz="1100">
                <a:solidFill>
                  <a:srgbClr val="E6E6E6"/>
                </a:solidFill>
                <a:latin typeface="Consolas"/>
              </a:rPr>
              <a:t>,</a:t>
            </a:r>
          </a:p>
          <a:p>
            <a:pPr>
              <a:lnSpc>
                <a:spcPct val="115000"/>
              </a:lnSpc>
            </a:pPr>
            <a:r>
              <a:rPr sz="1100">
                <a:solidFill>
                  <a:srgbClr val="E6E6E6"/>
                </a:solidFill>
                <a:latin typeface="Consolas"/>
              </a:rPr>
              <a:t>       </a:t>
            </a:r>
            <a:r>
              <a:rPr sz="1100" b="1">
                <a:solidFill>
                  <a:srgbClr val="FF7B72"/>
                </a:solidFill>
                <a:latin typeface="Consolas"/>
              </a:rPr>
              <a:t>SUM</a:t>
            </a:r>
            <a:r>
              <a:rPr sz="1100">
                <a:solidFill>
                  <a:srgbClr val="E6E6E6"/>
                </a:solidFill>
                <a:latin typeface="Consolas"/>
              </a:rPr>
              <a:t>(</a:t>
            </a:r>
            <a:r>
              <a:rPr sz="1100" b="0">
                <a:solidFill>
                  <a:srgbClr val="E6E6E6"/>
                </a:solidFill>
                <a:latin typeface="Consolas"/>
              </a:rPr>
              <a:t>il</a:t>
            </a:r>
            <a:r>
              <a:rPr sz="1100">
                <a:solidFill>
                  <a:srgbClr val="E6E6E6"/>
                </a:solidFill>
                <a:latin typeface="Consolas"/>
              </a:rPr>
              <a:t>.</a:t>
            </a:r>
            <a:r>
              <a:rPr sz="1100" b="0">
                <a:solidFill>
                  <a:srgbClr val="E6E6E6"/>
                </a:solidFill>
                <a:latin typeface="Consolas"/>
              </a:rPr>
              <a:t>unit_price</a:t>
            </a:r>
            <a:r>
              <a:rPr sz="1100">
                <a:solidFill>
                  <a:srgbClr val="E6E6E6"/>
                </a:solidFill>
                <a:latin typeface="Consolas"/>
              </a:rPr>
              <a:t> * </a:t>
            </a:r>
            <a:r>
              <a:rPr sz="1100" b="0">
                <a:solidFill>
                  <a:srgbClr val="E6E6E6"/>
                </a:solidFill>
                <a:latin typeface="Consolas"/>
              </a:rPr>
              <a:t>il</a:t>
            </a:r>
            <a:r>
              <a:rPr sz="1100">
                <a:solidFill>
                  <a:srgbClr val="E6E6E6"/>
                </a:solidFill>
                <a:latin typeface="Consolas"/>
              </a:rPr>
              <a:t>.</a:t>
            </a:r>
            <a:r>
              <a:rPr sz="1100" b="0">
                <a:solidFill>
                  <a:srgbClr val="E6E6E6"/>
                </a:solidFill>
                <a:latin typeface="Consolas"/>
              </a:rPr>
              <a:t>quantity</a:t>
            </a:r>
            <a:r>
              <a:rPr sz="1100">
                <a:solidFill>
                  <a:srgbClr val="E6E6E6"/>
                </a:solidFill>
                <a:latin typeface="Consolas"/>
              </a:rPr>
              <a:t>) </a:t>
            </a:r>
            <a:r>
              <a:rPr sz="1100" b="1">
                <a:solidFill>
                  <a:srgbClr val="FF7B72"/>
                </a:solidFill>
                <a:latin typeface="Consolas"/>
              </a:rPr>
              <a:t>AS</a:t>
            </a:r>
            <a:r>
              <a:rPr sz="1100">
                <a:solidFill>
                  <a:srgbClr val="E6E6E6"/>
                </a:solidFill>
                <a:latin typeface="Consolas"/>
              </a:rPr>
              <a:t> </a:t>
            </a:r>
            <a:r>
              <a:rPr sz="1100" b="0">
                <a:solidFill>
                  <a:srgbClr val="E6E6E6"/>
                </a:solidFill>
                <a:latin typeface="Consolas"/>
              </a:rPr>
              <a:t>total_spent</a:t>
            </a:r>
          </a:p>
          <a:p>
            <a:pPr>
              <a:lnSpc>
                <a:spcPct val="115000"/>
              </a:lnSpc>
            </a:pPr>
            <a:r>
              <a:rPr sz="1100" b="1">
                <a:solidFill>
                  <a:srgbClr val="FF7B72"/>
                </a:solidFill>
                <a:latin typeface="Consolas"/>
              </a:rPr>
              <a:t>FROM</a:t>
            </a:r>
            <a:r>
              <a:rPr sz="1100">
                <a:solidFill>
                  <a:srgbClr val="E6E6E6"/>
                </a:solidFill>
                <a:latin typeface="Consolas"/>
              </a:rPr>
              <a:t> </a:t>
            </a:r>
            <a:r>
              <a:rPr sz="1100" b="0">
                <a:solidFill>
                  <a:srgbClr val="E6E6E6"/>
                </a:solidFill>
                <a:latin typeface="Consolas"/>
              </a:rPr>
              <a:t>customer</a:t>
            </a:r>
            <a:r>
              <a:rPr sz="1100">
                <a:solidFill>
                  <a:srgbClr val="E6E6E6"/>
                </a:solidFill>
                <a:latin typeface="Consolas"/>
              </a:rPr>
              <a:t> </a:t>
            </a:r>
            <a:r>
              <a:rPr sz="1100" b="0">
                <a:solidFill>
                  <a:srgbClr val="E6E6E6"/>
                </a:solidFill>
                <a:latin typeface="Consolas"/>
              </a:rPr>
              <a:t>c</a:t>
            </a:r>
          </a:p>
          <a:p>
            <a:pPr>
              <a:lnSpc>
                <a:spcPct val="115000"/>
              </a:lnSpc>
            </a:pPr>
            <a:r>
              <a:rPr sz="1100" b="1">
                <a:solidFill>
                  <a:srgbClr val="FF7B72"/>
                </a:solidFill>
                <a:latin typeface="Consolas"/>
              </a:rPr>
              <a:t>JOIN</a:t>
            </a:r>
            <a:r>
              <a:rPr sz="1100">
                <a:solidFill>
                  <a:srgbClr val="E6E6E6"/>
                </a:solidFill>
                <a:latin typeface="Consolas"/>
              </a:rPr>
              <a:t> </a:t>
            </a:r>
            <a:r>
              <a:rPr sz="1100" b="0">
                <a:solidFill>
                  <a:srgbClr val="E6E6E6"/>
                </a:solidFill>
                <a:latin typeface="Consolas"/>
              </a:rPr>
              <a:t>invoice</a:t>
            </a:r>
            <a:r>
              <a:rPr sz="1100">
                <a:solidFill>
                  <a:srgbClr val="E6E6E6"/>
                </a:solidFill>
                <a:latin typeface="Consolas"/>
              </a:rPr>
              <a:t> </a:t>
            </a:r>
            <a:r>
              <a:rPr sz="1100" b="0">
                <a:solidFill>
                  <a:srgbClr val="E6E6E6"/>
                </a:solidFill>
                <a:latin typeface="Consolas"/>
              </a:rPr>
              <a:t>i</a:t>
            </a:r>
            <a:r>
              <a:rPr sz="1100">
                <a:solidFill>
                  <a:srgbClr val="E6E6E6"/>
                </a:solidFill>
                <a:latin typeface="Consolas"/>
              </a:rPr>
              <a:t>       </a:t>
            </a:r>
            <a:r>
              <a:rPr sz="1100" b="1">
                <a:solidFill>
                  <a:srgbClr val="FF7B72"/>
                </a:solidFill>
                <a:latin typeface="Consolas"/>
              </a:rPr>
              <a:t>ON</a:t>
            </a:r>
            <a:r>
              <a:rPr sz="1100">
                <a:solidFill>
                  <a:srgbClr val="E6E6E6"/>
                </a:solidFill>
                <a:latin typeface="Consolas"/>
              </a:rPr>
              <a:t> </a:t>
            </a:r>
            <a:r>
              <a:rPr sz="1100" b="0">
                <a:solidFill>
                  <a:srgbClr val="E6E6E6"/>
                </a:solidFill>
                <a:latin typeface="Consolas"/>
              </a:rPr>
              <a:t>c</a:t>
            </a:r>
            <a:r>
              <a:rPr sz="1100">
                <a:solidFill>
                  <a:srgbClr val="E6E6E6"/>
                </a:solidFill>
                <a:latin typeface="Consolas"/>
              </a:rPr>
              <a:t>.</a:t>
            </a:r>
            <a:r>
              <a:rPr sz="1100" b="0">
                <a:solidFill>
                  <a:srgbClr val="E6E6E6"/>
                </a:solidFill>
                <a:latin typeface="Consolas"/>
              </a:rPr>
              <a:t>customer_id</a:t>
            </a:r>
            <a:r>
              <a:rPr sz="1100">
                <a:solidFill>
                  <a:srgbClr val="E6E6E6"/>
                </a:solidFill>
                <a:latin typeface="Consolas"/>
              </a:rPr>
              <a:t> = </a:t>
            </a:r>
            <a:r>
              <a:rPr sz="1100" b="0">
                <a:solidFill>
                  <a:srgbClr val="E6E6E6"/>
                </a:solidFill>
                <a:latin typeface="Consolas"/>
              </a:rPr>
              <a:t>i</a:t>
            </a:r>
            <a:r>
              <a:rPr sz="1100">
                <a:solidFill>
                  <a:srgbClr val="E6E6E6"/>
                </a:solidFill>
                <a:latin typeface="Consolas"/>
              </a:rPr>
              <a:t>.</a:t>
            </a:r>
            <a:r>
              <a:rPr sz="1100" b="0">
                <a:solidFill>
                  <a:srgbClr val="E6E6E6"/>
                </a:solidFill>
                <a:latin typeface="Consolas"/>
              </a:rPr>
              <a:t>customer_id</a:t>
            </a:r>
          </a:p>
          <a:p>
            <a:pPr>
              <a:lnSpc>
                <a:spcPct val="115000"/>
              </a:lnSpc>
            </a:pPr>
            <a:r>
              <a:rPr sz="1100" b="1">
                <a:solidFill>
                  <a:srgbClr val="FF7B72"/>
                </a:solidFill>
                <a:latin typeface="Consolas"/>
              </a:rPr>
              <a:t>JOIN</a:t>
            </a:r>
            <a:r>
              <a:rPr sz="1100">
                <a:solidFill>
                  <a:srgbClr val="E6E6E6"/>
                </a:solidFill>
                <a:latin typeface="Consolas"/>
              </a:rPr>
              <a:t> </a:t>
            </a:r>
            <a:r>
              <a:rPr sz="1100" b="0">
                <a:solidFill>
                  <a:srgbClr val="E6E6E6"/>
                </a:solidFill>
                <a:latin typeface="Consolas"/>
              </a:rPr>
              <a:t>invoice_line</a:t>
            </a:r>
            <a:r>
              <a:rPr sz="1100">
                <a:solidFill>
                  <a:srgbClr val="E6E6E6"/>
                </a:solidFill>
                <a:latin typeface="Consolas"/>
              </a:rPr>
              <a:t> </a:t>
            </a:r>
            <a:r>
              <a:rPr sz="1100" b="0">
                <a:solidFill>
                  <a:srgbClr val="E6E6E6"/>
                </a:solidFill>
                <a:latin typeface="Consolas"/>
              </a:rPr>
              <a:t>il</a:t>
            </a:r>
            <a:r>
              <a:rPr sz="1100">
                <a:solidFill>
                  <a:srgbClr val="E6E6E6"/>
                </a:solidFill>
                <a:latin typeface="Consolas"/>
              </a:rPr>
              <a:t> </a:t>
            </a:r>
            <a:r>
              <a:rPr sz="1100" b="1">
                <a:solidFill>
                  <a:srgbClr val="FF7B72"/>
                </a:solidFill>
                <a:latin typeface="Consolas"/>
              </a:rPr>
              <a:t>ON</a:t>
            </a:r>
            <a:r>
              <a:rPr sz="1100">
                <a:solidFill>
                  <a:srgbClr val="E6E6E6"/>
                </a:solidFill>
                <a:latin typeface="Consolas"/>
              </a:rPr>
              <a:t> </a:t>
            </a:r>
            <a:r>
              <a:rPr sz="1100" b="0">
                <a:solidFill>
                  <a:srgbClr val="E6E6E6"/>
                </a:solidFill>
                <a:latin typeface="Consolas"/>
              </a:rPr>
              <a:t>i</a:t>
            </a:r>
            <a:r>
              <a:rPr sz="1100">
                <a:solidFill>
                  <a:srgbClr val="E6E6E6"/>
                </a:solidFill>
                <a:latin typeface="Consolas"/>
              </a:rPr>
              <a:t>.</a:t>
            </a:r>
            <a:r>
              <a:rPr sz="1100" b="0">
                <a:solidFill>
                  <a:srgbClr val="E6E6E6"/>
                </a:solidFill>
                <a:latin typeface="Consolas"/>
              </a:rPr>
              <a:t>invoice_id</a:t>
            </a:r>
            <a:r>
              <a:rPr sz="1100">
                <a:solidFill>
                  <a:srgbClr val="E6E6E6"/>
                </a:solidFill>
                <a:latin typeface="Consolas"/>
              </a:rPr>
              <a:t> = </a:t>
            </a:r>
            <a:r>
              <a:rPr sz="1100" b="0">
                <a:solidFill>
                  <a:srgbClr val="E6E6E6"/>
                </a:solidFill>
                <a:latin typeface="Consolas"/>
              </a:rPr>
              <a:t>il</a:t>
            </a:r>
            <a:r>
              <a:rPr sz="1100">
                <a:solidFill>
                  <a:srgbClr val="E6E6E6"/>
                </a:solidFill>
                <a:latin typeface="Consolas"/>
              </a:rPr>
              <a:t>.</a:t>
            </a:r>
            <a:r>
              <a:rPr sz="1100" b="0">
                <a:solidFill>
                  <a:srgbClr val="E6E6E6"/>
                </a:solidFill>
                <a:latin typeface="Consolas"/>
              </a:rPr>
              <a:t>invoice_id</a:t>
            </a:r>
          </a:p>
          <a:p>
            <a:pPr>
              <a:lnSpc>
                <a:spcPct val="115000"/>
              </a:lnSpc>
            </a:pPr>
            <a:r>
              <a:rPr sz="1100" b="1">
                <a:solidFill>
                  <a:srgbClr val="FF7B72"/>
                </a:solidFill>
                <a:latin typeface="Consolas"/>
              </a:rPr>
              <a:t>JOIN</a:t>
            </a:r>
            <a:r>
              <a:rPr sz="1100">
                <a:solidFill>
                  <a:srgbClr val="E6E6E6"/>
                </a:solidFill>
                <a:latin typeface="Consolas"/>
              </a:rPr>
              <a:t> </a:t>
            </a:r>
            <a:r>
              <a:rPr sz="1100" b="0">
                <a:solidFill>
                  <a:srgbClr val="E6E6E6"/>
                </a:solidFill>
                <a:latin typeface="Consolas"/>
              </a:rPr>
              <a:t>track</a:t>
            </a:r>
            <a:r>
              <a:rPr sz="1100">
                <a:solidFill>
                  <a:srgbClr val="E6E6E6"/>
                </a:solidFill>
                <a:latin typeface="Consolas"/>
              </a:rPr>
              <a:t> </a:t>
            </a:r>
            <a:r>
              <a:rPr sz="1100" b="0">
                <a:solidFill>
                  <a:srgbClr val="E6E6E6"/>
                </a:solidFill>
                <a:latin typeface="Consolas"/>
              </a:rPr>
              <a:t>t</a:t>
            </a:r>
            <a:r>
              <a:rPr sz="1100">
                <a:solidFill>
                  <a:srgbClr val="E6E6E6"/>
                </a:solidFill>
                <a:latin typeface="Consolas"/>
              </a:rPr>
              <a:t>         </a:t>
            </a:r>
            <a:r>
              <a:rPr sz="1100" b="1">
                <a:solidFill>
                  <a:srgbClr val="FF7B72"/>
                </a:solidFill>
                <a:latin typeface="Consolas"/>
              </a:rPr>
              <a:t>ON</a:t>
            </a:r>
            <a:r>
              <a:rPr sz="1100">
                <a:solidFill>
                  <a:srgbClr val="E6E6E6"/>
                </a:solidFill>
                <a:latin typeface="Consolas"/>
              </a:rPr>
              <a:t> </a:t>
            </a:r>
            <a:r>
              <a:rPr sz="1100" b="0">
                <a:solidFill>
                  <a:srgbClr val="E6E6E6"/>
                </a:solidFill>
                <a:latin typeface="Consolas"/>
              </a:rPr>
              <a:t>il</a:t>
            </a:r>
            <a:r>
              <a:rPr sz="1100">
                <a:solidFill>
                  <a:srgbClr val="E6E6E6"/>
                </a:solidFill>
                <a:latin typeface="Consolas"/>
              </a:rPr>
              <a:t>.</a:t>
            </a:r>
            <a:r>
              <a:rPr sz="1100" b="0">
                <a:solidFill>
                  <a:srgbClr val="E6E6E6"/>
                </a:solidFill>
                <a:latin typeface="Consolas"/>
              </a:rPr>
              <a:t>track_id</a:t>
            </a:r>
            <a:r>
              <a:rPr sz="1100">
                <a:solidFill>
                  <a:srgbClr val="E6E6E6"/>
                </a:solidFill>
                <a:latin typeface="Consolas"/>
              </a:rPr>
              <a:t> = </a:t>
            </a:r>
            <a:r>
              <a:rPr sz="1100" b="0">
                <a:solidFill>
                  <a:srgbClr val="E6E6E6"/>
                </a:solidFill>
                <a:latin typeface="Consolas"/>
              </a:rPr>
              <a:t>t</a:t>
            </a:r>
            <a:r>
              <a:rPr sz="1100">
                <a:solidFill>
                  <a:srgbClr val="E6E6E6"/>
                </a:solidFill>
                <a:latin typeface="Consolas"/>
              </a:rPr>
              <a:t>.</a:t>
            </a:r>
            <a:r>
              <a:rPr sz="1100" b="0">
                <a:solidFill>
                  <a:srgbClr val="E6E6E6"/>
                </a:solidFill>
                <a:latin typeface="Consolas"/>
              </a:rPr>
              <a:t>track_id</a:t>
            </a:r>
          </a:p>
          <a:p>
            <a:pPr>
              <a:lnSpc>
                <a:spcPct val="115000"/>
              </a:lnSpc>
            </a:pPr>
            <a:r>
              <a:rPr sz="1100" b="1">
                <a:solidFill>
                  <a:srgbClr val="FF7B72"/>
                </a:solidFill>
                <a:latin typeface="Consolas"/>
              </a:rPr>
              <a:t>JOIN</a:t>
            </a:r>
            <a:r>
              <a:rPr sz="1100">
                <a:solidFill>
                  <a:srgbClr val="E6E6E6"/>
                </a:solidFill>
                <a:latin typeface="Consolas"/>
              </a:rPr>
              <a:t> </a:t>
            </a:r>
            <a:r>
              <a:rPr sz="1100" b="0">
                <a:solidFill>
                  <a:srgbClr val="E6E6E6"/>
                </a:solidFill>
                <a:latin typeface="Consolas"/>
              </a:rPr>
              <a:t>album</a:t>
            </a:r>
            <a:r>
              <a:rPr sz="1100">
                <a:solidFill>
                  <a:srgbClr val="E6E6E6"/>
                </a:solidFill>
                <a:latin typeface="Consolas"/>
              </a:rPr>
              <a:t> </a:t>
            </a:r>
            <a:r>
              <a:rPr sz="1100" b="0">
                <a:solidFill>
                  <a:srgbClr val="E6E6E6"/>
                </a:solidFill>
                <a:latin typeface="Consolas"/>
              </a:rPr>
              <a:t>al</a:t>
            </a:r>
            <a:r>
              <a:rPr sz="1100">
                <a:solidFill>
                  <a:srgbClr val="E6E6E6"/>
                </a:solidFill>
                <a:latin typeface="Consolas"/>
              </a:rPr>
              <a:t>        </a:t>
            </a:r>
            <a:r>
              <a:rPr sz="1100" b="1">
                <a:solidFill>
                  <a:srgbClr val="FF7B72"/>
                </a:solidFill>
                <a:latin typeface="Consolas"/>
              </a:rPr>
              <a:t>ON</a:t>
            </a:r>
            <a:r>
              <a:rPr sz="1100">
                <a:solidFill>
                  <a:srgbClr val="E6E6E6"/>
                </a:solidFill>
                <a:latin typeface="Consolas"/>
              </a:rPr>
              <a:t> </a:t>
            </a:r>
            <a:r>
              <a:rPr sz="1100" b="0">
                <a:solidFill>
                  <a:srgbClr val="E6E6E6"/>
                </a:solidFill>
                <a:latin typeface="Consolas"/>
              </a:rPr>
              <a:t>t</a:t>
            </a:r>
            <a:r>
              <a:rPr sz="1100">
                <a:solidFill>
                  <a:srgbClr val="E6E6E6"/>
                </a:solidFill>
                <a:latin typeface="Consolas"/>
              </a:rPr>
              <a:t>.</a:t>
            </a:r>
            <a:r>
              <a:rPr sz="1100" b="0">
                <a:solidFill>
                  <a:srgbClr val="E6E6E6"/>
                </a:solidFill>
                <a:latin typeface="Consolas"/>
              </a:rPr>
              <a:t>album_id</a:t>
            </a:r>
            <a:r>
              <a:rPr sz="1100">
                <a:solidFill>
                  <a:srgbClr val="E6E6E6"/>
                </a:solidFill>
                <a:latin typeface="Consolas"/>
              </a:rPr>
              <a:t> = </a:t>
            </a:r>
            <a:r>
              <a:rPr sz="1100" b="0">
                <a:solidFill>
                  <a:srgbClr val="E6E6E6"/>
                </a:solidFill>
                <a:latin typeface="Consolas"/>
              </a:rPr>
              <a:t>al</a:t>
            </a:r>
            <a:r>
              <a:rPr sz="1100">
                <a:solidFill>
                  <a:srgbClr val="E6E6E6"/>
                </a:solidFill>
                <a:latin typeface="Consolas"/>
              </a:rPr>
              <a:t>.</a:t>
            </a:r>
            <a:r>
              <a:rPr sz="1100" b="0">
                <a:solidFill>
                  <a:srgbClr val="E6E6E6"/>
                </a:solidFill>
                <a:latin typeface="Consolas"/>
              </a:rPr>
              <a:t>album_id</a:t>
            </a:r>
          </a:p>
          <a:p>
            <a:pPr>
              <a:lnSpc>
                <a:spcPct val="115000"/>
              </a:lnSpc>
            </a:pPr>
            <a:r>
              <a:rPr sz="1100" b="1">
                <a:solidFill>
                  <a:srgbClr val="FF7B72"/>
                </a:solidFill>
                <a:latin typeface="Consolas"/>
              </a:rPr>
              <a:t>JOIN</a:t>
            </a:r>
            <a:r>
              <a:rPr sz="1100">
                <a:solidFill>
                  <a:srgbClr val="E6E6E6"/>
                </a:solidFill>
                <a:latin typeface="Consolas"/>
              </a:rPr>
              <a:t> </a:t>
            </a:r>
            <a:r>
              <a:rPr sz="1100" b="0">
                <a:solidFill>
                  <a:srgbClr val="E6E6E6"/>
                </a:solidFill>
                <a:latin typeface="Consolas"/>
              </a:rPr>
              <a:t>artist</a:t>
            </a:r>
            <a:r>
              <a:rPr sz="1100">
                <a:solidFill>
                  <a:srgbClr val="E6E6E6"/>
                </a:solidFill>
                <a:latin typeface="Consolas"/>
              </a:rPr>
              <a:t> </a:t>
            </a:r>
            <a:r>
              <a:rPr sz="1100" b="0">
                <a:solidFill>
                  <a:srgbClr val="E6E6E6"/>
                </a:solidFill>
                <a:latin typeface="Consolas"/>
              </a:rPr>
              <a:t>a</a:t>
            </a:r>
            <a:r>
              <a:rPr sz="1100">
                <a:solidFill>
                  <a:srgbClr val="E6E6E6"/>
                </a:solidFill>
                <a:latin typeface="Consolas"/>
              </a:rPr>
              <a:t>        </a:t>
            </a:r>
            <a:r>
              <a:rPr sz="1100" b="1">
                <a:solidFill>
                  <a:srgbClr val="FF7B72"/>
                </a:solidFill>
                <a:latin typeface="Consolas"/>
              </a:rPr>
              <a:t>ON</a:t>
            </a:r>
            <a:r>
              <a:rPr sz="1100">
                <a:solidFill>
                  <a:srgbClr val="E6E6E6"/>
                </a:solidFill>
                <a:latin typeface="Consolas"/>
              </a:rPr>
              <a:t> </a:t>
            </a:r>
            <a:r>
              <a:rPr sz="1100" b="0">
                <a:solidFill>
                  <a:srgbClr val="E6E6E6"/>
                </a:solidFill>
                <a:latin typeface="Consolas"/>
              </a:rPr>
              <a:t>al</a:t>
            </a:r>
            <a:r>
              <a:rPr sz="1100">
                <a:solidFill>
                  <a:srgbClr val="E6E6E6"/>
                </a:solidFill>
                <a:latin typeface="Consolas"/>
              </a:rPr>
              <a:t>.</a:t>
            </a:r>
            <a:r>
              <a:rPr sz="1100" b="0">
                <a:solidFill>
                  <a:srgbClr val="E6E6E6"/>
                </a:solidFill>
                <a:latin typeface="Consolas"/>
              </a:rPr>
              <a:t>artist_id</a:t>
            </a:r>
            <a:r>
              <a:rPr sz="1100">
                <a:solidFill>
                  <a:srgbClr val="E6E6E6"/>
                </a:solidFill>
                <a:latin typeface="Consolas"/>
              </a:rPr>
              <a:t> = </a:t>
            </a:r>
            <a:r>
              <a:rPr sz="1100" b="0">
                <a:solidFill>
                  <a:srgbClr val="E6E6E6"/>
                </a:solidFill>
                <a:latin typeface="Consolas"/>
              </a:rPr>
              <a:t>a</a:t>
            </a:r>
            <a:r>
              <a:rPr sz="1100">
                <a:solidFill>
                  <a:srgbClr val="E6E6E6"/>
                </a:solidFill>
                <a:latin typeface="Consolas"/>
              </a:rPr>
              <a:t>.</a:t>
            </a:r>
            <a:r>
              <a:rPr sz="1100" b="0">
                <a:solidFill>
                  <a:srgbClr val="E6E6E6"/>
                </a:solidFill>
                <a:latin typeface="Consolas"/>
              </a:rPr>
              <a:t>artist_id</a:t>
            </a:r>
          </a:p>
          <a:p>
            <a:pPr>
              <a:lnSpc>
                <a:spcPct val="115000"/>
              </a:lnSpc>
            </a:pPr>
            <a:r>
              <a:rPr sz="1100" b="1">
                <a:solidFill>
                  <a:srgbClr val="FF7B72"/>
                </a:solidFill>
                <a:latin typeface="Consolas"/>
              </a:rPr>
              <a:t>GROUP</a:t>
            </a:r>
            <a:r>
              <a:rPr sz="1100">
                <a:solidFill>
                  <a:srgbClr val="E6E6E6"/>
                </a:solidFill>
                <a:latin typeface="Consolas"/>
              </a:rPr>
              <a:t> </a:t>
            </a:r>
            <a:r>
              <a:rPr sz="1100" b="1">
                <a:solidFill>
                  <a:srgbClr val="FF7B72"/>
                </a:solidFill>
                <a:latin typeface="Consolas"/>
              </a:rPr>
              <a:t>BY</a:t>
            </a:r>
            <a:r>
              <a:rPr sz="1100">
                <a:solidFill>
                  <a:srgbClr val="E6E6E6"/>
                </a:solidFill>
                <a:latin typeface="Consolas"/>
              </a:rPr>
              <a:t> </a:t>
            </a:r>
            <a:r>
              <a:rPr sz="1100" b="0">
                <a:solidFill>
                  <a:srgbClr val="E6E6E6"/>
                </a:solidFill>
                <a:latin typeface="Consolas"/>
              </a:rPr>
              <a:t>c</a:t>
            </a:r>
            <a:r>
              <a:rPr sz="1100">
                <a:solidFill>
                  <a:srgbClr val="E6E6E6"/>
                </a:solidFill>
                <a:latin typeface="Consolas"/>
              </a:rPr>
              <a:t>.</a:t>
            </a:r>
            <a:r>
              <a:rPr sz="1100" b="0">
                <a:solidFill>
                  <a:srgbClr val="E6E6E6"/>
                </a:solidFill>
                <a:latin typeface="Consolas"/>
              </a:rPr>
              <a:t>customer_id</a:t>
            </a:r>
            <a:r>
              <a:rPr sz="1100">
                <a:solidFill>
                  <a:srgbClr val="E6E6E6"/>
                </a:solidFill>
                <a:latin typeface="Consolas"/>
              </a:rPr>
              <a:t>, </a:t>
            </a:r>
            <a:r>
              <a:rPr sz="1100" b="0">
                <a:solidFill>
                  <a:srgbClr val="E6E6E6"/>
                </a:solidFill>
                <a:latin typeface="Consolas"/>
              </a:rPr>
              <a:t>c</a:t>
            </a:r>
            <a:r>
              <a:rPr sz="1100">
                <a:solidFill>
                  <a:srgbClr val="E6E6E6"/>
                </a:solidFill>
                <a:latin typeface="Consolas"/>
              </a:rPr>
              <a:t>.</a:t>
            </a:r>
            <a:r>
              <a:rPr sz="1100" b="0">
                <a:solidFill>
                  <a:srgbClr val="E6E6E6"/>
                </a:solidFill>
                <a:latin typeface="Consolas"/>
              </a:rPr>
              <a:t>first_name</a:t>
            </a:r>
            <a:r>
              <a:rPr sz="1100">
                <a:solidFill>
                  <a:srgbClr val="E6E6E6"/>
                </a:solidFill>
                <a:latin typeface="Consolas"/>
              </a:rPr>
              <a:t>, </a:t>
            </a:r>
            <a:r>
              <a:rPr sz="1100" b="0">
                <a:solidFill>
                  <a:srgbClr val="E6E6E6"/>
                </a:solidFill>
                <a:latin typeface="Consolas"/>
              </a:rPr>
              <a:t>c</a:t>
            </a:r>
            <a:r>
              <a:rPr sz="1100">
                <a:solidFill>
                  <a:srgbClr val="E6E6E6"/>
                </a:solidFill>
                <a:latin typeface="Consolas"/>
              </a:rPr>
              <a:t>.</a:t>
            </a:r>
            <a:r>
              <a:rPr sz="1100" b="0">
                <a:solidFill>
                  <a:srgbClr val="E6E6E6"/>
                </a:solidFill>
                <a:latin typeface="Consolas"/>
              </a:rPr>
              <a:t>last_name</a:t>
            </a:r>
            <a:r>
              <a:rPr sz="1100">
                <a:solidFill>
                  <a:srgbClr val="E6E6E6"/>
                </a:solidFill>
                <a:latin typeface="Consolas"/>
              </a:rPr>
              <a:t>,</a:t>
            </a:r>
          </a:p>
          <a:p>
            <a:pPr>
              <a:lnSpc>
                <a:spcPct val="115000"/>
              </a:lnSpc>
            </a:pPr>
            <a:r>
              <a:rPr sz="1100">
                <a:solidFill>
                  <a:srgbClr val="E6E6E6"/>
                </a:solidFill>
                <a:latin typeface="Consolas"/>
              </a:rPr>
              <a:t>         </a:t>
            </a:r>
            <a:r>
              <a:rPr sz="1100" b="0">
                <a:solidFill>
                  <a:srgbClr val="E6E6E6"/>
                </a:solidFill>
                <a:latin typeface="Consolas"/>
              </a:rPr>
              <a:t>a</a:t>
            </a:r>
            <a:r>
              <a:rPr sz="1100">
                <a:solidFill>
                  <a:srgbClr val="E6E6E6"/>
                </a:solidFill>
                <a:latin typeface="Consolas"/>
              </a:rPr>
              <a:t>.</a:t>
            </a:r>
            <a:r>
              <a:rPr sz="1100" b="0">
                <a:solidFill>
                  <a:srgbClr val="E6E6E6"/>
                </a:solidFill>
                <a:latin typeface="Consolas"/>
              </a:rPr>
              <a:t>artist_id</a:t>
            </a:r>
            <a:r>
              <a:rPr sz="1100">
                <a:solidFill>
                  <a:srgbClr val="E6E6E6"/>
                </a:solidFill>
                <a:latin typeface="Consolas"/>
              </a:rPr>
              <a:t>, </a:t>
            </a:r>
            <a:r>
              <a:rPr sz="1100" b="0">
                <a:solidFill>
                  <a:srgbClr val="E6E6E6"/>
                </a:solidFill>
                <a:latin typeface="Consolas"/>
              </a:rPr>
              <a:t>a</a:t>
            </a:r>
            <a:r>
              <a:rPr sz="1100">
                <a:solidFill>
                  <a:srgbClr val="E6E6E6"/>
                </a:solidFill>
                <a:latin typeface="Consolas"/>
              </a:rPr>
              <a:t>.</a:t>
            </a:r>
            <a:r>
              <a:rPr sz="1100" b="0">
                <a:solidFill>
                  <a:srgbClr val="E6E6E6"/>
                </a:solidFill>
                <a:latin typeface="Consolas"/>
              </a:rPr>
              <a:t>name</a:t>
            </a:r>
          </a:p>
          <a:p>
            <a:pPr>
              <a:lnSpc>
                <a:spcPct val="115000"/>
              </a:lnSpc>
            </a:pPr>
            <a:r>
              <a:rPr sz="1100" b="1">
                <a:solidFill>
                  <a:srgbClr val="FF7B72"/>
                </a:solidFill>
                <a:latin typeface="Consolas"/>
              </a:rPr>
              <a:t>ORDER</a:t>
            </a:r>
            <a:r>
              <a:rPr sz="1100">
                <a:solidFill>
                  <a:srgbClr val="E6E6E6"/>
                </a:solidFill>
                <a:latin typeface="Consolas"/>
              </a:rPr>
              <a:t> </a:t>
            </a:r>
            <a:r>
              <a:rPr sz="1100" b="1">
                <a:solidFill>
                  <a:srgbClr val="FF7B72"/>
                </a:solidFill>
                <a:latin typeface="Consolas"/>
              </a:rPr>
              <a:t>BY</a:t>
            </a:r>
            <a:r>
              <a:rPr sz="1100">
                <a:solidFill>
                  <a:srgbClr val="E6E6E6"/>
                </a:solidFill>
                <a:latin typeface="Consolas"/>
              </a:rPr>
              <a:t> </a:t>
            </a:r>
            <a:r>
              <a:rPr sz="1100" b="0">
                <a:solidFill>
                  <a:srgbClr val="E6E6E6"/>
                </a:solidFill>
                <a:latin typeface="Consolas"/>
              </a:rPr>
              <a:t>total_spent</a:t>
            </a:r>
            <a:r>
              <a:rPr sz="1100">
                <a:solidFill>
                  <a:srgbClr val="E6E6E6"/>
                </a:solidFill>
                <a:latin typeface="Consolas"/>
              </a:rPr>
              <a:t> </a:t>
            </a:r>
            <a:r>
              <a:rPr sz="1100" b="1">
                <a:solidFill>
                  <a:srgbClr val="FF7B72"/>
                </a:solidFill>
                <a:latin typeface="Consolas"/>
              </a:rPr>
              <a:t>DESC</a:t>
            </a:r>
            <a:r>
              <a:rPr sz="1100">
                <a:solidFill>
                  <a:srgbClr val="E6E6E6"/>
                </a:solidFill>
                <a:latin typeface="Consolas"/>
              </a:rPr>
              <a:t>;</a:t>
            </a:r>
          </a:p>
        </p:txBody>
      </p:sp>
      <p:sp>
        <p:nvSpPr>
          <p:cNvPr id="9" name="TextBox 8"/>
          <p:cNvSpPr txBox="1"/>
          <p:nvPr/>
        </p:nvSpPr>
        <p:spPr>
          <a:xfrm>
            <a:off x="6400800" y="1371600"/>
            <a:ext cx="2743200" cy="320040"/>
          </a:xfrm>
          <a:prstGeom prst="rect">
            <a:avLst/>
          </a:prstGeom>
          <a:noFill/>
        </p:spPr>
        <p:txBody>
          <a:bodyPr wrap="square" lIns="45720" tIns="18288" rIns="45720" bIns="18288" anchor="t">
            <a:spAutoFit/>
          </a:bodyPr>
          <a:lstStyle/>
          <a:p>
            <a:pPr algn="l"/>
            <a:r>
              <a:rPr sz="1100" b="1" i="0">
                <a:solidFill>
                  <a:srgbClr val="C00000"/>
                </a:solidFill>
                <a:latin typeface="Lato Black"/>
              </a:rPr>
              <a:t>OUTPUT</a:t>
            </a:r>
          </a:p>
        </p:txBody>
      </p:sp>
      <p:sp>
        <p:nvSpPr>
          <p:cNvPr id="10" name="Rectangle 9"/>
          <p:cNvSpPr/>
          <p:nvPr/>
        </p:nvSpPr>
        <p:spPr>
          <a:xfrm>
            <a:off x="6400800" y="1737360"/>
            <a:ext cx="5303520" cy="4114800"/>
          </a:xfrm>
          <a:prstGeom prst="rect">
            <a:avLst/>
          </a:prstGeom>
          <a:solidFill>
            <a:srgbClr val="FFFFFF"/>
          </a:solidFill>
          <a:ln w="9525">
            <a:solidFill>
              <a:srgbClr val="EEEE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263640"/>
            <a:ext cx="12191695" cy="50292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7200" y="6263640"/>
            <a:ext cx="11247120" cy="502920"/>
          </a:xfrm>
          <a:prstGeom prst="rect">
            <a:avLst/>
          </a:prstGeom>
          <a:noFill/>
        </p:spPr>
        <p:txBody>
          <a:bodyPr wrap="square" lIns="45720" tIns="18288" rIns="45720" bIns="18288" anchor="ctr">
            <a:spAutoFit/>
          </a:bodyPr>
          <a:lstStyle/>
          <a:p>
            <a:pPr algn="l"/>
            <a:r>
              <a:rPr sz="1400" b="1" i="0">
                <a:solidFill>
                  <a:srgbClr val="FFFFFF"/>
                </a:solidFill>
                <a:latin typeface="Calibri"/>
              </a:rPr>
              <a:t>Result:  Customer–artist spend matrix produced.</a:t>
            </a:r>
          </a:p>
        </p:txBody>
      </p:sp>
      <p:pic>
        <p:nvPicPr>
          <p:cNvPr id="14" name="Picture 13" descr="O9.png"/>
          <p:cNvPicPr>
            <a:picLocks noChangeAspect="1"/>
          </p:cNvPicPr>
          <p:nvPr/>
        </p:nvPicPr>
        <p:blipFill>
          <a:blip r:embed="rId2"/>
          <a:stretch>
            <a:fillRect/>
          </a:stretch>
        </p:blipFill>
        <p:spPr>
          <a:xfrm>
            <a:off x="7820909" y="1828800"/>
            <a:ext cx="2463301" cy="393192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11247120" cy="640080"/>
          </a:xfrm>
          <a:prstGeom prst="rect">
            <a:avLst/>
          </a:prstGeom>
          <a:noFill/>
        </p:spPr>
        <p:txBody>
          <a:bodyPr wrap="square" lIns="45720" tIns="18288" rIns="45720" bIns="18288" anchor="t">
            <a:spAutoFit/>
          </a:bodyPr>
          <a:lstStyle/>
          <a:p>
            <a:pPr algn="l"/>
            <a:r>
              <a:rPr sz="3000" b="1" i="0">
                <a:solidFill>
                  <a:srgbClr val="C00000"/>
                </a:solidFill>
                <a:latin typeface="Lato Black"/>
              </a:rPr>
              <a:t>Q10.  Most popular genre for each country (with ties)</a:t>
            </a:r>
          </a:p>
        </p:txBody>
      </p:sp>
      <p:sp>
        <p:nvSpPr>
          <p:cNvPr id="4" name="Rectangle 3"/>
          <p:cNvSpPr/>
          <p:nvPr/>
        </p:nvSpPr>
        <p:spPr>
          <a:xfrm>
            <a:off x="457200" y="841248"/>
            <a:ext cx="1097280" cy="36576"/>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371600"/>
            <a:ext cx="2743200" cy="320040"/>
          </a:xfrm>
          <a:prstGeom prst="rect">
            <a:avLst/>
          </a:prstGeom>
          <a:noFill/>
        </p:spPr>
        <p:txBody>
          <a:bodyPr wrap="square" lIns="45720" tIns="18288" rIns="45720" bIns="18288" anchor="t">
            <a:spAutoFit/>
          </a:bodyPr>
          <a:lstStyle/>
          <a:p>
            <a:pPr algn="l"/>
            <a:r>
              <a:rPr sz="1100" b="1" i="0">
                <a:solidFill>
                  <a:srgbClr val="C00000"/>
                </a:solidFill>
                <a:latin typeface="Lato Black"/>
              </a:rPr>
              <a:t>SQL  QUERY</a:t>
            </a:r>
          </a:p>
        </p:txBody>
      </p:sp>
      <p:sp>
        <p:nvSpPr>
          <p:cNvPr id="6" name="Rectangle 5"/>
          <p:cNvSpPr/>
          <p:nvPr/>
        </p:nvSpPr>
        <p:spPr>
          <a:xfrm>
            <a:off x="457200" y="1737360"/>
            <a:ext cx="5669280" cy="4114800"/>
          </a:xfrm>
          <a:prstGeom prst="rect">
            <a:avLst/>
          </a:prstGeom>
          <a:solidFill>
            <a:srgbClr val="1E2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737360"/>
            <a:ext cx="73152" cy="411480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21792" y="1828800"/>
            <a:ext cx="5440680" cy="3950208"/>
          </a:xfrm>
          <a:prstGeom prst="rect">
            <a:avLst/>
          </a:prstGeom>
          <a:noFill/>
        </p:spPr>
        <p:txBody>
          <a:bodyPr wrap="none" lIns="45720" tIns="18288" rIns="45720" bIns="18288">
            <a:spAutoFit/>
          </a:bodyPr>
          <a:lstStyle/>
          <a:p>
            <a:pPr>
              <a:lnSpc>
                <a:spcPct val="115000"/>
              </a:lnSpc>
            </a:pPr>
            <a:r>
              <a:rPr sz="900" b="1">
                <a:solidFill>
                  <a:srgbClr val="FF7B72"/>
                </a:solidFill>
                <a:latin typeface="Consolas"/>
              </a:rPr>
              <a:t>WITH</a:t>
            </a:r>
            <a:r>
              <a:rPr sz="900">
                <a:solidFill>
                  <a:srgbClr val="E6E6E6"/>
                </a:solidFill>
                <a:latin typeface="Consolas"/>
              </a:rPr>
              <a:t> </a:t>
            </a:r>
            <a:r>
              <a:rPr sz="900" b="0">
                <a:solidFill>
                  <a:srgbClr val="E6E6E6"/>
                </a:solidFill>
                <a:latin typeface="Consolas"/>
              </a:rPr>
              <a:t>country_genre</a:t>
            </a:r>
            <a:r>
              <a:rPr sz="900">
                <a:solidFill>
                  <a:srgbClr val="E6E6E6"/>
                </a:solidFill>
                <a:latin typeface="Consolas"/>
              </a:rPr>
              <a:t> </a:t>
            </a:r>
            <a:r>
              <a:rPr sz="900" b="1">
                <a:solidFill>
                  <a:srgbClr val="FF7B72"/>
                </a:solidFill>
                <a:latin typeface="Consolas"/>
              </a:rPr>
              <a:t>AS</a:t>
            </a:r>
            <a:r>
              <a:rPr sz="900">
                <a:solidFill>
                  <a:srgbClr val="E6E6E6"/>
                </a:solidFill>
                <a:latin typeface="Consolas"/>
              </a:rPr>
              <a:t> (</a:t>
            </a:r>
          </a:p>
          <a:p>
            <a:pPr>
              <a:lnSpc>
                <a:spcPct val="115000"/>
              </a:lnSpc>
            </a:pPr>
            <a:r>
              <a:rPr sz="900">
                <a:solidFill>
                  <a:srgbClr val="E6E6E6"/>
                </a:solidFill>
                <a:latin typeface="Consolas"/>
              </a:rPr>
              <a:t>    </a:t>
            </a:r>
            <a:r>
              <a:rPr sz="900" b="1">
                <a:solidFill>
                  <a:srgbClr val="FF7B72"/>
                </a:solidFill>
                <a:latin typeface="Consolas"/>
              </a:rPr>
              <a:t>SELECT</a:t>
            </a:r>
            <a:r>
              <a:rPr sz="900">
                <a:solidFill>
                  <a:srgbClr val="E6E6E6"/>
                </a:solidFill>
                <a:latin typeface="Consolas"/>
              </a:rPr>
              <a:t> </a:t>
            </a:r>
            <a:r>
              <a:rPr sz="900" b="0">
                <a:solidFill>
                  <a:srgbClr val="E6E6E6"/>
                </a:solidFill>
                <a:latin typeface="Consolas"/>
              </a:rPr>
              <a:t>i</a:t>
            </a:r>
            <a:r>
              <a:rPr sz="900">
                <a:solidFill>
                  <a:srgbClr val="E6E6E6"/>
                </a:solidFill>
                <a:latin typeface="Consolas"/>
              </a:rPr>
              <a:t>.</a:t>
            </a:r>
            <a:r>
              <a:rPr sz="900" b="0">
                <a:solidFill>
                  <a:srgbClr val="E6E6E6"/>
                </a:solidFill>
                <a:latin typeface="Consolas"/>
              </a:rPr>
              <a:t>billing_country</a:t>
            </a:r>
            <a:r>
              <a:rPr sz="900">
                <a:solidFill>
                  <a:srgbClr val="E6E6E6"/>
                </a:solidFill>
                <a:latin typeface="Consolas"/>
              </a:rPr>
              <a:t> </a:t>
            </a:r>
            <a:r>
              <a:rPr sz="900" b="1">
                <a:solidFill>
                  <a:srgbClr val="FF7B72"/>
                </a:solidFill>
                <a:latin typeface="Consolas"/>
              </a:rPr>
              <a:t>AS</a:t>
            </a:r>
            <a:r>
              <a:rPr sz="900">
                <a:solidFill>
                  <a:srgbClr val="E6E6E6"/>
                </a:solidFill>
                <a:latin typeface="Consolas"/>
              </a:rPr>
              <a:t> </a:t>
            </a:r>
            <a:r>
              <a:rPr sz="900" b="0">
                <a:solidFill>
                  <a:srgbClr val="E6E6E6"/>
                </a:solidFill>
                <a:latin typeface="Consolas"/>
              </a:rPr>
              <a:t>country</a:t>
            </a:r>
            <a:r>
              <a:rPr sz="900">
                <a:solidFill>
                  <a:srgbClr val="E6E6E6"/>
                </a:solidFill>
                <a:latin typeface="Consolas"/>
              </a:rPr>
              <a:t>, </a:t>
            </a:r>
            <a:r>
              <a:rPr sz="900" b="0">
                <a:solidFill>
                  <a:srgbClr val="E6E6E6"/>
                </a:solidFill>
                <a:latin typeface="Consolas"/>
              </a:rPr>
              <a:t>g</a:t>
            </a:r>
            <a:r>
              <a:rPr sz="900">
                <a:solidFill>
                  <a:srgbClr val="E6E6E6"/>
                </a:solidFill>
                <a:latin typeface="Consolas"/>
              </a:rPr>
              <a:t>.</a:t>
            </a:r>
            <a:r>
              <a:rPr sz="900" b="0">
                <a:solidFill>
                  <a:srgbClr val="E6E6E6"/>
                </a:solidFill>
                <a:latin typeface="Consolas"/>
              </a:rPr>
              <a:t>name</a:t>
            </a:r>
            <a:r>
              <a:rPr sz="900">
                <a:solidFill>
                  <a:srgbClr val="E6E6E6"/>
                </a:solidFill>
                <a:latin typeface="Consolas"/>
              </a:rPr>
              <a:t> </a:t>
            </a:r>
            <a:r>
              <a:rPr sz="900" b="1">
                <a:solidFill>
                  <a:srgbClr val="FF7B72"/>
                </a:solidFill>
                <a:latin typeface="Consolas"/>
              </a:rPr>
              <a:t>AS</a:t>
            </a:r>
            <a:r>
              <a:rPr sz="900">
                <a:solidFill>
                  <a:srgbClr val="E6E6E6"/>
                </a:solidFill>
                <a:latin typeface="Consolas"/>
              </a:rPr>
              <a:t> </a:t>
            </a:r>
            <a:r>
              <a:rPr sz="900" b="0">
                <a:solidFill>
                  <a:srgbClr val="E6E6E6"/>
                </a:solidFill>
                <a:latin typeface="Consolas"/>
              </a:rPr>
              <a:t>genre</a:t>
            </a:r>
            <a:r>
              <a:rPr sz="900">
                <a:solidFill>
                  <a:srgbClr val="E6E6E6"/>
                </a:solidFill>
                <a:latin typeface="Consolas"/>
              </a:rPr>
              <a:t>,</a:t>
            </a:r>
          </a:p>
          <a:p>
            <a:pPr>
              <a:lnSpc>
                <a:spcPct val="115000"/>
              </a:lnSpc>
            </a:pPr>
            <a:r>
              <a:rPr sz="900">
                <a:solidFill>
                  <a:srgbClr val="E6E6E6"/>
                </a:solidFill>
                <a:latin typeface="Consolas"/>
              </a:rPr>
              <a:t>           </a:t>
            </a:r>
            <a:r>
              <a:rPr sz="900" b="1">
                <a:solidFill>
                  <a:srgbClr val="FF7B72"/>
                </a:solidFill>
                <a:latin typeface="Consolas"/>
              </a:rPr>
              <a:t>COUNT</a:t>
            </a:r>
            <a:r>
              <a:rPr sz="900">
                <a:solidFill>
                  <a:srgbClr val="E6E6E6"/>
                </a:solidFill>
                <a:latin typeface="Consolas"/>
              </a:rPr>
              <a:t>(*) </a:t>
            </a:r>
            <a:r>
              <a:rPr sz="900" b="1">
                <a:solidFill>
                  <a:srgbClr val="FF7B72"/>
                </a:solidFill>
                <a:latin typeface="Consolas"/>
              </a:rPr>
              <a:t>AS</a:t>
            </a:r>
            <a:r>
              <a:rPr sz="900">
                <a:solidFill>
                  <a:srgbClr val="E6E6E6"/>
                </a:solidFill>
                <a:latin typeface="Consolas"/>
              </a:rPr>
              <a:t> </a:t>
            </a:r>
            <a:r>
              <a:rPr sz="900" b="0">
                <a:solidFill>
                  <a:srgbClr val="E6E6E6"/>
                </a:solidFill>
                <a:latin typeface="Consolas"/>
              </a:rPr>
              <a:t>purchases</a:t>
            </a:r>
          </a:p>
          <a:p>
            <a:pPr>
              <a:lnSpc>
                <a:spcPct val="115000"/>
              </a:lnSpc>
            </a:pPr>
            <a:r>
              <a:rPr sz="900">
                <a:solidFill>
                  <a:srgbClr val="E6E6E6"/>
                </a:solidFill>
                <a:latin typeface="Consolas"/>
              </a:rPr>
              <a:t>    </a:t>
            </a:r>
            <a:r>
              <a:rPr sz="900" b="1">
                <a:solidFill>
                  <a:srgbClr val="FF7B72"/>
                </a:solidFill>
                <a:latin typeface="Consolas"/>
              </a:rPr>
              <a:t>FROM</a:t>
            </a:r>
            <a:r>
              <a:rPr sz="900">
                <a:solidFill>
                  <a:srgbClr val="E6E6E6"/>
                </a:solidFill>
                <a:latin typeface="Consolas"/>
              </a:rPr>
              <a:t> </a:t>
            </a:r>
            <a:r>
              <a:rPr sz="900" b="0">
                <a:solidFill>
                  <a:srgbClr val="E6E6E6"/>
                </a:solidFill>
                <a:latin typeface="Consolas"/>
              </a:rPr>
              <a:t>invoice</a:t>
            </a:r>
            <a:r>
              <a:rPr sz="900">
                <a:solidFill>
                  <a:srgbClr val="E6E6E6"/>
                </a:solidFill>
                <a:latin typeface="Consolas"/>
              </a:rPr>
              <a:t> </a:t>
            </a:r>
            <a:r>
              <a:rPr sz="900" b="0">
                <a:solidFill>
                  <a:srgbClr val="E6E6E6"/>
                </a:solidFill>
                <a:latin typeface="Consolas"/>
              </a:rPr>
              <a:t>i</a:t>
            </a:r>
          </a:p>
          <a:p>
            <a:pPr>
              <a:lnSpc>
                <a:spcPct val="115000"/>
              </a:lnSpc>
            </a:pPr>
            <a:r>
              <a:rPr sz="900">
                <a:solidFill>
                  <a:srgbClr val="E6E6E6"/>
                </a:solidFill>
                <a:latin typeface="Consolas"/>
              </a:rPr>
              <a:t>    </a:t>
            </a:r>
            <a:r>
              <a:rPr sz="900" b="1">
                <a:solidFill>
                  <a:srgbClr val="FF7B72"/>
                </a:solidFill>
                <a:latin typeface="Consolas"/>
              </a:rPr>
              <a:t>JOIN</a:t>
            </a:r>
            <a:r>
              <a:rPr sz="900">
                <a:solidFill>
                  <a:srgbClr val="E6E6E6"/>
                </a:solidFill>
                <a:latin typeface="Consolas"/>
              </a:rPr>
              <a:t> </a:t>
            </a:r>
            <a:r>
              <a:rPr sz="900" b="0">
                <a:solidFill>
                  <a:srgbClr val="E6E6E6"/>
                </a:solidFill>
                <a:latin typeface="Consolas"/>
              </a:rPr>
              <a:t>invoice_line</a:t>
            </a:r>
            <a:r>
              <a:rPr sz="900">
                <a:solidFill>
                  <a:srgbClr val="E6E6E6"/>
                </a:solidFill>
                <a:latin typeface="Consolas"/>
              </a:rPr>
              <a:t> </a:t>
            </a:r>
            <a:r>
              <a:rPr sz="900" b="0">
                <a:solidFill>
                  <a:srgbClr val="E6E6E6"/>
                </a:solidFill>
                <a:latin typeface="Consolas"/>
              </a:rPr>
              <a:t>il</a:t>
            </a:r>
            <a:r>
              <a:rPr sz="900">
                <a:solidFill>
                  <a:srgbClr val="E6E6E6"/>
                </a:solidFill>
                <a:latin typeface="Consolas"/>
              </a:rPr>
              <a:t> </a:t>
            </a:r>
            <a:r>
              <a:rPr sz="900" b="1">
                <a:solidFill>
                  <a:srgbClr val="FF7B72"/>
                </a:solidFill>
                <a:latin typeface="Consolas"/>
              </a:rPr>
              <a:t>ON</a:t>
            </a:r>
            <a:r>
              <a:rPr sz="900">
                <a:solidFill>
                  <a:srgbClr val="E6E6E6"/>
                </a:solidFill>
                <a:latin typeface="Consolas"/>
              </a:rPr>
              <a:t> </a:t>
            </a:r>
            <a:r>
              <a:rPr sz="900" b="0">
                <a:solidFill>
                  <a:srgbClr val="E6E6E6"/>
                </a:solidFill>
                <a:latin typeface="Consolas"/>
              </a:rPr>
              <a:t>i</a:t>
            </a:r>
            <a:r>
              <a:rPr sz="900">
                <a:solidFill>
                  <a:srgbClr val="E6E6E6"/>
                </a:solidFill>
                <a:latin typeface="Consolas"/>
              </a:rPr>
              <a:t>.</a:t>
            </a:r>
            <a:r>
              <a:rPr sz="900" b="0">
                <a:solidFill>
                  <a:srgbClr val="E6E6E6"/>
                </a:solidFill>
                <a:latin typeface="Consolas"/>
              </a:rPr>
              <a:t>invoice_id</a:t>
            </a:r>
            <a:r>
              <a:rPr sz="900">
                <a:solidFill>
                  <a:srgbClr val="E6E6E6"/>
                </a:solidFill>
                <a:latin typeface="Consolas"/>
              </a:rPr>
              <a:t> = </a:t>
            </a:r>
            <a:r>
              <a:rPr sz="900" b="0">
                <a:solidFill>
                  <a:srgbClr val="E6E6E6"/>
                </a:solidFill>
                <a:latin typeface="Consolas"/>
              </a:rPr>
              <a:t>il</a:t>
            </a:r>
            <a:r>
              <a:rPr sz="900">
                <a:solidFill>
                  <a:srgbClr val="E6E6E6"/>
                </a:solidFill>
                <a:latin typeface="Consolas"/>
              </a:rPr>
              <a:t>.</a:t>
            </a:r>
            <a:r>
              <a:rPr sz="900" b="0">
                <a:solidFill>
                  <a:srgbClr val="E6E6E6"/>
                </a:solidFill>
                <a:latin typeface="Consolas"/>
              </a:rPr>
              <a:t>invoice_id</a:t>
            </a:r>
          </a:p>
          <a:p>
            <a:pPr>
              <a:lnSpc>
                <a:spcPct val="115000"/>
              </a:lnSpc>
            </a:pPr>
            <a:r>
              <a:rPr sz="900">
                <a:solidFill>
                  <a:srgbClr val="E6E6E6"/>
                </a:solidFill>
                <a:latin typeface="Consolas"/>
              </a:rPr>
              <a:t>    </a:t>
            </a:r>
            <a:r>
              <a:rPr sz="900" b="1">
                <a:solidFill>
                  <a:srgbClr val="FF7B72"/>
                </a:solidFill>
                <a:latin typeface="Consolas"/>
              </a:rPr>
              <a:t>JOIN</a:t>
            </a:r>
            <a:r>
              <a:rPr sz="900">
                <a:solidFill>
                  <a:srgbClr val="E6E6E6"/>
                </a:solidFill>
                <a:latin typeface="Consolas"/>
              </a:rPr>
              <a:t> </a:t>
            </a:r>
            <a:r>
              <a:rPr sz="900" b="0">
                <a:solidFill>
                  <a:srgbClr val="E6E6E6"/>
                </a:solidFill>
                <a:latin typeface="Consolas"/>
              </a:rPr>
              <a:t>track</a:t>
            </a:r>
            <a:r>
              <a:rPr sz="900">
                <a:solidFill>
                  <a:srgbClr val="E6E6E6"/>
                </a:solidFill>
                <a:latin typeface="Consolas"/>
              </a:rPr>
              <a:t> </a:t>
            </a:r>
            <a:r>
              <a:rPr sz="900" b="0">
                <a:solidFill>
                  <a:srgbClr val="E6E6E6"/>
                </a:solidFill>
                <a:latin typeface="Consolas"/>
              </a:rPr>
              <a:t>t</a:t>
            </a:r>
            <a:r>
              <a:rPr sz="900">
                <a:solidFill>
                  <a:srgbClr val="E6E6E6"/>
                </a:solidFill>
                <a:latin typeface="Consolas"/>
              </a:rPr>
              <a:t>  </a:t>
            </a:r>
            <a:r>
              <a:rPr sz="900" b="1">
                <a:solidFill>
                  <a:srgbClr val="FF7B72"/>
                </a:solidFill>
                <a:latin typeface="Consolas"/>
              </a:rPr>
              <a:t>ON</a:t>
            </a:r>
            <a:r>
              <a:rPr sz="900">
                <a:solidFill>
                  <a:srgbClr val="E6E6E6"/>
                </a:solidFill>
                <a:latin typeface="Consolas"/>
              </a:rPr>
              <a:t> </a:t>
            </a:r>
            <a:r>
              <a:rPr sz="900" b="0">
                <a:solidFill>
                  <a:srgbClr val="E6E6E6"/>
                </a:solidFill>
                <a:latin typeface="Consolas"/>
              </a:rPr>
              <a:t>il</a:t>
            </a:r>
            <a:r>
              <a:rPr sz="900">
                <a:solidFill>
                  <a:srgbClr val="E6E6E6"/>
                </a:solidFill>
                <a:latin typeface="Consolas"/>
              </a:rPr>
              <a:t>.</a:t>
            </a:r>
            <a:r>
              <a:rPr sz="900" b="0">
                <a:solidFill>
                  <a:srgbClr val="E6E6E6"/>
                </a:solidFill>
                <a:latin typeface="Consolas"/>
              </a:rPr>
              <a:t>track_id</a:t>
            </a:r>
            <a:r>
              <a:rPr sz="900">
                <a:solidFill>
                  <a:srgbClr val="E6E6E6"/>
                </a:solidFill>
                <a:latin typeface="Consolas"/>
              </a:rPr>
              <a:t> = </a:t>
            </a:r>
            <a:r>
              <a:rPr sz="900" b="0">
                <a:solidFill>
                  <a:srgbClr val="E6E6E6"/>
                </a:solidFill>
                <a:latin typeface="Consolas"/>
              </a:rPr>
              <a:t>t</a:t>
            </a:r>
            <a:r>
              <a:rPr sz="900">
                <a:solidFill>
                  <a:srgbClr val="E6E6E6"/>
                </a:solidFill>
                <a:latin typeface="Consolas"/>
              </a:rPr>
              <a:t>.</a:t>
            </a:r>
            <a:r>
              <a:rPr sz="900" b="0">
                <a:solidFill>
                  <a:srgbClr val="E6E6E6"/>
                </a:solidFill>
                <a:latin typeface="Consolas"/>
              </a:rPr>
              <a:t>track_id</a:t>
            </a:r>
          </a:p>
          <a:p>
            <a:pPr>
              <a:lnSpc>
                <a:spcPct val="115000"/>
              </a:lnSpc>
            </a:pPr>
            <a:r>
              <a:rPr sz="900">
                <a:solidFill>
                  <a:srgbClr val="E6E6E6"/>
                </a:solidFill>
                <a:latin typeface="Consolas"/>
              </a:rPr>
              <a:t>    </a:t>
            </a:r>
            <a:r>
              <a:rPr sz="900" b="1">
                <a:solidFill>
                  <a:srgbClr val="FF7B72"/>
                </a:solidFill>
                <a:latin typeface="Consolas"/>
              </a:rPr>
              <a:t>JOIN</a:t>
            </a:r>
            <a:r>
              <a:rPr sz="900">
                <a:solidFill>
                  <a:srgbClr val="E6E6E6"/>
                </a:solidFill>
                <a:latin typeface="Consolas"/>
              </a:rPr>
              <a:t> </a:t>
            </a:r>
            <a:r>
              <a:rPr sz="900" b="0">
                <a:solidFill>
                  <a:srgbClr val="E6E6E6"/>
                </a:solidFill>
                <a:latin typeface="Consolas"/>
              </a:rPr>
              <a:t>genre</a:t>
            </a:r>
            <a:r>
              <a:rPr sz="900">
                <a:solidFill>
                  <a:srgbClr val="E6E6E6"/>
                </a:solidFill>
                <a:latin typeface="Consolas"/>
              </a:rPr>
              <a:t> </a:t>
            </a:r>
            <a:r>
              <a:rPr sz="900" b="0">
                <a:solidFill>
                  <a:srgbClr val="E6E6E6"/>
                </a:solidFill>
                <a:latin typeface="Consolas"/>
              </a:rPr>
              <a:t>g</a:t>
            </a:r>
            <a:r>
              <a:rPr sz="900">
                <a:solidFill>
                  <a:srgbClr val="E6E6E6"/>
                </a:solidFill>
                <a:latin typeface="Consolas"/>
              </a:rPr>
              <a:t>  </a:t>
            </a:r>
            <a:r>
              <a:rPr sz="900" b="1">
                <a:solidFill>
                  <a:srgbClr val="FF7B72"/>
                </a:solidFill>
                <a:latin typeface="Consolas"/>
              </a:rPr>
              <a:t>ON</a:t>
            </a:r>
            <a:r>
              <a:rPr sz="900">
                <a:solidFill>
                  <a:srgbClr val="E6E6E6"/>
                </a:solidFill>
                <a:latin typeface="Consolas"/>
              </a:rPr>
              <a:t> </a:t>
            </a:r>
            <a:r>
              <a:rPr sz="900" b="0">
                <a:solidFill>
                  <a:srgbClr val="E6E6E6"/>
                </a:solidFill>
                <a:latin typeface="Consolas"/>
              </a:rPr>
              <a:t>t</a:t>
            </a:r>
            <a:r>
              <a:rPr sz="900">
                <a:solidFill>
                  <a:srgbClr val="E6E6E6"/>
                </a:solidFill>
                <a:latin typeface="Consolas"/>
              </a:rPr>
              <a:t>.</a:t>
            </a:r>
            <a:r>
              <a:rPr sz="900" b="0">
                <a:solidFill>
                  <a:srgbClr val="E6E6E6"/>
                </a:solidFill>
                <a:latin typeface="Consolas"/>
              </a:rPr>
              <a:t>genre_id</a:t>
            </a:r>
            <a:r>
              <a:rPr sz="900">
                <a:solidFill>
                  <a:srgbClr val="E6E6E6"/>
                </a:solidFill>
                <a:latin typeface="Consolas"/>
              </a:rPr>
              <a:t> = </a:t>
            </a:r>
            <a:r>
              <a:rPr sz="900" b="0">
                <a:solidFill>
                  <a:srgbClr val="E6E6E6"/>
                </a:solidFill>
                <a:latin typeface="Consolas"/>
              </a:rPr>
              <a:t>g</a:t>
            </a:r>
            <a:r>
              <a:rPr sz="900">
                <a:solidFill>
                  <a:srgbClr val="E6E6E6"/>
                </a:solidFill>
                <a:latin typeface="Consolas"/>
              </a:rPr>
              <a:t>.</a:t>
            </a:r>
            <a:r>
              <a:rPr sz="900" b="0">
                <a:solidFill>
                  <a:srgbClr val="E6E6E6"/>
                </a:solidFill>
                <a:latin typeface="Consolas"/>
              </a:rPr>
              <a:t>genre_id</a:t>
            </a:r>
          </a:p>
          <a:p>
            <a:pPr>
              <a:lnSpc>
                <a:spcPct val="115000"/>
              </a:lnSpc>
            </a:pPr>
            <a:r>
              <a:rPr sz="900">
                <a:solidFill>
                  <a:srgbClr val="E6E6E6"/>
                </a:solidFill>
                <a:latin typeface="Consolas"/>
              </a:rPr>
              <a:t>    </a:t>
            </a:r>
            <a:r>
              <a:rPr sz="900" b="1">
                <a:solidFill>
                  <a:srgbClr val="FF7B72"/>
                </a:solidFill>
                <a:latin typeface="Consolas"/>
              </a:rPr>
              <a:t>GROUP</a:t>
            </a:r>
            <a:r>
              <a:rPr sz="900">
                <a:solidFill>
                  <a:srgbClr val="E6E6E6"/>
                </a:solidFill>
                <a:latin typeface="Consolas"/>
              </a:rPr>
              <a:t> </a:t>
            </a:r>
            <a:r>
              <a:rPr sz="900" b="1">
                <a:solidFill>
                  <a:srgbClr val="FF7B72"/>
                </a:solidFill>
                <a:latin typeface="Consolas"/>
              </a:rPr>
              <a:t>BY</a:t>
            </a:r>
            <a:r>
              <a:rPr sz="900">
                <a:solidFill>
                  <a:srgbClr val="E6E6E6"/>
                </a:solidFill>
                <a:latin typeface="Consolas"/>
              </a:rPr>
              <a:t> </a:t>
            </a:r>
            <a:r>
              <a:rPr sz="900" b="0">
                <a:solidFill>
                  <a:srgbClr val="E6E6E6"/>
                </a:solidFill>
                <a:latin typeface="Consolas"/>
              </a:rPr>
              <a:t>i</a:t>
            </a:r>
            <a:r>
              <a:rPr sz="900">
                <a:solidFill>
                  <a:srgbClr val="E6E6E6"/>
                </a:solidFill>
                <a:latin typeface="Consolas"/>
              </a:rPr>
              <a:t>.</a:t>
            </a:r>
            <a:r>
              <a:rPr sz="900" b="0">
                <a:solidFill>
                  <a:srgbClr val="E6E6E6"/>
                </a:solidFill>
                <a:latin typeface="Consolas"/>
              </a:rPr>
              <a:t>billing_country</a:t>
            </a:r>
            <a:r>
              <a:rPr sz="900">
                <a:solidFill>
                  <a:srgbClr val="E6E6E6"/>
                </a:solidFill>
                <a:latin typeface="Consolas"/>
              </a:rPr>
              <a:t>, </a:t>
            </a:r>
            <a:r>
              <a:rPr sz="900" b="0">
                <a:solidFill>
                  <a:srgbClr val="E6E6E6"/>
                </a:solidFill>
                <a:latin typeface="Consolas"/>
              </a:rPr>
              <a:t>g</a:t>
            </a:r>
            <a:r>
              <a:rPr sz="900">
                <a:solidFill>
                  <a:srgbClr val="E6E6E6"/>
                </a:solidFill>
                <a:latin typeface="Consolas"/>
              </a:rPr>
              <a:t>.</a:t>
            </a:r>
            <a:r>
              <a:rPr sz="900" b="0">
                <a:solidFill>
                  <a:srgbClr val="E6E6E6"/>
                </a:solidFill>
                <a:latin typeface="Consolas"/>
              </a:rPr>
              <a:t>name</a:t>
            </a:r>
          </a:p>
          <a:p>
            <a:pPr>
              <a:lnSpc>
                <a:spcPct val="115000"/>
              </a:lnSpc>
            </a:pPr>
            <a:r>
              <a:rPr sz="900">
                <a:solidFill>
                  <a:srgbClr val="E6E6E6"/>
                </a:solidFill>
                <a:latin typeface="Consolas"/>
              </a:rPr>
              <a:t>),</a:t>
            </a:r>
          </a:p>
          <a:p>
            <a:pPr>
              <a:lnSpc>
                <a:spcPct val="115000"/>
              </a:lnSpc>
            </a:pPr>
            <a:r>
              <a:rPr sz="900" b="0">
                <a:solidFill>
                  <a:srgbClr val="E6E6E6"/>
                </a:solidFill>
                <a:latin typeface="Consolas"/>
              </a:rPr>
              <a:t>ranked</a:t>
            </a:r>
            <a:r>
              <a:rPr sz="900">
                <a:solidFill>
                  <a:srgbClr val="E6E6E6"/>
                </a:solidFill>
                <a:latin typeface="Consolas"/>
              </a:rPr>
              <a:t> </a:t>
            </a:r>
            <a:r>
              <a:rPr sz="900" b="1">
                <a:solidFill>
                  <a:srgbClr val="FF7B72"/>
                </a:solidFill>
                <a:latin typeface="Consolas"/>
              </a:rPr>
              <a:t>AS</a:t>
            </a:r>
            <a:r>
              <a:rPr sz="900">
                <a:solidFill>
                  <a:srgbClr val="E6E6E6"/>
                </a:solidFill>
                <a:latin typeface="Consolas"/>
              </a:rPr>
              <a:t> (</a:t>
            </a:r>
          </a:p>
          <a:p>
            <a:pPr>
              <a:lnSpc>
                <a:spcPct val="115000"/>
              </a:lnSpc>
            </a:pPr>
            <a:r>
              <a:rPr sz="900">
                <a:solidFill>
                  <a:srgbClr val="E6E6E6"/>
                </a:solidFill>
                <a:latin typeface="Consolas"/>
              </a:rPr>
              <a:t>    </a:t>
            </a:r>
            <a:r>
              <a:rPr sz="900" b="1">
                <a:solidFill>
                  <a:srgbClr val="FF7B72"/>
                </a:solidFill>
                <a:latin typeface="Consolas"/>
              </a:rPr>
              <a:t>SELECT</a:t>
            </a:r>
            <a:r>
              <a:rPr sz="900">
                <a:solidFill>
                  <a:srgbClr val="E6E6E6"/>
                </a:solidFill>
                <a:latin typeface="Consolas"/>
              </a:rPr>
              <a:t> </a:t>
            </a:r>
            <a:r>
              <a:rPr sz="900" b="0">
                <a:solidFill>
                  <a:srgbClr val="E6E6E6"/>
                </a:solidFill>
                <a:latin typeface="Consolas"/>
              </a:rPr>
              <a:t>country</a:t>
            </a:r>
            <a:r>
              <a:rPr sz="900">
                <a:solidFill>
                  <a:srgbClr val="E6E6E6"/>
                </a:solidFill>
                <a:latin typeface="Consolas"/>
              </a:rPr>
              <a:t>, </a:t>
            </a:r>
            <a:r>
              <a:rPr sz="900" b="0">
                <a:solidFill>
                  <a:srgbClr val="E6E6E6"/>
                </a:solidFill>
                <a:latin typeface="Consolas"/>
              </a:rPr>
              <a:t>genre</a:t>
            </a:r>
            <a:r>
              <a:rPr sz="900">
                <a:solidFill>
                  <a:srgbClr val="E6E6E6"/>
                </a:solidFill>
                <a:latin typeface="Consolas"/>
              </a:rPr>
              <a:t>, </a:t>
            </a:r>
            <a:r>
              <a:rPr sz="900" b="0">
                <a:solidFill>
                  <a:srgbClr val="E6E6E6"/>
                </a:solidFill>
                <a:latin typeface="Consolas"/>
              </a:rPr>
              <a:t>purchases</a:t>
            </a:r>
            <a:r>
              <a:rPr sz="900">
                <a:solidFill>
                  <a:srgbClr val="E6E6E6"/>
                </a:solidFill>
                <a:latin typeface="Consolas"/>
              </a:rPr>
              <a:t>,</a:t>
            </a:r>
          </a:p>
          <a:p>
            <a:pPr>
              <a:lnSpc>
                <a:spcPct val="115000"/>
              </a:lnSpc>
            </a:pPr>
            <a:r>
              <a:rPr sz="900">
                <a:solidFill>
                  <a:srgbClr val="E6E6E6"/>
                </a:solidFill>
                <a:latin typeface="Consolas"/>
              </a:rPr>
              <a:t>           </a:t>
            </a:r>
            <a:r>
              <a:rPr sz="900" b="1">
                <a:solidFill>
                  <a:srgbClr val="FF7B72"/>
                </a:solidFill>
                <a:latin typeface="Consolas"/>
              </a:rPr>
              <a:t>DENSE_RANK</a:t>
            </a:r>
            <a:r>
              <a:rPr sz="900">
                <a:solidFill>
                  <a:srgbClr val="E6E6E6"/>
                </a:solidFill>
                <a:latin typeface="Consolas"/>
              </a:rPr>
              <a:t>() </a:t>
            </a:r>
            <a:r>
              <a:rPr sz="900" b="1">
                <a:solidFill>
                  <a:srgbClr val="FF7B72"/>
                </a:solidFill>
                <a:latin typeface="Consolas"/>
              </a:rPr>
              <a:t>OVER</a:t>
            </a:r>
            <a:r>
              <a:rPr sz="900">
                <a:solidFill>
                  <a:srgbClr val="E6E6E6"/>
                </a:solidFill>
                <a:latin typeface="Consolas"/>
              </a:rPr>
              <a:t> (</a:t>
            </a:r>
            <a:r>
              <a:rPr sz="900" b="1">
                <a:solidFill>
                  <a:srgbClr val="FF7B72"/>
                </a:solidFill>
                <a:latin typeface="Consolas"/>
              </a:rPr>
              <a:t>PARTITION</a:t>
            </a:r>
            <a:r>
              <a:rPr sz="900">
                <a:solidFill>
                  <a:srgbClr val="E6E6E6"/>
                </a:solidFill>
                <a:latin typeface="Consolas"/>
              </a:rPr>
              <a:t> </a:t>
            </a:r>
            <a:r>
              <a:rPr sz="900" b="1">
                <a:solidFill>
                  <a:srgbClr val="FF7B72"/>
                </a:solidFill>
                <a:latin typeface="Consolas"/>
              </a:rPr>
              <a:t>BY</a:t>
            </a:r>
            <a:r>
              <a:rPr sz="900">
                <a:solidFill>
                  <a:srgbClr val="E6E6E6"/>
                </a:solidFill>
                <a:latin typeface="Consolas"/>
              </a:rPr>
              <a:t> </a:t>
            </a:r>
            <a:r>
              <a:rPr sz="900" b="0">
                <a:solidFill>
                  <a:srgbClr val="E6E6E6"/>
                </a:solidFill>
                <a:latin typeface="Consolas"/>
              </a:rPr>
              <a:t>country</a:t>
            </a:r>
          </a:p>
          <a:p>
            <a:pPr>
              <a:lnSpc>
                <a:spcPct val="115000"/>
              </a:lnSpc>
            </a:pPr>
            <a:r>
              <a:rPr sz="900">
                <a:solidFill>
                  <a:srgbClr val="E6E6E6"/>
                </a:solidFill>
                <a:latin typeface="Consolas"/>
              </a:rPr>
              <a:t>                              </a:t>
            </a:r>
            <a:r>
              <a:rPr sz="900" b="1">
                <a:solidFill>
                  <a:srgbClr val="FF7B72"/>
                </a:solidFill>
                <a:latin typeface="Consolas"/>
              </a:rPr>
              <a:t>ORDER</a:t>
            </a:r>
            <a:r>
              <a:rPr sz="900">
                <a:solidFill>
                  <a:srgbClr val="E6E6E6"/>
                </a:solidFill>
                <a:latin typeface="Consolas"/>
              </a:rPr>
              <a:t> </a:t>
            </a:r>
            <a:r>
              <a:rPr sz="900" b="1">
                <a:solidFill>
                  <a:srgbClr val="FF7B72"/>
                </a:solidFill>
                <a:latin typeface="Consolas"/>
              </a:rPr>
              <a:t>BY</a:t>
            </a:r>
            <a:r>
              <a:rPr sz="900">
                <a:solidFill>
                  <a:srgbClr val="E6E6E6"/>
                </a:solidFill>
                <a:latin typeface="Consolas"/>
              </a:rPr>
              <a:t> </a:t>
            </a:r>
            <a:r>
              <a:rPr sz="900" b="0">
                <a:solidFill>
                  <a:srgbClr val="E6E6E6"/>
                </a:solidFill>
                <a:latin typeface="Consolas"/>
              </a:rPr>
              <a:t>purchases</a:t>
            </a:r>
            <a:r>
              <a:rPr sz="900">
                <a:solidFill>
                  <a:srgbClr val="E6E6E6"/>
                </a:solidFill>
                <a:latin typeface="Consolas"/>
              </a:rPr>
              <a:t> </a:t>
            </a:r>
            <a:r>
              <a:rPr sz="900" b="1">
                <a:solidFill>
                  <a:srgbClr val="FF7B72"/>
                </a:solidFill>
                <a:latin typeface="Consolas"/>
              </a:rPr>
              <a:t>DESC</a:t>
            </a:r>
            <a:r>
              <a:rPr sz="900">
                <a:solidFill>
                  <a:srgbClr val="E6E6E6"/>
                </a:solidFill>
                <a:latin typeface="Consolas"/>
              </a:rPr>
              <a:t>) </a:t>
            </a:r>
            <a:r>
              <a:rPr sz="900" b="1">
                <a:solidFill>
                  <a:srgbClr val="FF7B72"/>
                </a:solidFill>
                <a:latin typeface="Consolas"/>
              </a:rPr>
              <a:t>AS</a:t>
            </a:r>
            <a:r>
              <a:rPr sz="900">
                <a:solidFill>
                  <a:srgbClr val="E6E6E6"/>
                </a:solidFill>
                <a:latin typeface="Consolas"/>
              </a:rPr>
              <a:t> </a:t>
            </a:r>
            <a:r>
              <a:rPr sz="900" b="0">
                <a:solidFill>
                  <a:srgbClr val="E6E6E6"/>
                </a:solidFill>
                <a:latin typeface="Consolas"/>
              </a:rPr>
              <a:t>rk</a:t>
            </a:r>
          </a:p>
          <a:p>
            <a:pPr>
              <a:lnSpc>
                <a:spcPct val="115000"/>
              </a:lnSpc>
            </a:pPr>
            <a:r>
              <a:rPr sz="900">
                <a:solidFill>
                  <a:srgbClr val="E6E6E6"/>
                </a:solidFill>
                <a:latin typeface="Consolas"/>
              </a:rPr>
              <a:t>    </a:t>
            </a:r>
            <a:r>
              <a:rPr sz="900" b="1">
                <a:solidFill>
                  <a:srgbClr val="FF7B72"/>
                </a:solidFill>
                <a:latin typeface="Consolas"/>
              </a:rPr>
              <a:t>FROM</a:t>
            </a:r>
            <a:r>
              <a:rPr sz="900">
                <a:solidFill>
                  <a:srgbClr val="E6E6E6"/>
                </a:solidFill>
                <a:latin typeface="Consolas"/>
              </a:rPr>
              <a:t> </a:t>
            </a:r>
            <a:r>
              <a:rPr sz="900" b="0">
                <a:solidFill>
                  <a:srgbClr val="E6E6E6"/>
                </a:solidFill>
                <a:latin typeface="Consolas"/>
              </a:rPr>
              <a:t>country_genre</a:t>
            </a:r>
          </a:p>
          <a:p>
            <a:pPr>
              <a:lnSpc>
                <a:spcPct val="115000"/>
              </a:lnSpc>
            </a:pPr>
            <a:r>
              <a:rPr sz="900">
                <a:solidFill>
                  <a:srgbClr val="E6E6E6"/>
                </a:solidFill>
                <a:latin typeface="Consolas"/>
              </a:rPr>
              <a:t>)</a:t>
            </a:r>
          </a:p>
          <a:p>
            <a:pPr>
              <a:lnSpc>
                <a:spcPct val="115000"/>
              </a:lnSpc>
            </a:pPr>
            <a:r>
              <a:rPr sz="900" b="1">
                <a:solidFill>
                  <a:srgbClr val="FF7B72"/>
                </a:solidFill>
                <a:latin typeface="Consolas"/>
              </a:rPr>
              <a:t>SELECT</a:t>
            </a:r>
            <a:r>
              <a:rPr sz="900">
                <a:solidFill>
                  <a:srgbClr val="E6E6E6"/>
                </a:solidFill>
                <a:latin typeface="Consolas"/>
              </a:rPr>
              <a:t> </a:t>
            </a:r>
            <a:r>
              <a:rPr sz="900" b="0">
                <a:solidFill>
                  <a:srgbClr val="E6E6E6"/>
                </a:solidFill>
                <a:latin typeface="Consolas"/>
              </a:rPr>
              <a:t>country</a:t>
            </a:r>
            <a:r>
              <a:rPr sz="900">
                <a:solidFill>
                  <a:srgbClr val="E6E6E6"/>
                </a:solidFill>
                <a:latin typeface="Consolas"/>
              </a:rPr>
              <a:t>, </a:t>
            </a:r>
            <a:r>
              <a:rPr sz="900" b="0">
                <a:solidFill>
                  <a:srgbClr val="E6E6E6"/>
                </a:solidFill>
                <a:latin typeface="Consolas"/>
              </a:rPr>
              <a:t>genre</a:t>
            </a:r>
            <a:r>
              <a:rPr sz="900">
                <a:solidFill>
                  <a:srgbClr val="E6E6E6"/>
                </a:solidFill>
                <a:latin typeface="Consolas"/>
              </a:rPr>
              <a:t>, </a:t>
            </a:r>
            <a:r>
              <a:rPr sz="900" b="0">
                <a:solidFill>
                  <a:srgbClr val="E6E6E6"/>
                </a:solidFill>
                <a:latin typeface="Consolas"/>
              </a:rPr>
              <a:t>purchases</a:t>
            </a:r>
          </a:p>
          <a:p>
            <a:pPr>
              <a:lnSpc>
                <a:spcPct val="115000"/>
              </a:lnSpc>
            </a:pPr>
            <a:r>
              <a:rPr sz="900" b="1">
                <a:solidFill>
                  <a:srgbClr val="FF7B72"/>
                </a:solidFill>
                <a:latin typeface="Consolas"/>
              </a:rPr>
              <a:t>FROM</a:t>
            </a:r>
            <a:r>
              <a:rPr sz="900">
                <a:solidFill>
                  <a:srgbClr val="E6E6E6"/>
                </a:solidFill>
                <a:latin typeface="Consolas"/>
              </a:rPr>
              <a:t> </a:t>
            </a:r>
            <a:r>
              <a:rPr sz="900" b="0">
                <a:solidFill>
                  <a:srgbClr val="E6E6E6"/>
                </a:solidFill>
                <a:latin typeface="Consolas"/>
              </a:rPr>
              <a:t>ranked</a:t>
            </a:r>
          </a:p>
          <a:p>
            <a:pPr>
              <a:lnSpc>
                <a:spcPct val="115000"/>
              </a:lnSpc>
            </a:pPr>
            <a:r>
              <a:rPr sz="900" b="1">
                <a:solidFill>
                  <a:srgbClr val="FF7B72"/>
                </a:solidFill>
                <a:latin typeface="Consolas"/>
              </a:rPr>
              <a:t>WHERE</a:t>
            </a:r>
            <a:r>
              <a:rPr sz="900">
                <a:solidFill>
                  <a:srgbClr val="E6E6E6"/>
                </a:solidFill>
                <a:latin typeface="Consolas"/>
              </a:rPr>
              <a:t> </a:t>
            </a:r>
            <a:r>
              <a:rPr sz="900" b="0">
                <a:solidFill>
                  <a:srgbClr val="E6E6E6"/>
                </a:solidFill>
                <a:latin typeface="Consolas"/>
              </a:rPr>
              <a:t>rk</a:t>
            </a:r>
            <a:r>
              <a:rPr sz="900">
                <a:solidFill>
                  <a:srgbClr val="E6E6E6"/>
                </a:solidFill>
                <a:latin typeface="Consolas"/>
              </a:rPr>
              <a:t> = </a:t>
            </a:r>
            <a:r>
              <a:rPr sz="900" b="0">
                <a:solidFill>
                  <a:srgbClr val="E6E6E6"/>
                </a:solidFill>
                <a:latin typeface="Consolas"/>
              </a:rPr>
              <a:t>1</a:t>
            </a:r>
          </a:p>
          <a:p>
            <a:pPr>
              <a:lnSpc>
                <a:spcPct val="115000"/>
              </a:lnSpc>
            </a:pPr>
            <a:r>
              <a:rPr sz="900" b="1">
                <a:solidFill>
                  <a:srgbClr val="FF7B72"/>
                </a:solidFill>
                <a:latin typeface="Consolas"/>
              </a:rPr>
              <a:t>ORDER</a:t>
            </a:r>
            <a:r>
              <a:rPr sz="900">
                <a:solidFill>
                  <a:srgbClr val="E6E6E6"/>
                </a:solidFill>
                <a:latin typeface="Consolas"/>
              </a:rPr>
              <a:t> </a:t>
            </a:r>
            <a:r>
              <a:rPr sz="900" b="1">
                <a:solidFill>
                  <a:srgbClr val="FF7B72"/>
                </a:solidFill>
                <a:latin typeface="Consolas"/>
              </a:rPr>
              <a:t>BY</a:t>
            </a:r>
            <a:r>
              <a:rPr sz="900">
                <a:solidFill>
                  <a:srgbClr val="E6E6E6"/>
                </a:solidFill>
                <a:latin typeface="Consolas"/>
              </a:rPr>
              <a:t> </a:t>
            </a:r>
            <a:r>
              <a:rPr sz="900" b="0">
                <a:solidFill>
                  <a:srgbClr val="E6E6E6"/>
                </a:solidFill>
                <a:latin typeface="Consolas"/>
              </a:rPr>
              <a:t>country</a:t>
            </a:r>
            <a:r>
              <a:rPr sz="900">
                <a:solidFill>
                  <a:srgbClr val="E6E6E6"/>
                </a:solidFill>
                <a:latin typeface="Consolas"/>
              </a:rPr>
              <a:t>;</a:t>
            </a:r>
          </a:p>
        </p:txBody>
      </p:sp>
      <p:sp>
        <p:nvSpPr>
          <p:cNvPr id="9" name="TextBox 8"/>
          <p:cNvSpPr txBox="1"/>
          <p:nvPr/>
        </p:nvSpPr>
        <p:spPr>
          <a:xfrm>
            <a:off x="6400800" y="1371600"/>
            <a:ext cx="2743200" cy="320040"/>
          </a:xfrm>
          <a:prstGeom prst="rect">
            <a:avLst/>
          </a:prstGeom>
          <a:noFill/>
        </p:spPr>
        <p:txBody>
          <a:bodyPr wrap="square" lIns="45720" tIns="18288" rIns="45720" bIns="18288" anchor="t">
            <a:spAutoFit/>
          </a:bodyPr>
          <a:lstStyle/>
          <a:p>
            <a:pPr algn="l"/>
            <a:r>
              <a:rPr sz="1100" b="1" i="0">
                <a:solidFill>
                  <a:srgbClr val="C00000"/>
                </a:solidFill>
                <a:latin typeface="Lato Black"/>
              </a:rPr>
              <a:t>OUTPUT</a:t>
            </a:r>
          </a:p>
        </p:txBody>
      </p:sp>
      <p:sp>
        <p:nvSpPr>
          <p:cNvPr id="10" name="Rectangle 9"/>
          <p:cNvSpPr/>
          <p:nvPr/>
        </p:nvSpPr>
        <p:spPr>
          <a:xfrm>
            <a:off x="6400800" y="1737360"/>
            <a:ext cx="5303520" cy="4114800"/>
          </a:xfrm>
          <a:prstGeom prst="rect">
            <a:avLst/>
          </a:prstGeom>
          <a:solidFill>
            <a:srgbClr val="FFFFFF"/>
          </a:solidFill>
          <a:ln w="9525">
            <a:solidFill>
              <a:srgbClr val="EEEE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263640"/>
            <a:ext cx="12191695" cy="50292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7200" y="6263640"/>
            <a:ext cx="11247120" cy="502920"/>
          </a:xfrm>
          <a:prstGeom prst="rect">
            <a:avLst/>
          </a:prstGeom>
          <a:noFill/>
        </p:spPr>
        <p:txBody>
          <a:bodyPr wrap="square" lIns="45720" tIns="18288" rIns="45720" bIns="18288" anchor="ctr">
            <a:spAutoFit/>
          </a:bodyPr>
          <a:lstStyle/>
          <a:p>
            <a:pPr algn="l"/>
            <a:r>
              <a:rPr sz="1400" b="1" i="0">
                <a:solidFill>
                  <a:srgbClr val="FFFFFF"/>
                </a:solidFill>
                <a:latin typeface="Calibri"/>
              </a:rPr>
              <a:t>Result:  Rock dominates most countries; ties handled via DENSE_RANK.</a:t>
            </a:r>
          </a:p>
        </p:txBody>
      </p:sp>
      <p:pic>
        <p:nvPicPr>
          <p:cNvPr id="14" name="Picture 13" descr="O10.png"/>
          <p:cNvPicPr>
            <a:picLocks noChangeAspect="1"/>
          </p:cNvPicPr>
          <p:nvPr/>
        </p:nvPicPr>
        <p:blipFill>
          <a:blip r:embed="rId2"/>
          <a:stretch>
            <a:fillRect/>
          </a:stretch>
        </p:blipFill>
        <p:spPr>
          <a:xfrm>
            <a:off x="7782877" y="1828800"/>
            <a:ext cx="2539365" cy="393192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11247120" cy="640080"/>
          </a:xfrm>
          <a:prstGeom prst="rect">
            <a:avLst/>
          </a:prstGeom>
          <a:noFill/>
        </p:spPr>
        <p:txBody>
          <a:bodyPr wrap="square" lIns="45720" tIns="18288" rIns="45720" bIns="18288" anchor="t">
            <a:spAutoFit/>
          </a:bodyPr>
          <a:lstStyle/>
          <a:p>
            <a:pPr algn="l"/>
            <a:r>
              <a:rPr sz="3000" b="1" i="0">
                <a:solidFill>
                  <a:srgbClr val="C00000"/>
                </a:solidFill>
                <a:latin typeface="Lato Black"/>
              </a:rPr>
              <a:t>Q11.  Top customer for each country (with ties)</a:t>
            </a:r>
          </a:p>
        </p:txBody>
      </p:sp>
      <p:sp>
        <p:nvSpPr>
          <p:cNvPr id="4" name="Rectangle 3"/>
          <p:cNvSpPr/>
          <p:nvPr/>
        </p:nvSpPr>
        <p:spPr>
          <a:xfrm>
            <a:off x="457200" y="841248"/>
            <a:ext cx="1097280" cy="36576"/>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371600"/>
            <a:ext cx="2743200" cy="320040"/>
          </a:xfrm>
          <a:prstGeom prst="rect">
            <a:avLst/>
          </a:prstGeom>
          <a:noFill/>
        </p:spPr>
        <p:txBody>
          <a:bodyPr wrap="square" lIns="45720" tIns="18288" rIns="45720" bIns="18288" anchor="t">
            <a:spAutoFit/>
          </a:bodyPr>
          <a:lstStyle/>
          <a:p>
            <a:pPr algn="l"/>
            <a:r>
              <a:rPr sz="1100" b="1" i="0">
                <a:solidFill>
                  <a:srgbClr val="C00000"/>
                </a:solidFill>
                <a:latin typeface="Lato Black"/>
              </a:rPr>
              <a:t>SQL  QUERY</a:t>
            </a:r>
          </a:p>
        </p:txBody>
      </p:sp>
      <p:sp>
        <p:nvSpPr>
          <p:cNvPr id="6" name="Rectangle 5"/>
          <p:cNvSpPr/>
          <p:nvPr/>
        </p:nvSpPr>
        <p:spPr>
          <a:xfrm>
            <a:off x="457200" y="1737360"/>
            <a:ext cx="5669280" cy="4114800"/>
          </a:xfrm>
          <a:prstGeom prst="rect">
            <a:avLst/>
          </a:prstGeom>
          <a:solidFill>
            <a:srgbClr val="1E2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737360"/>
            <a:ext cx="73152" cy="411480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21792" y="1828800"/>
            <a:ext cx="5440680" cy="3950208"/>
          </a:xfrm>
          <a:prstGeom prst="rect">
            <a:avLst/>
          </a:prstGeom>
          <a:noFill/>
        </p:spPr>
        <p:txBody>
          <a:bodyPr wrap="none" lIns="45720" tIns="18288" rIns="45720" bIns="18288">
            <a:spAutoFit/>
          </a:bodyPr>
          <a:lstStyle/>
          <a:p>
            <a:pPr>
              <a:lnSpc>
                <a:spcPct val="115000"/>
              </a:lnSpc>
            </a:pPr>
            <a:r>
              <a:rPr sz="900" b="1">
                <a:solidFill>
                  <a:srgbClr val="FF7B72"/>
                </a:solidFill>
                <a:latin typeface="Consolas"/>
              </a:rPr>
              <a:t>WITH</a:t>
            </a:r>
            <a:r>
              <a:rPr sz="900">
                <a:solidFill>
                  <a:srgbClr val="E6E6E6"/>
                </a:solidFill>
                <a:latin typeface="Consolas"/>
              </a:rPr>
              <a:t> </a:t>
            </a:r>
            <a:r>
              <a:rPr sz="900" b="0">
                <a:solidFill>
                  <a:srgbClr val="E6E6E6"/>
                </a:solidFill>
                <a:latin typeface="Consolas"/>
              </a:rPr>
              <a:t>country_customer</a:t>
            </a:r>
            <a:r>
              <a:rPr sz="900">
                <a:solidFill>
                  <a:srgbClr val="E6E6E6"/>
                </a:solidFill>
                <a:latin typeface="Consolas"/>
              </a:rPr>
              <a:t> </a:t>
            </a:r>
            <a:r>
              <a:rPr sz="900" b="1">
                <a:solidFill>
                  <a:srgbClr val="FF7B72"/>
                </a:solidFill>
                <a:latin typeface="Consolas"/>
              </a:rPr>
              <a:t>AS</a:t>
            </a:r>
            <a:r>
              <a:rPr sz="900">
                <a:solidFill>
                  <a:srgbClr val="E6E6E6"/>
                </a:solidFill>
                <a:latin typeface="Consolas"/>
              </a:rPr>
              <a:t> (</a:t>
            </a:r>
          </a:p>
          <a:p>
            <a:pPr>
              <a:lnSpc>
                <a:spcPct val="115000"/>
              </a:lnSpc>
            </a:pPr>
            <a:r>
              <a:rPr sz="900">
                <a:solidFill>
                  <a:srgbClr val="E6E6E6"/>
                </a:solidFill>
                <a:latin typeface="Consolas"/>
              </a:rPr>
              <a:t>    </a:t>
            </a:r>
            <a:r>
              <a:rPr sz="900" b="1">
                <a:solidFill>
                  <a:srgbClr val="FF7B72"/>
                </a:solidFill>
                <a:latin typeface="Consolas"/>
              </a:rPr>
              <a:t>SELECT</a:t>
            </a:r>
            <a:r>
              <a:rPr sz="900">
                <a:solidFill>
                  <a:srgbClr val="E6E6E6"/>
                </a:solidFill>
                <a:latin typeface="Consolas"/>
              </a:rPr>
              <a:t> </a:t>
            </a:r>
            <a:r>
              <a:rPr sz="900" b="0">
                <a:solidFill>
                  <a:srgbClr val="E6E6E6"/>
                </a:solidFill>
                <a:latin typeface="Consolas"/>
              </a:rPr>
              <a:t>i</a:t>
            </a:r>
            <a:r>
              <a:rPr sz="900">
                <a:solidFill>
                  <a:srgbClr val="E6E6E6"/>
                </a:solidFill>
                <a:latin typeface="Consolas"/>
              </a:rPr>
              <a:t>.</a:t>
            </a:r>
            <a:r>
              <a:rPr sz="900" b="0">
                <a:solidFill>
                  <a:srgbClr val="E6E6E6"/>
                </a:solidFill>
                <a:latin typeface="Consolas"/>
              </a:rPr>
              <a:t>billing_country</a:t>
            </a:r>
            <a:r>
              <a:rPr sz="900">
                <a:solidFill>
                  <a:srgbClr val="E6E6E6"/>
                </a:solidFill>
                <a:latin typeface="Consolas"/>
              </a:rPr>
              <a:t> </a:t>
            </a:r>
            <a:r>
              <a:rPr sz="900" b="1">
                <a:solidFill>
                  <a:srgbClr val="FF7B72"/>
                </a:solidFill>
                <a:latin typeface="Consolas"/>
              </a:rPr>
              <a:t>AS</a:t>
            </a:r>
            <a:r>
              <a:rPr sz="900">
                <a:solidFill>
                  <a:srgbClr val="E6E6E6"/>
                </a:solidFill>
                <a:latin typeface="Consolas"/>
              </a:rPr>
              <a:t> </a:t>
            </a:r>
            <a:r>
              <a:rPr sz="900" b="0">
                <a:solidFill>
                  <a:srgbClr val="E6E6E6"/>
                </a:solidFill>
                <a:latin typeface="Consolas"/>
              </a:rPr>
              <a:t>country</a:t>
            </a:r>
            <a:r>
              <a:rPr sz="900">
                <a:solidFill>
                  <a:srgbClr val="E6E6E6"/>
                </a:solidFill>
                <a:latin typeface="Consolas"/>
              </a:rPr>
              <a:t>, </a:t>
            </a:r>
            <a:r>
              <a:rPr sz="900" b="0">
                <a:solidFill>
                  <a:srgbClr val="E6E6E6"/>
                </a:solidFill>
                <a:latin typeface="Consolas"/>
              </a:rPr>
              <a:t>c</a:t>
            </a:r>
            <a:r>
              <a:rPr sz="900">
                <a:solidFill>
                  <a:srgbClr val="E6E6E6"/>
                </a:solidFill>
                <a:latin typeface="Consolas"/>
              </a:rPr>
              <a:t>.</a:t>
            </a:r>
            <a:r>
              <a:rPr sz="900" b="0">
                <a:solidFill>
                  <a:srgbClr val="E6E6E6"/>
                </a:solidFill>
                <a:latin typeface="Consolas"/>
              </a:rPr>
              <a:t>customer_id</a:t>
            </a:r>
            <a:r>
              <a:rPr sz="900">
                <a:solidFill>
                  <a:srgbClr val="E6E6E6"/>
                </a:solidFill>
                <a:latin typeface="Consolas"/>
              </a:rPr>
              <a:t>,</a:t>
            </a:r>
          </a:p>
          <a:p>
            <a:pPr>
              <a:lnSpc>
                <a:spcPct val="115000"/>
              </a:lnSpc>
            </a:pPr>
            <a:r>
              <a:rPr sz="900">
                <a:solidFill>
                  <a:srgbClr val="E6E6E6"/>
                </a:solidFill>
                <a:latin typeface="Consolas"/>
              </a:rPr>
              <a:t>           </a:t>
            </a:r>
            <a:r>
              <a:rPr sz="900" b="0">
                <a:solidFill>
                  <a:srgbClr val="E6E6E6"/>
                </a:solidFill>
                <a:latin typeface="Consolas"/>
              </a:rPr>
              <a:t>c</a:t>
            </a:r>
            <a:r>
              <a:rPr sz="900">
                <a:solidFill>
                  <a:srgbClr val="E6E6E6"/>
                </a:solidFill>
                <a:latin typeface="Consolas"/>
              </a:rPr>
              <a:t>.</a:t>
            </a:r>
            <a:r>
              <a:rPr sz="900" b="0">
                <a:solidFill>
                  <a:srgbClr val="E6E6E6"/>
                </a:solidFill>
                <a:latin typeface="Consolas"/>
              </a:rPr>
              <a:t>first_name</a:t>
            </a:r>
            <a:r>
              <a:rPr sz="900">
                <a:solidFill>
                  <a:srgbClr val="E6E6E6"/>
                </a:solidFill>
                <a:latin typeface="Consolas"/>
              </a:rPr>
              <a:t>, </a:t>
            </a:r>
            <a:r>
              <a:rPr sz="900" b="0">
                <a:solidFill>
                  <a:srgbClr val="E6E6E6"/>
                </a:solidFill>
                <a:latin typeface="Consolas"/>
              </a:rPr>
              <a:t>c</a:t>
            </a:r>
            <a:r>
              <a:rPr sz="900">
                <a:solidFill>
                  <a:srgbClr val="E6E6E6"/>
                </a:solidFill>
                <a:latin typeface="Consolas"/>
              </a:rPr>
              <a:t>.</a:t>
            </a:r>
            <a:r>
              <a:rPr sz="900" b="0">
                <a:solidFill>
                  <a:srgbClr val="E6E6E6"/>
                </a:solidFill>
                <a:latin typeface="Consolas"/>
              </a:rPr>
              <a:t>last_name</a:t>
            </a:r>
            <a:r>
              <a:rPr sz="900">
                <a:solidFill>
                  <a:srgbClr val="E6E6E6"/>
                </a:solidFill>
                <a:latin typeface="Consolas"/>
              </a:rPr>
              <a:t>,</a:t>
            </a:r>
          </a:p>
          <a:p>
            <a:pPr>
              <a:lnSpc>
                <a:spcPct val="115000"/>
              </a:lnSpc>
            </a:pPr>
            <a:r>
              <a:rPr sz="900">
                <a:solidFill>
                  <a:srgbClr val="E6E6E6"/>
                </a:solidFill>
                <a:latin typeface="Consolas"/>
              </a:rPr>
              <a:t>           </a:t>
            </a:r>
            <a:r>
              <a:rPr sz="900" b="1">
                <a:solidFill>
                  <a:srgbClr val="FF7B72"/>
                </a:solidFill>
                <a:latin typeface="Consolas"/>
              </a:rPr>
              <a:t>SUM</a:t>
            </a:r>
            <a:r>
              <a:rPr sz="900">
                <a:solidFill>
                  <a:srgbClr val="E6E6E6"/>
                </a:solidFill>
                <a:latin typeface="Consolas"/>
              </a:rPr>
              <a:t>(</a:t>
            </a:r>
            <a:r>
              <a:rPr sz="900" b="0">
                <a:solidFill>
                  <a:srgbClr val="E6E6E6"/>
                </a:solidFill>
                <a:latin typeface="Consolas"/>
              </a:rPr>
              <a:t>i</a:t>
            </a:r>
            <a:r>
              <a:rPr sz="900">
                <a:solidFill>
                  <a:srgbClr val="E6E6E6"/>
                </a:solidFill>
                <a:latin typeface="Consolas"/>
              </a:rPr>
              <a:t>.</a:t>
            </a:r>
            <a:r>
              <a:rPr sz="900" b="0">
                <a:solidFill>
                  <a:srgbClr val="E6E6E6"/>
                </a:solidFill>
                <a:latin typeface="Consolas"/>
              </a:rPr>
              <a:t>total</a:t>
            </a:r>
            <a:r>
              <a:rPr sz="900">
                <a:solidFill>
                  <a:srgbClr val="E6E6E6"/>
                </a:solidFill>
                <a:latin typeface="Consolas"/>
              </a:rPr>
              <a:t>) </a:t>
            </a:r>
            <a:r>
              <a:rPr sz="900" b="1">
                <a:solidFill>
                  <a:srgbClr val="FF7B72"/>
                </a:solidFill>
                <a:latin typeface="Consolas"/>
              </a:rPr>
              <a:t>AS</a:t>
            </a:r>
            <a:r>
              <a:rPr sz="900">
                <a:solidFill>
                  <a:srgbClr val="E6E6E6"/>
                </a:solidFill>
                <a:latin typeface="Consolas"/>
              </a:rPr>
              <a:t> </a:t>
            </a:r>
            <a:r>
              <a:rPr sz="900" b="0">
                <a:solidFill>
                  <a:srgbClr val="E6E6E6"/>
                </a:solidFill>
                <a:latin typeface="Consolas"/>
              </a:rPr>
              <a:t>total_spent</a:t>
            </a:r>
          </a:p>
          <a:p>
            <a:pPr>
              <a:lnSpc>
                <a:spcPct val="115000"/>
              </a:lnSpc>
            </a:pPr>
            <a:r>
              <a:rPr sz="900">
                <a:solidFill>
                  <a:srgbClr val="E6E6E6"/>
                </a:solidFill>
                <a:latin typeface="Consolas"/>
              </a:rPr>
              <a:t>    </a:t>
            </a:r>
            <a:r>
              <a:rPr sz="900" b="1">
                <a:solidFill>
                  <a:srgbClr val="FF7B72"/>
                </a:solidFill>
                <a:latin typeface="Consolas"/>
              </a:rPr>
              <a:t>FROM</a:t>
            </a:r>
            <a:r>
              <a:rPr sz="900">
                <a:solidFill>
                  <a:srgbClr val="E6E6E6"/>
                </a:solidFill>
                <a:latin typeface="Consolas"/>
              </a:rPr>
              <a:t> </a:t>
            </a:r>
            <a:r>
              <a:rPr sz="900" b="0">
                <a:solidFill>
                  <a:srgbClr val="E6E6E6"/>
                </a:solidFill>
                <a:latin typeface="Consolas"/>
              </a:rPr>
              <a:t>customer</a:t>
            </a:r>
            <a:r>
              <a:rPr sz="900">
                <a:solidFill>
                  <a:srgbClr val="E6E6E6"/>
                </a:solidFill>
                <a:latin typeface="Consolas"/>
              </a:rPr>
              <a:t> </a:t>
            </a:r>
            <a:r>
              <a:rPr sz="900" b="0">
                <a:solidFill>
                  <a:srgbClr val="E6E6E6"/>
                </a:solidFill>
                <a:latin typeface="Consolas"/>
              </a:rPr>
              <a:t>c</a:t>
            </a:r>
          </a:p>
          <a:p>
            <a:pPr>
              <a:lnSpc>
                <a:spcPct val="115000"/>
              </a:lnSpc>
            </a:pPr>
            <a:r>
              <a:rPr sz="900">
                <a:solidFill>
                  <a:srgbClr val="E6E6E6"/>
                </a:solidFill>
                <a:latin typeface="Consolas"/>
              </a:rPr>
              <a:t>    </a:t>
            </a:r>
            <a:r>
              <a:rPr sz="900" b="1">
                <a:solidFill>
                  <a:srgbClr val="FF7B72"/>
                </a:solidFill>
                <a:latin typeface="Consolas"/>
              </a:rPr>
              <a:t>JOIN</a:t>
            </a:r>
            <a:r>
              <a:rPr sz="900">
                <a:solidFill>
                  <a:srgbClr val="E6E6E6"/>
                </a:solidFill>
                <a:latin typeface="Consolas"/>
              </a:rPr>
              <a:t> </a:t>
            </a:r>
            <a:r>
              <a:rPr sz="900" b="0">
                <a:solidFill>
                  <a:srgbClr val="E6E6E6"/>
                </a:solidFill>
                <a:latin typeface="Consolas"/>
              </a:rPr>
              <a:t>invoice</a:t>
            </a:r>
            <a:r>
              <a:rPr sz="900">
                <a:solidFill>
                  <a:srgbClr val="E6E6E6"/>
                </a:solidFill>
                <a:latin typeface="Consolas"/>
              </a:rPr>
              <a:t> </a:t>
            </a:r>
            <a:r>
              <a:rPr sz="900" b="0">
                <a:solidFill>
                  <a:srgbClr val="E6E6E6"/>
                </a:solidFill>
                <a:latin typeface="Consolas"/>
              </a:rPr>
              <a:t>i</a:t>
            </a:r>
            <a:r>
              <a:rPr sz="900">
                <a:solidFill>
                  <a:srgbClr val="E6E6E6"/>
                </a:solidFill>
                <a:latin typeface="Consolas"/>
              </a:rPr>
              <a:t> </a:t>
            </a:r>
            <a:r>
              <a:rPr sz="900" b="1">
                <a:solidFill>
                  <a:srgbClr val="FF7B72"/>
                </a:solidFill>
                <a:latin typeface="Consolas"/>
              </a:rPr>
              <a:t>ON</a:t>
            </a:r>
            <a:r>
              <a:rPr sz="900">
                <a:solidFill>
                  <a:srgbClr val="E6E6E6"/>
                </a:solidFill>
                <a:latin typeface="Consolas"/>
              </a:rPr>
              <a:t> </a:t>
            </a:r>
            <a:r>
              <a:rPr sz="900" b="0">
                <a:solidFill>
                  <a:srgbClr val="E6E6E6"/>
                </a:solidFill>
                <a:latin typeface="Consolas"/>
              </a:rPr>
              <a:t>c</a:t>
            </a:r>
            <a:r>
              <a:rPr sz="900">
                <a:solidFill>
                  <a:srgbClr val="E6E6E6"/>
                </a:solidFill>
                <a:latin typeface="Consolas"/>
              </a:rPr>
              <a:t>.</a:t>
            </a:r>
            <a:r>
              <a:rPr sz="900" b="0">
                <a:solidFill>
                  <a:srgbClr val="E6E6E6"/>
                </a:solidFill>
                <a:latin typeface="Consolas"/>
              </a:rPr>
              <a:t>customer_id</a:t>
            </a:r>
            <a:r>
              <a:rPr sz="900">
                <a:solidFill>
                  <a:srgbClr val="E6E6E6"/>
                </a:solidFill>
                <a:latin typeface="Consolas"/>
              </a:rPr>
              <a:t> = </a:t>
            </a:r>
            <a:r>
              <a:rPr sz="900" b="0">
                <a:solidFill>
                  <a:srgbClr val="E6E6E6"/>
                </a:solidFill>
                <a:latin typeface="Consolas"/>
              </a:rPr>
              <a:t>i</a:t>
            </a:r>
            <a:r>
              <a:rPr sz="900">
                <a:solidFill>
                  <a:srgbClr val="E6E6E6"/>
                </a:solidFill>
                <a:latin typeface="Consolas"/>
              </a:rPr>
              <a:t>.</a:t>
            </a:r>
            <a:r>
              <a:rPr sz="900" b="0">
                <a:solidFill>
                  <a:srgbClr val="E6E6E6"/>
                </a:solidFill>
                <a:latin typeface="Consolas"/>
              </a:rPr>
              <a:t>customer_id</a:t>
            </a:r>
          </a:p>
          <a:p>
            <a:pPr>
              <a:lnSpc>
                <a:spcPct val="115000"/>
              </a:lnSpc>
            </a:pPr>
            <a:r>
              <a:rPr sz="900">
                <a:solidFill>
                  <a:srgbClr val="E6E6E6"/>
                </a:solidFill>
                <a:latin typeface="Consolas"/>
              </a:rPr>
              <a:t>    </a:t>
            </a:r>
            <a:r>
              <a:rPr sz="900" b="1">
                <a:solidFill>
                  <a:srgbClr val="FF7B72"/>
                </a:solidFill>
                <a:latin typeface="Consolas"/>
              </a:rPr>
              <a:t>GROUP</a:t>
            </a:r>
            <a:r>
              <a:rPr sz="900">
                <a:solidFill>
                  <a:srgbClr val="E6E6E6"/>
                </a:solidFill>
                <a:latin typeface="Consolas"/>
              </a:rPr>
              <a:t> </a:t>
            </a:r>
            <a:r>
              <a:rPr sz="900" b="1">
                <a:solidFill>
                  <a:srgbClr val="FF7B72"/>
                </a:solidFill>
                <a:latin typeface="Consolas"/>
              </a:rPr>
              <a:t>BY</a:t>
            </a:r>
            <a:r>
              <a:rPr sz="900">
                <a:solidFill>
                  <a:srgbClr val="E6E6E6"/>
                </a:solidFill>
                <a:latin typeface="Consolas"/>
              </a:rPr>
              <a:t> </a:t>
            </a:r>
            <a:r>
              <a:rPr sz="900" b="0">
                <a:solidFill>
                  <a:srgbClr val="E6E6E6"/>
                </a:solidFill>
                <a:latin typeface="Consolas"/>
              </a:rPr>
              <a:t>i</a:t>
            </a:r>
            <a:r>
              <a:rPr sz="900">
                <a:solidFill>
                  <a:srgbClr val="E6E6E6"/>
                </a:solidFill>
                <a:latin typeface="Consolas"/>
              </a:rPr>
              <a:t>.</a:t>
            </a:r>
            <a:r>
              <a:rPr sz="900" b="0">
                <a:solidFill>
                  <a:srgbClr val="E6E6E6"/>
                </a:solidFill>
                <a:latin typeface="Consolas"/>
              </a:rPr>
              <a:t>billing_country</a:t>
            </a:r>
            <a:r>
              <a:rPr sz="900">
                <a:solidFill>
                  <a:srgbClr val="E6E6E6"/>
                </a:solidFill>
                <a:latin typeface="Consolas"/>
              </a:rPr>
              <a:t>, </a:t>
            </a:r>
            <a:r>
              <a:rPr sz="900" b="0">
                <a:solidFill>
                  <a:srgbClr val="E6E6E6"/>
                </a:solidFill>
                <a:latin typeface="Consolas"/>
              </a:rPr>
              <a:t>c</a:t>
            </a:r>
            <a:r>
              <a:rPr sz="900">
                <a:solidFill>
                  <a:srgbClr val="E6E6E6"/>
                </a:solidFill>
                <a:latin typeface="Consolas"/>
              </a:rPr>
              <a:t>.</a:t>
            </a:r>
            <a:r>
              <a:rPr sz="900" b="0">
                <a:solidFill>
                  <a:srgbClr val="E6E6E6"/>
                </a:solidFill>
                <a:latin typeface="Consolas"/>
              </a:rPr>
              <a:t>customer_id</a:t>
            </a:r>
            <a:r>
              <a:rPr sz="900">
                <a:solidFill>
                  <a:srgbClr val="E6E6E6"/>
                </a:solidFill>
                <a:latin typeface="Consolas"/>
              </a:rPr>
              <a:t>,</a:t>
            </a:r>
          </a:p>
          <a:p>
            <a:pPr>
              <a:lnSpc>
                <a:spcPct val="115000"/>
              </a:lnSpc>
            </a:pPr>
            <a:r>
              <a:rPr sz="900">
                <a:solidFill>
                  <a:srgbClr val="E6E6E6"/>
                </a:solidFill>
                <a:latin typeface="Consolas"/>
              </a:rPr>
              <a:t>             </a:t>
            </a:r>
            <a:r>
              <a:rPr sz="900" b="0">
                <a:solidFill>
                  <a:srgbClr val="E6E6E6"/>
                </a:solidFill>
                <a:latin typeface="Consolas"/>
              </a:rPr>
              <a:t>c</a:t>
            </a:r>
            <a:r>
              <a:rPr sz="900">
                <a:solidFill>
                  <a:srgbClr val="E6E6E6"/>
                </a:solidFill>
                <a:latin typeface="Consolas"/>
              </a:rPr>
              <a:t>.</a:t>
            </a:r>
            <a:r>
              <a:rPr sz="900" b="0">
                <a:solidFill>
                  <a:srgbClr val="E6E6E6"/>
                </a:solidFill>
                <a:latin typeface="Consolas"/>
              </a:rPr>
              <a:t>first_name</a:t>
            </a:r>
            <a:r>
              <a:rPr sz="900">
                <a:solidFill>
                  <a:srgbClr val="E6E6E6"/>
                </a:solidFill>
                <a:latin typeface="Consolas"/>
              </a:rPr>
              <a:t>, </a:t>
            </a:r>
            <a:r>
              <a:rPr sz="900" b="0">
                <a:solidFill>
                  <a:srgbClr val="E6E6E6"/>
                </a:solidFill>
                <a:latin typeface="Consolas"/>
              </a:rPr>
              <a:t>c</a:t>
            </a:r>
            <a:r>
              <a:rPr sz="900">
                <a:solidFill>
                  <a:srgbClr val="E6E6E6"/>
                </a:solidFill>
                <a:latin typeface="Consolas"/>
              </a:rPr>
              <a:t>.</a:t>
            </a:r>
            <a:r>
              <a:rPr sz="900" b="0">
                <a:solidFill>
                  <a:srgbClr val="E6E6E6"/>
                </a:solidFill>
                <a:latin typeface="Consolas"/>
              </a:rPr>
              <a:t>last_name</a:t>
            </a:r>
          </a:p>
          <a:p>
            <a:pPr>
              <a:lnSpc>
                <a:spcPct val="115000"/>
              </a:lnSpc>
            </a:pPr>
            <a:r>
              <a:rPr sz="900">
                <a:solidFill>
                  <a:srgbClr val="E6E6E6"/>
                </a:solidFill>
                <a:latin typeface="Consolas"/>
              </a:rPr>
              <a:t>),</a:t>
            </a:r>
          </a:p>
          <a:p>
            <a:pPr>
              <a:lnSpc>
                <a:spcPct val="115000"/>
              </a:lnSpc>
            </a:pPr>
            <a:r>
              <a:rPr sz="900" b="0">
                <a:solidFill>
                  <a:srgbClr val="E6E6E6"/>
                </a:solidFill>
                <a:latin typeface="Consolas"/>
              </a:rPr>
              <a:t>ranked</a:t>
            </a:r>
            <a:r>
              <a:rPr sz="900">
                <a:solidFill>
                  <a:srgbClr val="E6E6E6"/>
                </a:solidFill>
                <a:latin typeface="Consolas"/>
              </a:rPr>
              <a:t> </a:t>
            </a:r>
            <a:r>
              <a:rPr sz="900" b="1">
                <a:solidFill>
                  <a:srgbClr val="FF7B72"/>
                </a:solidFill>
                <a:latin typeface="Consolas"/>
              </a:rPr>
              <a:t>AS</a:t>
            </a:r>
            <a:r>
              <a:rPr sz="900">
                <a:solidFill>
                  <a:srgbClr val="E6E6E6"/>
                </a:solidFill>
                <a:latin typeface="Consolas"/>
              </a:rPr>
              <a:t> (</a:t>
            </a:r>
          </a:p>
          <a:p>
            <a:pPr>
              <a:lnSpc>
                <a:spcPct val="115000"/>
              </a:lnSpc>
            </a:pPr>
            <a:r>
              <a:rPr sz="900">
                <a:solidFill>
                  <a:srgbClr val="E6E6E6"/>
                </a:solidFill>
                <a:latin typeface="Consolas"/>
              </a:rPr>
              <a:t>    </a:t>
            </a:r>
            <a:r>
              <a:rPr sz="900" b="1">
                <a:solidFill>
                  <a:srgbClr val="FF7B72"/>
                </a:solidFill>
                <a:latin typeface="Consolas"/>
              </a:rPr>
              <a:t>SELECT</a:t>
            </a:r>
            <a:r>
              <a:rPr sz="900">
                <a:solidFill>
                  <a:srgbClr val="E6E6E6"/>
                </a:solidFill>
                <a:latin typeface="Consolas"/>
              </a:rPr>
              <a:t> </a:t>
            </a:r>
            <a:r>
              <a:rPr sz="900" b="0">
                <a:solidFill>
                  <a:srgbClr val="E6E6E6"/>
                </a:solidFill>
                <a:latin typeface="Consolas"/>
              </a:rPr>
              <a:t>country</a:t>
            </a:r>
            <a:r>
              <a:rPr sz="900">
                <a:solidFill>
                  <a:srgbClr val="E6E6E6"/>
                </a:solidFill>
                <a:latin typeface="Consolas"/>
              </a:rPr>
              <a:t>, </a:t>
            </a:r>
            <a:r>
              <a:rPr sz="900" b="0">
                <a:solidFill>
                  <a:srgbClr val="E6E6E6"/>
                </a:solidFill>
                <a:latin typeface="Consolas"/>
              </a:rPr>
              <a:t>customer_id</a:t>
            </a:r>
            <a:r>
              <a:rPr sz="900">
                <a:solidFill>
                  <a:srgbClr val="E6E6E6"/>
                </a:solidFill>
                <a:latin typeface="Consolas"/>
              </a:rPr>
              <a:t>, </a:t>
            </a:r>
            <a:r>
              <a:rPr sz="900" b="0">
                <a:solidFill>
                  <a:srgbClr val="E6E6E6"/>
                </a:solidFill>
                <a:latin typeface="Consolas"/>
              </a:rPr>
              <a:t>first_name</a:t>
            </a:r>
            <a:r>
              <a:rPr sz="900">
                <a:solidFill>
                  <a:srgbClr val="E6E6E6"/>
                </a:solidFill>
                <a:latin typeface="Consolas"/>
              </a:rPr>
              <a:t>, </a:t>
            </a:r>
            <a:r>
              <a:rPr sz="900" b="0">
                <a:solidFill>
                  <a:srgbClr val="E6E6E6"/>
                </a:solidFill>
                <a:latin typeface="Consolas"/>
              </a:rPr>
              <a:t>last_name</a:t>
            </a:r>
            <a:r>
              <a:rPr sz="900">
                <a:solidFill>
                  <a:srgbClr val="E6E6E6"/>
                </a:solidFill>
                <a:latin typeface="Consolas"/>
              </a:rPr>
              <a:t>, </a:t>
            </a:r>
            <a:r>
              <a:rPr sz="900" b="0">
                <a:solidFill>
                  <a:srgbClr val="E6E6E6"/>
                </a:solidFill>
                <a:latin typeface="Consolas"/>
              </a:rPr>
              <a:t>total_spent</a:t>
            </a:r>
            <a:r>
              <a:rPr sz="900">
                <a:solidFill>
                  <a:srgbClr val="E6E6E6"/>
                </a:solidFill>
                <a:latin typeface="Consolas"/>
              </a:rPr>
              <a:t>,</a:t>
            </a:r>
          </a:p>
          <a:p>
            <a:pPr>
              <a:lnSpc>
                <a:spcPct val="115000"/>
              </a:lnSpc>
            </a:pPr>
            <a:r>
              <a:rPr sz="900">
                <a:solidFill>
                  <a:srgbClr val="E6E6E6"/>
                </a:solidFill>
                <a:latin typeface="Consolas"/>
              </a:rPr>
              <a:t>           </a:t>
            </a:r>
            <a:r>
              <a:rPr sz="900" b="1">
                <a:solidFill>
                  <a:srgbClr val="FF7B72"/>
                </a:solidFill>
                <a:latin typeface="Consolas"/>
              </a:rPr>
              <a:t>DENSE_RANK</a:t>
            </a:r>
            <a:r>
              <a:rPr sz="900">
                <a:solidFill>
                  <a:srgbClr val="E6E6E6"/>
                </a:solidFill>
                <a:latin typeface="Consolas"/>
              </a:rPr>
              <a:t>() </a:t>
            </a:r>
            <a:r>
              <a:rPr sz="900" b="1">
                <a:solidFill>
                  <a:srgbClr val="FF7B72"/>
                </a:solidFill>
                <a:latin typeface="Consolas"/>
              </a:rPr>
              <a:t>OVER</a:t>
            </a:r>
            <a:r>
              <a:rPr sz="900">
                <a:solidFill>
                  <a:srgbClr val="E6E6E6"/>
                </a:solidFill>
                <a:latin typeface="Consolas"/>
              </a:rPr>
              <a:t> (</a:t>
            </a:r>
            <a:r>
              <a:rPr sz="900" b="1">
                <a:solidFill>
                  <a:srgbClr val="FF7B72"/>
                </a:solidFill>
                <a:latin typeface="Consolas"/>
              </a:rPr>
              <a:t>PARTITION</a:t>
            </a:r>
            <a:r>
              <a:rPr sz="900">
                <a:solidFill>
                  <a:srgbClr val="E6E6E6"/>
                </a:solidFill>
                <a:latin typeface="Consolas"/>
              </a:rPr>
              <a:t> </a:t>
            </a:r>
            <a:r>
              <a:rPr sz="900" b="1">
                <a:solidFill>
                  <a:srgbClr val="FF7B72"/>
                </a:solidFill>
                <a:latin typeface="Consolas"/>
              </a:rPr>
              <a:t>BY</a:t>
            </a:r>
            <a:r>
              <a:rPr sz="900">
                <a:solidFill>
                  <a:srgbClr val="E6E6E6"/>
                </a:solidFill>
                <a:latin typeface="Consolas"/>
              </a:rPr>
              <a:t> </a:t>
            </a:r>
            <a:r>
              <a:rPr sz="900" b="0">
                <a:solidFill>
                  <a:srgbClr val="E6E6E6"/>
                </a:solidFill>
                <a:latin typeface="Consolas"/>
              </a:rPr>
              <a:t>country</a:t>
            </a:r>
          </a:p>
          <a:p>
            <a:pPr>
              <a:lnSpc>
                <a:spcPct val="115000"/>
              </a:lnSpc>
            </a:pPr>
            <a:r>
              <a:rPr sz="900">
                <a:solidFill>
                  <a:srgbClr val="E6E6E6"/>
                </a:solidFill>
                <a:latin typeface="Consolas"/>
              </a:rPr>
              <a:t>                              </a:t>
            </a:r>
            <a:r>
              <a:rPr sz="900" b="1">
                <a:solidFill>
                  <a:srgbClr val="FF7B72"/>
                </a:solidFill>
                <a:latin typeface="Consolas"/>
              </a:rPr>
              <a:t>ORDER</a:t>
            </a:r>
            <a:r>
              <a:rPr sz="900">
                <a:solidFill>
                  <a:srgbClr val="E6E6E6"/>
                </a:solidFill>
                <a:latin typeface="Consolas"/>
              </a:rPr>
              <a:t> </a:t>
            </a:r>
            <a:r>
              <a:rPr sz="900" b="1">
                <a:solidFill>
                  <a:srgbClr val="FF7B72"/>
                </a:solidFill>
                <a:latin typeface="Consolas"/>
              </a:rPr>
              <a:t>BY</a:t>
            </a:r>
            <a:r>
              <a:rPr sz="900">
                <a:solidFill>
                  <a:srgbClr val="E6E6E6"/>
                </a:solidFill>
                <a:latin typeface="Consolas"/>
              </a:rPr>
              <a:t> </a:t>
            </a:r>
            <a:r>
              <a:rPr sz="900" b="0">
                <a:solidFill>
                  <a:srgbClr val="E6E6E6"/>
                </a:solidFill>
                <a:latin typeface="Consolas"/>
              </a:rPr>
              <a:t>total_spent</a:t>
            </a:r>
            <a:r>
              <a:rPr sz="900">
                <a:solidFill>
                  <a:srgbClr val="E6E6E6"/>
                </a:solidFill>
                <a:latin typeface="Consolas"/>
              </a:rPr>
              <a:t> </a:t>
            </a:r>
            <a:r>
              <a:rPr sz="900" b="1">
                <a:solidFill>
                  <a:srgbClr val="FF7B72"/>
                </a:solidFill>
                <a:latin typeface="Consolas"/>
              </a:rPr>
              <a:t>DESC</a:t>
            </a:r>
            <a:r>
              <a:rPr sz="900">
                <a:solidFill>
                  <a:srgbClr val="E6E6E6"/>
                </a:solidFill>
                <a:latin typeface="Consolas"/>
              </a:rPr>
              <a:t>) </a:t>
            </a:r>
            <a:r>
              <a:rPr sz="900" b="1">
                <a:solidFill>
                  <a:srgbClr val="FF7B72"/>
                </a:solidFill>
                <a:latin typeface="Consolas"/>
              </a:rPr>
              <a:t>AS</a:t>
            </a:r>
            <a:r>
              <a:rPr sz="900">
                <a:solidFill>
                  <a:srgbClr val="E6E6E6"/>
                </a:solidFill>
                <a:latin typeface="Consolas"/>
              </a:rPr>
              <a:t> </a:t>
            </a:r>
            <a:r>
              <a:rPr sz="900" b="0">
                <a:solidFill>
                  <a:srgbClr val="E6E6E6"/>
                </a:solidFill>
                <a:latin typeface="Consolas"/>
              </a:rPr>
              <a:t>rk</a:t>
            </a:r>
          </a:p>
          <a:p>
            <a:pPr>
              <a:lnSpc>
                <a:spcPct val="115000"/>
              </a:lnSpc>
            </a:pPr>
            <a:r>
              <a:rPr sz="900">
                <a:solidFill>
                  <a:srgbClr val="E6E6E6"/>
                </a:solidFill>
                <a:latin typeface="Consolas"/>
              </a:rPr>
              <a:t>    </a:t>
            </a:r>
            <a:r>
              <a:rPr sz="900" b="1">
                <a:solidFill>
                  <a:srgbClr val="FF7B72"/>
                </a:solidFill>
                <a:latin typeface="Consolas"/>
              </a:rPr>
              <a:t>FROM</a:t>
            </a:r>
            <a:r>
              <a:rPr sz="900">
                <a:solidFill>
                  <a:srgbClr val="E6E6E6"/>
                </a:solidFill>
                <a:latin typeface="Consolas"/>
              </a:rPr>
              <a:t> </a:t>
            </a:r>
            <a:r>
              <a:rPr sz="900" b="0">
                <a:solidFill>
                  <a:srgbClr val="E6E6E6"/>
                </a:solidFill>
                <a:latin typeface="Consolas"/>
              </a:rPr>
              <a:t>country_customer</a:t>
            </a:r>
          </a:p>
          <a:p>
            <a:pPr>
              <a:lnSpc>
                <a:spcPct val="115000"/>
              </a:lnSpc>
            </a:pPr>
            <a:r>
              <a:rPr sz="900">
                <a:solidFill>
                  <a:srgbClr val="E6E6E6"/>
                </a:solidFill>
                <a:latin typeface="Consolas"/>
              </a:rPr>
              <a:t>)</a:t>
            </a:r>
          </a:p>
          <a:p>
            <a:pPr>
              <a:lnSpc>
                <a:spcPct val="115000"/>
              </a:lnSpc>
            </a:pPr>
            <a:r>
              <a:rPr sz="900" b="1">
                <a:solidFill>
                  <a:srgbClr val="FF7B72"/>
                </a:solidFill>
                <a:latin typeface="Consolas"/>
              </a:rPr>
              <a:t>SELECT</a:t>
            </a:r>
            <a:r>
              <a:rPr sz="900">
                <a:solidFill>
                  <a:srgbClr val="E6E6E6"/>
                </a:solidFill>
                <a:latin typeface="Consolas"/>
              </a:rPr>
              <a:t> </a:t>
            </a:r>
            <a:r>
              <a:rPr sz="900" b="0">
                <a:solidFill>
                  <a:srgbClr val="E6E6E6"/>
                </a:solidFill>
                <a:latin typeface="Consolas"/>
              </a:rPr>
              <a:t>country</a:t>
            </a:r>
            <a:r>
              <a:rPr sz="900">
                <a:solidFill>
                  <a:srgbClr val="E6E6E6"/>
                </a:solidFill>
                <a:latin typeface="Consolas"/>
              </a:rPr>
              <a:t>, </a:t>
            </a:r>
            <a:r>
              <a:rPr sz="900" b="0">
                <a:solidFill>
                  <a:srgbClr val="E6E6E6"/>
                </a:solidFill>
                <a:latin typeface="Consolas"/>
              </a:rPr>
              <a:t>first_name</a:t>
            </a:r>
            <a:r>
              <a:rPr sz="900">
                <a:solidFill>
                  <a:srgbClr val="E6E6E6"/>
                </a:solidFill>
                <a:latin typeface="Consolas"/>
              </a:rPr>
              <a:t>, </a:t>
            </a:r>
            <a:r>
              <a:rPr sz="900" b="0">
                <a:solidFill>
                  <a:srgbClr val="E6E6E6"/>
                </a:solidFill>
                <a:latin typeface="Consolas"/>
              </a:rPr>
              <a:t>last_name</a:t>
            </a:r>
            <a:r>
              <a:rPr sz="900">
                <a:solidFill>
                  <a:srgbClr val="E6E6E6"/>
                </a:solidFill>
                <a:latin typeface="Consolas"/>
              </a:rPr>
              <a:t>, </a:t>
            </a:r>
            <a:r>
              <a:rPr sz="900" b="0">
                <a:solidFill>
                  <a:srgbClr val="E6E6E6"/>
                </a:solidFill>
                <a:latin typeface="Consolas"/>
              </a:rPr>
              <a:t>total_spent</a:t>
            </a:r>
          </a:p>
          <a:p>
            <a:pPr>
              <a:lnSpc>
                <a:spcPct val="115000"/>
              </a:lnSpc>
            </a:pPr>
            <a:r>
              <a:rPr sz="900" b="1">
                <a:solidFill>
                  <a:srgbClr val="FF7B72"/>
                </a:solidFill>
                <a:latin typeface="Consolas"/>
              </a:rPr>
              <a:t>FROM</a:t>
            </a:r>
            <a:r>
              <a:rPr sz="900">
                <a:solidFill>
                  <a:srgbClr val="E6E6E6"/>
                </a:solidFill>
                <a:latin typeface="Consolas"/>
              </a:rPr>
              <a:t> </a:t>
            </a:r>
            <a:r>
              <a:rPr sz="900" b="0">
                <a:solidFill>
                  <a:srgbClr val="E6E6E6"/>
                </a:solidFill>
                <a:latin typeface="Consolas"/>
              </a:rPr>
              <a:t>ranked</a:t>
            </a:r>
          </a:p>
          <a:p>
            <a:pPr>
              <a:lnSpc>
                <a:spcPct val="115000"/>
              </a:lnSpc>
            </a:pPr>
            <a:r>
              <a:rPr sz="900" b="1">
                <a:solidFill>
                  <a:srgbClr val="FF7B72"/>
                </a:solidFill>
                <a:latin typeface="Consolas"/>
              </a:rPr>
              <a:t>WHERE</a:t>
            </a:r>
            <a:r>
              <a:rPr sz="900">
                <a:solidFill>
                  <a:srgbClr val="E6E6E6"/>
                </a:solidFill>
                <a:latin typeface="Consolas"/>
              </a:rPr>
              <a:t> </a:t>
            </a:r>
            <a:r>
              <a:rPr sz="900" b="0">
                <a:solidFill>
                  <a:srgbClr val="E6E6E6"/>
                </a:solidFill>
                <a:latin typeface="Consolas"/>
              </a:rPr>
              <a:t>rk</a:t>
            </a:r>
            <a:r>
              <a:rPr sz="900">
                <a:solidFill>
                  <a:srgbClr val="E6E6E6"/>
                </a:solidFill>
                <a:latin typeface="Consolas"/>
              </a:rPr>
              <a:t> = </a:t>
            </a:r>
            <a:r>
              <a:rPr sz="900" b="0">
                <a:solidFill>
                  <a:srgbClr val="E6E6E6"/>
                </a:solidFill>
                <a:latin typeface="Consolas"/>
              </a:rPr>
              <a:t>1</a:t>
            </a:r>
          </a:p>
          <a:p>
            <a:pPr>
              <a:lnSpc>
                <a:spcPct val="115000"/>
              </a:lnSpc>
            </a:pPr>
            <a:r>
              <a:rPr sz="900" b="1">
                <a:solidFill>
                  <a:srgbClr val="FF7B72"/>
                </a:solidFill>
                <a:latin typeface="Consolas"/>
              </a:rPr>
              <a:t>ORDER</a:t>
            </a:r>
            <a:r>
              <a:rPr sz="900">
                <a:solidFill>
                  <a:srgbClr val="E6E6E6"/>
                </a:solidFill>
                <a:latin typeface="Consolas"/>
              </a:rPr>
              <a:t> </a:t>
            </a:r>
            <a:r>
              <a:rPr sz="900" b="1">
                <a:solidFill>
                  <a:srgbClr val="FF7B72"/>
                </a:solidFill>
                <a:latin typeface="Consolas"/>
              </a:rPr>
              <a:t>BY</a:t>
            </a:r>
            <a:r>
              <a:rPr sz="900">
                <a:solidFill>
                  <a:srgbClr val="E6E6E6"/>
                </a:solidFill>
                <a:latin typeface="Consolas"/>
              </a:rPr>
              <a:t> </a:t>
            </a:r>
            <a:r>
              <a:rPr sz="900" b="0">
                <a:solidFill>
                  <a:srgbClr val="E6E6E6"/>
                </a:solidFill>
                <a:latin typeface="Consolas"/>
              </a:rPr>
              <a:t>country</a:t>
            </a:r>
            <a:r>
              <a:rPr sz="900">
                <a:solidFill>
                  <a:srgbClr val="E6E6E6"/>
                </a:solidFill>
                <a:latin typeface="Consolas"/>
              </a:rPr>
              <a:t>;</a:t>
            </a:r>
          </a:p>
        </p:txBody>
      </p:sp>
      <p:sp>
        <p:nvSpPr>
          <p:cNvPr id="9" name="TextBox 8"/>
          <p:cNvSpPr txBox="1"/>
          <p:nvPr/>
        </p:nvSpPr>
        <p:spPr>
          <a:xfrm>
            <a:off x="6400800" y="1371600"/>
            <a:ext cx="2743200" cy="320040"/>
          </a:xfrm>
          <a:prstGeom prst="rect">
            <a:avLst/>
          </a:prstGeom>
          <a:noFill/>
        </p:spPr>
        <p:txBody>
          <a:bodyPr wrap="square" lIns="45720" tIns="18288" rIns="45720" bIns="18288" anchor="t">
            <a:spAutoFit/>
          </a:bodyPr>
          <a:lstStyle/>
          <a:p>
            <a:pPr algn="l"/>
            <a:r>
              <a:rPr sz="1100" b="1" i="0">
                <a:solidFill>
                  <a:srgbClr val="C00000"/>
                </a:solidFill>
                <a:latin typeface="Lato Black"/>
              </a:rPr>
              <a:t>OUTPUT</a:t>
            </a:r>
          </a:p>
        </p:txBody>
      </p:sp>
      <p:sp>
        <p:nvSpPr>
          <p:cNvPr id="10" name="Rectangle 9"/>
          <p:cNvSpPr/>
          <p:nvPr/>
        </p:nvSpPr>
        <p:spPr>
          <a:xfrm>
            <a:off x="6400800" y="1737360"/>
            <a:ext cx="5303520" cy="4114800"/>
          </a:xfrm>
          <a:prstGeom prst="rect">
            <a:avLst/>
          </a:prstGeom>
          <a:solidFill>
            <a:srgbClr val="FFFFFF"/>
          </a:solidFill>
          <a:ln w="9525">
            <a:solidFill>
              <a:srgbClr val="EEEE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263640"/>
            <a:ext cx="12191695" cy="50292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7200" y="6263640"/>
            <a:ext cx="11247120" cy="502920"/>
          </a:xfrm>
          <a:prstGeom prst="rect">
            <a:avLst/>
          </a:prstGeom>
          <a:noFill/>
        </p:spPr>
        <p:txBody>
          <a:bodyPr wrap="square" lIns="45720" tIns="18288" rIns="45720" bIns="18288" anchor="ctr">
            <a:spAutoFit/>
          </a:bodyPr>
          <a:lstStyle/>
          <a:p>
            <a:pPr algn="l"/>
            <a:r>
              <a:rPr sz="1400" b="1" i="0">
                <a:solidFill>
                  <a:srgbClr val="FFFFFF"/>
                </a:solidFill>
                <a:latin typeface="Calibri"/>
              </a:rPr>
              <a:t>Result:  Top spender identified per country, including ties.</a:t>
            </a:r>
          </a:p>
        </p:txBody>
      </p:sp>
      <p:pic>
        <p:nvPicPr>
          <p:cNvPr id="14" name="Picture 13" descr="O11.png"/>
          <p:cNvPicPr>
            <a:picLocks noChangeAspect="1"/>
          </p:cNvPicPr>
          <p:nvPr/>
        </p:nvPicPr>
        <p:blipFill>
          <a:blip r:embed="rId2"/>
          <a:stretch>
            <a:fillRect/>
          </a:stretch>
        </p:blipFill>
        <p:spPr>
          <a:xfrm>
            <a:off x="7655884" y="2082452"/>
            <a:ext cx="2793351" cy="3424616"/>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11247120" cy="640080"/>
          </a:xfrm>
          <a:prstGeom prst="rect">
            <a:avLst/>
          </a:prstGeom>
          <a:noFill/>
        </p:spPr>
        <p:txBody>
          <a:bodyPr wrap="square" lIns="45720" tIns="18288" rIns="45720" bIns="18288" anchor="t">
            <a:spAutoFit/>
          </a:bodyPr>
          <a:lstStyle/>
          <a:p>
            <a:pPr algn="l"/>
            <a:r>
              <a:rPr sz="3000" b="1" i="0">
                <a:solidFill>
                  <a:srgbClr val="C00000"/>
                </a:solidFill>
                <a:latin typeface="Lato Black"/>
              </a:rPr>
              <a:t>Key Findings</a:t>
            </a:r>
          </a:p>
        </p:txBody>
      </p:sp>
      <p:sp>
        <p:nvSpPr>
          <p:cNvPr id="4" name="Rectangle 3"/>
          <p:cNvSpPr/>
          <p:nvPr/>
        </p:nvSpPr>
        <p:spPr>
          <a:xfrm>
            <a:off x="457200" y="841248"/>
            <a:ext cx="1097280" cy="36576"/>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914400"/>
            <a:ext cx="11247120" cy="411480"/>
          </a:xfrm>
          <a:prstGeom prst="rect">
            <a:avLst/>
          </a:prstGeom>
          <a:noFill/>
        </p:spPr>
        <p:txBody>
          <a:bodyPr wrap="square" lIns="45720" tIns="18288" rIns="45720" bIns="18288" anchor="t">
            <a:spAutoFit/>
          </a:bodyPr>
          <a:lstStyle/>
          <a:p>
            <a:pPr algn="l"/>
            <a:r>
              <a:rPr sz="1500" b="0" i="1">
                <a:solidFill>
                  <a:srgbClr val="444444"/>
                </a:solidFill>
                <a:latin typeface="Calibri"/>
              </a:rPr>
              <a:t>What the data revealed</a:t>
            </a:r>
          </a:p>
        </p:txBody>
      </p:sp>
      <p:sp>
        <p:nvSpPr>
          <p:cNvPr id="6" name="Rectangle 5"/>
          <p:cNvSpPr/>
          <p:nvPr/>
        </p:nvSpPr>
        <p:spPr>
          <a:xfrm>
            <a:off x="457200" y="1554480"/>
            <a:ext cx="5577840" cy="128016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554480"/>
            <a:ext cx="5577840" cy="32004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1554480"/>
            <a:ext cx="5212080" cy="320040"/>
          </a:xfrm>
          <a:prstGeom prst="rect">
            <a:avLst/>
          </a:prstGeom>
          <a:noFill/>
        </p:spPr>
        <p:txBody>
          <a:bodyPr wrap="square" lIns="45720" tIns="18288" rIns="45720" bIns="18288" anchor="ctr">
            <a:spAutoFit/>
          </a:bodyPr>
          <a:lstStyle/>
          <a:p>
            <a:pPr algn="l"/>
            <a:r>
              <a:rPr sz="1100" b="1" i="0">
                <a:solidFill>
                  <a:srgbClr val="FFFFFF"/>
                </a:solidFill>
                <a:latin typeface="Lato Black"/>
              </a:rPr>
              <a:t>TOP EMPLOYEE</a:t>
            </a:r>
          </a:p>
        </p:txBody>
      </p:sp>
      <p:sp>
        <p:nvSpPr>
          <p:cNvPr id="9" name="TextBox 8"/>
          <p:cNvSpPr txBox="1"/>
          <p:nvPr/>
        </p:nvSpPr>
        <p:spPr>
          <a:xfrm>
            <a:off x="640080" y="1920240"/>
            <a:ext cx="5212080" cy="822960"/>
          </a:xfrm>
          <a:prstGeom prst="rect">
            <a:avLst/>
          </a:prstGeom>
          <a:noFill/>
        </p:spPr>
        <p:txBody>
          <a:bodyPr wrap="square" lIns="45720" tIns="18288" rIns="45720" bIns="18288" anchor="ctr">
            <a:spAutoFit/>
          </a:bodyPr>
          <a:lstStyle/>
          <a:p>
            <a:pPr algn="l"/>
            <a:r>
              <a:rPr sz="1400" b="0" i="0">
                <a:solidFill>
                  <a:srgbClr val="444444"/>
                </a:solidFill>
                <a:latin typeface="Calibri"/>
              </a:rPr>
              <a:t>Mohan Madan (Senior GM, L7) leads the org chart.</a:t>
            </a:r>
          </a:p>
        </p:txBody>
      </p:sp>
      <p:sp>
        <p:nvSpPr>
          <p:cNvPr id="10" name="Rectangle 9"/>
          <p:cNvSpPr/>
          <p:nvPr/>
        </p:nvSpPr>
        <p:spPr>
          <a:xfrm>
            <a:off x="457200" y="2999232"/>
            <a:ext cx="5577840" cy="128016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57200" y="2999232"/>
            <a:ext cx="5577840" cy="32004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 y="2999232"/>
            <a:ext cx="5212080" cy="320040"/>
          </a:xfrm>
          <a:prstGeom prst="rect">
            <a:avLst/>
          </a:prstGeom>
          <a:noFill/>
        </p:spPr>
        <p:txBody>
          <a:bodyPr wrap="square" lIns="45720" tIns="18288" rIns="45720" bIns="18288" anchor="ctr">
            <a:spAutoFit/>
          </a:bodyPr>
          <a:lstStyle/>
          <a:p>
            <a:pPr algn="l"/>
            <a:r>
              <a:rPr sz="1100" b="1" i="0">
                <a:solidFill>
                  <a:srgbClr val="FFFFFF"/>
                </a:solidFill>
                <a:latin typeface="Lato Black"/>
              </a:rPr>
              <a:t>BIGGEST MARKET</a:t>
            </a:r>
          </a:p>
        </p:txBody>
      </p:sp>
      <p:sp>
        <p:nvSpPr>
          <p:cNvPr id="13" name="TextBox 12"/>
          <p:cNvSpPr txBox="1"/>
          <p:nvPr/>
        </p:nvSpPr>
        <p:spPr>
          <a:xfrm>
            <a:off x="640080" y="3364992"/>
            <a:ext cx="5212080" cy="822960"/>
          </a:xfrm>
          <a:prstGeom prst="rect">
            <a:avLst/>
          </a:prstGeom>
          <a:noFill/>
        </p:spPr>
        <p:txBody>
          <a:bodyPr wrap="square" lIns="45720" tIns="18288" rIns="45720" bIns="18288" anchor="ctr">
            <a:spAutoFit/>
          </a:bodyPr>
          <a:lstStyle/>
          <a:p>
            <a:pPr algn="l"/>
            <a:r>
              <a:rPr sz="1400" b="0" i="0">
                <a:solidFill>
                  <a:srgbClr val="444444"/>
                </a:solidFill>
                <a:latin typeface="Calibri"/>
              </a:rPr>
              <a:t>USA generates the highest number of invoices.</a:t>
            </a:r>
          </a:p>
        </p:txBody>
      </p:sp>
      <p:sp>
        <p:nvSpPr>
          <p:cNvPr id="14" name="Rectangle 13"/>
          <p:cNvSpPr/>
          <p:nvPr/>
        </p:nvSpPr>
        <p:spPr>
          <a:xfrm>
            <a:off x="457200" y="4443984"/>
            <a:ext cx="5577840" cy="128016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57200" y="4443984"/>
            <a:ext cx="5577840" cy="32004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 y="4443984"/>
            <a:ext cx="5212080" cy="320040"/>
          </a:xfrm>
          <a:prstGeom prst="rect">
            <a:avLst/>
          </a:prstGeom>
          <a:noFill/>
        </p:spPr>
        <p:txBody>
          <a:bodyPr wrap="square" lIns="45720" tIns="18288" rIns="45720" bIns="18288" anchor="ctr">
            <a:spAutoFit/>
          </a:bodyPr>
          <a:lstStyle/>
          <a:p>
            <a:pPr algn="l"/>
            <a:r>
              <a:rPr sz="1100" b="1" i="0">
                <a:solidFill>
                  <a:srgbClr val="FFFFFF"/>
                </a:solidFill>
                <a:latin typeface="Lato Black"/>
              </a:rPr>
              <a:t>FESTIVAL CITY</a:t>
            </a:r>
          </a:p>
        </p:txBody>
      </p:sp>
      <p:sp>
        <p:nvSpPr>
          <p:cNvPr id="17" name="TextBox 16"/>
          <p:cNvSpPr txBox="1"/>
          <p:nvPr/>
        </p:nvSpPr>
        <p:spPr>
          <a:xfrm>
            <a:off x="640080" y="4809744"/>
            <a:ext cx="5212080" cy="822960"/>
          </a:xfrm>
          <a:prstGeom prst="rect">
            <a:avLst/>
          </a:prstGeom>
          <a:noFill/>
        </p:spPr>
        <p:txBody>
          <a:bodyPr wrap="square" lIns="45720" tIns="18288" rIns="45720" bIns="18288" anchor="ctr">
            <a:spAutoFit/>
          </a:bodyPr>
          <a:lstStyle/>
          <a:p>
            <a:pPr algn="l"/>
            <a:r>
              <a:rPr sz="1400" b="0" i="0">
                <a:solidFill>
                  <a:srgbClr val="444444"/>
                </a:solidFill>
                <a:latin typeface="Calibri"/>
              </a:rPr>
              <a:t>Prague brings in the highest invoice revenue.</a:t>
            </a:r>
          </a:p>
        </p:txBody>
      </p:sp>
      <p:sp>
        <p:nvSpPr>
          <p:cNvPr id="18" name="Rectangle 17"/>
          <p:cNvSpPr/>
          <p:nvPr/>
        </p:nvSpPr>
        <p:spPr>
          <a:xfrm>
            <a:off x="6217920" y="1554480"/>
            <a:ext cx="5577840" cy="128016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217920" y="1554480"/>
            <a:ext cx="5577840" cy="32004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00800" y="1554480"/>
            <a:ext cx="5212080" cy="320040"/>
          </a:xfrm>
          <a:prstGeom prst="rect">
            <a:avLst/>
          </a:prstGeom>
          <a:noFill/>
        </p:spPr>
        <p:txBody>
          <a:bodyPr wrap="square" lIns="45720" tIns="18288" rIns="45720" bIns="18288" anchor="ctr">
            <a:spAutoFit/>
          </a:bodyPr>
          <a:lstStyle/>
          <a:p>
            <a:pPr algn="l"/>
            <a:r>
              <a:rPr sz="1100" b="1" i="0">
                <a:solidFill>
                  <a:srgbClr val="FFFFFF"/>
                </a:solidFill>
                <a:latin typeface="Lato Black"/>
              </a:rPr>
              <a:t>DOMINANT GENRE</a:t>
            </a:r>
          </a:p>
        </p:txBody>
      </p:sp>
      <p:sp>
        <p:nvSpPr>
          <p:cNvPr id="21" name="TextBox 20"/>
          <p:cNvSpPr txBox="1"/>
          <p:nvPr/>
        </p:nvSpPr>
        <p:spPr>
          <a:xfrm>
            <a:off x="6400800" y="1920240"/>
            <a:ext cx="5212080" cy="822960"/>
          </a:xfrm>
          <a:prstGeom prst="rect">
            <a:avLst/>
          </a:prstGeom>
          <a:noFill/>
        </p:spPr>
        <p:txBody>
          <a:bodyPr wrap="square" lIns="45720" tIns="18288" rIns="45720" bIns="18288" anchor="ctr">
            <a:spAutoFit/>
          </a:bodyPr>
          <a:lstStyle/>
          <a:p>
            <a:pPr algn="l"/>
            <a:r>
              <a:rPr sz="1400" b="0" i="0">
                <a:solidFill>
                  <a:srgbClr val="444444"/>
                </a:solidFill>
                <a:latin typeface="Calibri"/>
              </a:rPr>
              <a:t>Rock is the #1 genre across most countries.</a:t>
            </a:r>
          </a:p>
        </p:txBody>
      </p:sp>
      <p:sp>
        <p:nvSpPr>
          <p:cNvPr id="22" name="Rectangle 21"/>
          <p:cNvSpPr/>
          <p:nvPr/>
        </p:nvSpPr>
        <p:spPr>
          <a:xfrm>
            <a:off x="6217920" y="2999232"/>
            <a:ext cx="5577840" cy="128016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217920" y="2999232"/>
            <a:ext cx="5577840" cy="32004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00800" y="2999232"/>
            <a:ext cx="5212080" cy="320040"/>
          </a:xfrm>
          <a:prstGeom prst="rect">
            <a:avLst/>
          </a:prstGeom>
          <a:noFill/>
        </p:spPr>
        <p:txBody>
          <a:bodyPr wrap="square" lIns="45720" tIns="18288" rIns="45720" bIns="18288" anchor="ctr">
            <a:spAutoFit/>
          </a:bodyPr>
          <a:lstStyle/>
          <a:p>
            <a:pPr algn="l"/>
            <a:r>
              <a:rPr sz="1100" b="1" i="0">
                <a:solidFill>
                  <a:srgbClr val="FFFFFF"/>
                </a:solidFill>
                <a:latin typeface="Lato Black"/>
              </a:rPr>
              <a:t>ROCK CATALOG</a:t>
            </a:r>
          </a:p>
        </p:txBody>
      </p:sp>
      <p:sp>
        <p:nvSpPr>
          <p:cNvPr id="25" name="TextBox 24"/>
          <p:cNvSpPr txBox="1"/>
          <p:nvPr/>
        </p:nvSpPr>
        <p:spPr>
          <a:xfrm>
            <a:off x="6400800" y="3364992"/>
            <a:ext cx="5212080" cy="822960"/>
          </a:xfrm>
          <a:prstGeom prst="rect">
            <a:avLst/>
          </a:prstGeom>
          <a:noFill/>
        </p:spPr>
        <p:txBody>
          <a:bodyPr wrap="square" lIns="45720" tIns="18288" rIns="45720" bIns="18288" anchor="ctr">
            <a:spAutoFit/>
          </a:bodyPr>
          <a:lstStyle/>
          <a:p>
            <a:pPr algn="l"/>
            <a:r>
              <a:rPr sz="1400" b="0" i="0">
                <a:solidFill>
                  <a:srgbClr val="444444"/>
                </a:solidFill>
                <a:latin typeface="Calibri"/>
              </a:rPr>
              <a:t>Led Zeppelin, U2 and Deep Purple top the track count.</a:t>
            </a:r>
          </a:p>
        </p:txBody>
      </p:sp>
      <p:sp>
        <p:nvSpPr>
          <p:cNvPr id="26" name="Rectangle 25"/>
          <p:cNvSpPr/>
          <p:nvPr/>
        </p:nvSpPr>
        <p:spPr>
          <a:xfrm>
            <a:off x="6217920" y="4443984"/>
            <a:ext cx="5577840" cy="128016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217920" y="4443984"/>
            <a:ext cx="5577840" cy="32004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00800" y="4443984"/>
            <a:ext cx="5212080" cy="320040"/>
          </a:xfrm>
          <a:prstGeom prst="rect">
            <a:avLst/>
          </a:prstGeom>
          <a:noFill/>
        </p:spPr>
        <p:txBody>
          <a:bodyPr wrap="square" lIns="45720" tIns="18288" rIns="45720" bIns="18288" anchor="ctr">
            <a:spAutoFit/>
          </a:bodyPr>
          <a:lstStyle/>
          <a:p>
            <a:pPr algn="l"/>
            <a:r>
              <a:rPr sz="1100" b="1" i="0">
                <a:solidFill>
                  <a:srgbClr val="FFFFFF"/>
                </a:solidFill>
                <a:latin typeface="Lato Black"/>
              </a:rPr>
              <a:t>SPENDING PATTERN</a:t>
            </a:r>
          </a:p>
        </p:txBody>
      </p:sp>
      <p:sp>
        <p:nvSpPr>
          <p:cNvPr id="29" name="TextBox 28"/>
          <p:cNvSpPr txBox="1"/>
          <p:nvPr/>
        </p:nvSpPr>
        <p:spPr>
          <a:xfrm>
            <a:off x="6400800" y="4809744"/>
            <a:ext cx="5212080" cy="822960"/>
          </a:xfrm>
          <a:prstGeom prst="rect">
            <a:avLst/>
          </a:prstGeom>
          <a:noFill/>
        </p:spPr>
        <p:txBody>
          <a:bodyPr wrap="square" lIns="45720" tIns="18288" rIns="45720" bIns="18288" anchor="ctr">
            <a:spAutoFit/>
          </a:bodyPr>
          <a:lstStyle/>
          <a:p>
            <a:pPr algn="l"/>
            <a:r>
              <a:rPr sz="1400" b="0" i="0">
                <a:solidFill>
                  <a:srgbClr val="444444"/>
                </a:solidFill>
                <a:latin typeface="Calibri"/>
              </a:rPr>
              <a:t>A small number of customers drive most of the revenue.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11247120" cy="640080"/>
          </a:xfrm>
          <a:prstGeom prst="rect">
            <a:avLst/>
          </a:prstGeom>
          <a:noFill/>
        </p:spPr>
        <p:txBody>
          <a:bodyPr wrap="square" lIns="45720" tIns="18288" rIns="45720" bIns="18288" anchor="t">
            <a:spAutoFit/>
          </a:bodyPr>
          <a:lstStyle/>
          <a:p>
            <a:pPr algn="l"/>
            <a:r>
              <a:rPr sz="3000" b="1" i="0">
                <a:solidFill>
                  <a:srgbClr val="C00000"/>
                </a:solidFill>
                <a:latin typeface="Lato Black"/>
              </a:rPr>
              <a:t>Challenges &amp; Learnings</a:t>
            </a:r>
          </a:p>
        </p:txBody>
      </p:sp>
      <p:sp>
        <p:nvSpPr>
          <p:cNvPr id="4" name="Rectangle 3"/>
          <p:cNvSpPr/>
          <p:nvPr/>
        </p:nvSpPr>
        <p:spPr>
          <a:xfrm>
            <a:off x="457200" y="841248"/>
            <a:ext cx="1097280" cy="36576"/>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914400"/>
            <a:ext cx="11247120" cy="411480"/>
          </a:xfrm>
          <a:prstGeom prst="rect">
            <a:avLst/>
          </a:prstGeom>
          <a:noFill/>
        </p:spPr>
        <p:txBody>
          <a:bodyPr wrap="square" lIns="45720" tIns="18288" rIns="45720" bIns="18288" anchor="t">
            <a:spAutoFit/>
          </a:bodyPr>
          <a:lstStyle/>
          <a:p>
            <a:pPr algn="l"/>
            <a:r>
              <a:rPr sz="1500" b="0" i="1">
                <a:solidFill>
                  <a:srgbClr val="444444"/>
                </a:solidFill>
                <a:latin typeface="Calibri"/>
              </a:rPr>
              <a:t>Things that taught me a lot during this project</a:t>
            </a:r>
          </a:p>
        </p:txBody>
      </p:sp>
      <p:sp>
        <p:nvSpPr>
          <p:cNvPr id="6" name="Rectangle 5"/>
          <p:cNvSpPr/>
          <p:nvPr/>
        </p:nvSpPr>
        <p:spPr>
          <a:xfrm>
            <a:off x="457200" y="1463040"/>
            <a:ext cx="11247120" cy="77724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463040"/>
            <a:ext cx="109728" cy="77724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1463040"/>
            <a:ext cx="1097280" cy="777240"/>
          </a:xfrm>
          <a:prstGeom prst="rect">
            <a:avLst/>
          </a:prstGeom>
          <a:noFill/>
        </p:spPr>
        <p:txBody>
          <a:bodyPr wrap="square" lIns="45720" tIns="18288" rIns="45720" bIns="18288" anchor="ctr">
            <a:spAutoFit/>
          </a:bodyPr>
          <a:lstStyle/>
          <a:p>
            <a:pPr algn="l"/>
            <a:r>
              <a:rPr sz="2800" b="1" i="0">
                <a:solidFill>
                  <a:srgbClr val="C00000"/>
                </a:solidFill>
                <a:latin typeface="Lato Black"/>
              </a:rPr>
              <a:t>01</a:t>
            </a:r>
          </a:p>
        </p:txBody>
      </p:sp>
      <p:sp>
        <p:nvSpPr>
          <p:cNvPr id="9" name="TextBox 8"/>
          <p:cNvSpPr txBox="1"/>
          <p:nvPr/>
        </p:nvSpPr>
        <p:spPr>
          <a:xfrm>
            <a:off x="1828800" y="1463040"/>
            <a:ext cx="9601200" cy="777240"/>
          </a:xfrm>
          <a:prstGeom prst="rect">
            <a:avLst/>
          </a:prstGeom>
          <a:noFill/>
        </p:spPr>
        <p:txBody>
          <a:bodyPr wrap="square" lIns="45720" tIns="18288" rIns="45720" bIns="18288" anchor="ctr">
            <a:spAutoFit/>
          </a:bodyPr>
          <a:lstStyle/>
          <a:p>
            <a:pPr algn="l"/>
            <a:r>
              <a:rPr sz="1500" b="0" i="0">
                <a:solidFill>
                  <a:srgbClr val="1A1A1A"/>
                </a:solidFill>
                <a:latin typeface="Calibri"/>
              </a:rPr>
              <a:t>Setting up MySQL Workbench and importing 11 CSVs in the right order.</a:t>
            </a:r>
          </a:p>
        </p:txBody>
      </p:sp>
      <p:sp>
        <p:nvSpPr>
          <p:cNvPr id="10" name="Rectangle 9"/>
          <p:cNvSpPr/>
          <p:nvPr/>
        </p:nvSpPr>
        <p:spPr>
          <a:xfrm>
            <a:off x="457200" y="2331720"/>
            <a:ext cx="11247120" cy="77724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57200" y="2331720"/>
            <a:ext cx="109728" cy="77724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85800" y="2331720"/>
            <a:ext cx="1097280" cy="777240"/>
          </a:xfrm>
          <a:prstGeom prst="rect">
            <a:avLst/>
          </a:prstGeom>
          <a:noFill/>
        </p:spPr>
        <p:txBody>
          <a:bodyPr wrap="square" lIns="45720" tIns="18288" rIns="45720" bIns="18288" anchor="ctr">
            <a:spAutoFit/>
          </a:bodyPr>
          <a:lstStyle/>
          <a:p>
            <a:pPr algn="l"/>
            <a:r>
              <a:rPr sz="2800" b="1" i="0">
                <a:solidFill>
                  <a:srgbClr val="C00000"/>
                </a:solidFill>
                <a:latin typeface="Lato Black"/>
              </a:rPr>
              <a:t>02</a:t>
            </a:r>
          </a:p>
        </p:txBody>
      </p:sp>
      <p:sp>
        <p:nvSpPr>
          <p:cNvPr id="13" name="TextBox 12"/>
          <p:cNvSpPr txBox="1"/>
          <p:nvPr/>
        </p:nvSpPr>
        <p:spPr>
          <a:xfrm>
            <a:off x="1828800" y="2331720"/>
            <a:ext cx="9601200" cy="777240"/>
          </a:xfrm>
          <a:prstGeom prst="rect">
            <a:avLst/>
          </a:prstGeom>
          <a:noFill/>
        </p:spPr>
        <p:txBody>
          <a:bodyPr wrap="square" lIns="45720" tIns="18288" rIns="45720" bIns="18288" anchor="ctr">
            <a:spAutoFit/>
          </a:bodyPr>
          <a:lstStyle/>
          <a:p>
            <a:pPr algn="l"/>
            <a:r>
              <a:rPr sz="1500" b="0" i="0">
                <a:solidFill>
                  <a:srgbClr val="1A1A1A"/>
                </a:solidFill>
                <a:latin typeface="Calibri"/>
              </a:rPr>
              <a:t>Self-referencing foreign key on employee.reports_to blocked the import — had to drop and re-add.</a:t>
            </a:r>
          </a:p>
        </p:txBody>
      </p:sp>
      <p:sp>
        <p:nvSpPr>
          <p:cNvPr id="14" name="Rectangle 13"/>
          <p:cNvSpPr/>
          <p:nvPr/>
        </p:nvSpPr>
        <p:spPr>
          <a:xfrm>
            <a:off x="457200" y="3200400"/>
            <a:ext cx="11247120" cy="77724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57200" y="3200400"/>
            <a:ext cx="109728" cy="77724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85800" y="3200400"/>
            <a:ext cx="1097280" cy="777240"/>
          </a:xfrm>
          <a:prstGeom prst="rect">
            <a:avLst/>
          </a:prstGeom>
          <a:noFill/>
        </p:spPr>
        <p:txBody>
          <a:bodyPr wrap="square" lIns="45720" tIns="18288" rIns="45720" bIns="18288" anchor="ctr">
            <a:spAutoFit/>
          </a:bodyPr>
          <a:lstStyle/>
          <a:p>
            <a:pPr algn="l"/>
            <a:r>
              <a:rPr sz="2800" b="1" i="0">
                <a:solidFill>
                  <a:srgbClr val="C00000"/>
                </a:solidFill>
                <a:latin typeface="Lato Black"/>
              </a:rPr>
              <a:t>03</a:t>
            </a:r>
          </a:p>
        </p:txBody>
      </p:sp>
      <p:sp>
        <p:nvSpPr>
          <p:cNvPr id="17" name="TextBox 16"/>
          <p:cNvSpPr txBox="1"/>
          <p:nvPr/>
        </p:nvSpPr>
        <p:spPr>
          <a:xfrm>
            <a:off x="1828800" y="3200400"/>
            <a:ext cx="9601200" cy="777240"/>
          </a:xfrm>
          <a:prstGeom prst="rect">
            <a:avLst/>
          </a:prstGeom>
          <a:noFill/>
        </p:spPr>
        <p:txBody>
          <a:bodyPr wrap="square" lIns="45720" tIns="18288" rIns="45720" bIns="18288" anchor="ctr">
            <a:spAutoFit/>
          </a:bodyPr>
          <a:lstStyle/>
          <a:p>
            <a:pPr algn="l"/>
            <a:r>
              <a:rPr sz="1500" b="0" i="0">
                <a:solidFill>
                  <a:srgbClr val="1A1A1A"/>
                </a:solidFill>
                <a:latin typeface="Calibri"/>
              </a:rPr>
              <a:t>Writing multi-table joins for Q6, Q7 and Q9 without losing the schema in my head.</a:t>
            </a:r>
          </a:p>
        </p:txBody>
      </p:sp>
      <p:sp>
        <p:nvSpPr>
          <p:cNvPr id="18" name="Rectangle 17"/>
          <p:cNvSpPr/>
          <p:nvPr/>
        </p:nvSpPr>
        <p:spPr>
          <a:xfrm>
            <a:off x="457200" y="4069080"/>
            <a:ext cx="11247120" cy="77724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57200" y="4069080"/>
            <a:ext cx="109728" cy="77724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85800" y="4069080"/>
            <a:ext cx="1097280" cy="777240"/>
          </a:xfrm>
          <a:prstGeom prst="rect">
            <a:avLst/>
          </a:prstGeom>
          <a:noFill/>
        </p:spPr>
        <p:txBody>
          <a:bodyPr wrap="square" lIns="45720" tIns="18288" rIns="45720" bIns="18288" anchor="ctr">
            <a:spAutoFit/>
          </a:bodyPr>
          <a:lstStyle/>
          <a:p>
            <a:pPr algn="l"/>
            <a:r>
              <a:rPr sz="2800" b="1" i="0">
                <a:solidFill>
                  <a:srgbClr val="C00000"/>
                </a:solidFill>
                <a:latin typeface="Lato Black"/>
              </a:rPr>
              <a:t>04</a:t>
            </a:r>
          </a:p>
        </p:txBody>
      </p:sp>
      <p:sp>
        <p:nvSpPr>
          <p:cNvPr id="21" name="TextBox 20"/>
          <p:cNvSpPr txBox="1"/>
          <p:nvPr/>
        </p:nvSpPr>
        <p:spPr>
          <a:xfrm>
            <a:off x="1828800" y="4069080"/>
            <a:ext cx="9601200" cy="777240"/>
          </a:xfrm>
          <a:prstGeom prst="rect">
            <a:avLst/>
          </a:prstGeom>
          <a:noFill/>
        </p:spPr>
        <p:txBody>
          <a:bodyPr wrap="square" lIns="45720" tIns="18288" rIns="45720" bIns="18288" anchor="ctr">
            <a:spAutoFit/>
          </a:bodyPr>
          <a:lstStyle/>
          <a:p>
            <a:pPr algn="l"/>
            <a:r>
              <a:rPr sz="1500" b="0" i="0">
                <a:solidFill>
                  <a:srgbClr val="1A1A1A"/>
                </a:solidFill>
                <a:latin typeface="Calibri"/>
              </a:rPr>
              <a:t>Wrapping my head around CTEs + DENSE_RANK() for Q10 and Q11.</a:t>
            </a:r>
          </a:p>
        </p:txBody>
      </p:sp>
      <p:sp>
        <p:nvSpPr>
          <p:cNvPr id="22" name="Rectangle 21"/>
          <p:cNvSpPr/>
          <p:nvPr/>
        </p:nvSpPr>
        <p:spPr>
          <a:xfrm>
            <a:off x="457200" y="4937760"/>
            <a:ext cx="11247120" cy="77724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57200" y="4937760"/>
            <a:ext cx="109728" cy="77724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85800" y="4937760"/>
            <a:ext cx="1097280" cy="777240"/>
          </a:xfrm>
          <a:prstGeom prst="rect">
            <a:avLst/>
          </a:prstGeom>
          <a:noFill/>
        </p:spPr>
        <p:txBody>
          <a:bodyPr wrap="square" lIns="45720" tIns="18288" rIns="45720" bIns="18288" anchor="ctr">
            <a:spAutoFit/>
          </a:bodyPr>
          <a:lstStyle/>
          <a:p>
            <a:pPr algn="l"/>
            <a:r>
              <a:rPr sz="2800" b="1" i="0">
                <a:solidFill>
                  <a:srgbClr val="C00000"/>
                </a:solidFill>
                <a:latin typeface="Lato Black"/>
              </a:rPr>
              <a:t>05</a:t>
            </a:r>
          </a:p>
        </p:txBody>
      </p:sp>
      <p:sp>
        <p:nvSpPr>
          <p:cNvPr id="25" name="TextBox 24"/>
          <p:cNvSpPr txBox="1"/>
          <p:nvPr/>
        </p:nvSpPr>
        <p:spPr>
          <a:xfrm>
            <a:off x="1828800" y="4937760"/>
            <a:ext cx="9601200" cy="777240"/>
          </a:xfrm>
          <a:prstGeom prst="rect">
            <a:avLst/>
          </a:prstGeom>
          <a:noFill/>
        </p:spPr>
        <p:txBody>
          <a:bodyPr wrap="square" lIns="45720" tIns="18288" rIns="45720" bIns="18288" anchor="ctr">
            <a:spAutoFit/>
          </a:bodyPr>
          <a:lstStyle/>
          <a:p>
            <a:pPr algn="l"/>
            <a:r>
              <a:rPr sz="1500" b="0" i="0">
                <a:solidFill>
                  <a:srgbClr val="1A1A1A"/>
                </a:solidFill>
                <a:latin typeface="Calibri"/>
              </a:rPr>
              <a:t>Debugging tiny issues like ASC vs DESC, snake_case column names and safe-update mode.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11247120" cy="640080"/>
          </a:xfrm>
          <a:prstGeom prst="rect">
            <a:avLst/>
          </a:prstGeom>
          <a:noFill/>
        </p:spPr>
        <p:txBody>
          <a:bodyPr wrap="square" lIns="45720" tIns="18288" rIns="45720" bIns="18288" anchor="t">
            <a:spAutoFit/>
          </a:bodyPr>
          <a:lstStyle/>
          <a:p>
            <a:pPr algn="l"/>
            <a:r>
              <a:rPr sz="3000" b="1" i="0">
                <a:solidFill>
                  <a:srgbClr val="C00000"/>
                </a:solidFill>
                <a:latin typeface="Lato Black"/>
              </a:rPr>
              <a:t>Conclusion</a:t>
            </a:r>
          </a:p>
        </p:txBody>
      </p:sp>
      <p:sp>
        <p:nvSpPr>
          <p:cNvPr id="4" name="Rectangle 3"/>
          <p:cNvSpPr/>
          <p:nvPr/>
        </p:nvSpPr>
        <p:spPr>
          <a:xfrm>
            <a:off x="457200" y="841248"/>
            <a:ext cx="1097280" cy="36576"/>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914400"/>
            <a:ext cx="11247120" cy="411480"/>
          </a:xfrm>
          <a:prstGeom prst="rect">
            <a:avLst/>
          </a:prstGeom>
          <a:noFill/>
        </p:spPr>
        <p:txBody>
          <a:bodyPr wrap="square" lIns="45720" tIns="18288" rIns="45720" bIns="18288" anchor="t">
            <a:spAutoFit/>
          </a:bodyPr>
          <a:lstStyle/>
          <a:p>
            <a:pPr algn="l"/>
            <a:r>
              <a:rPr sz="1500" b="0" i="1">
                <a:solidFill>
                  <a:srgbClr val="444444"/>
                </a:solidFill>
                <a:latin typeface="Calibri"/>
              </a:rPr>
              <a:t>What we delivered and where this can go next</a:t>
            </a:r>
          </a:p>
        </p:txBody>
      </p:sp>
      <p:sp>
        <p:nvSpPr>
          <p:cNvPr id="6" name="Rectangle 5"/>
          <p:cNvSpPr/>
          <p:nvPr/>
        </p:nvSpPr>
        <p:spPr>
          <a:xfrm>
            <a:off x="457200" y="1508760"/>
            <a:ext cx="5577840" cy="233172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508760"/>
            <a:ext cx="91440" cy="233172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1600200"/>
            <a:ext cx="5212080" cy="320040"/>
          </a:xfrm>
          <a:prstGeom prst="rect">
            <a:avLst/>
          </a:prstGeom>
          <a:noFill/>
        </p:spPr>
        <p:txBody>
          <a:bodyPr wrap="square" lIns="45720" tIns="18288" rIns="45720" bIns="18288" anchor="t">
            <a:spAutoFit/>
          </a:bodyPr>
          <a:lstStyle/>
          <a:p>
            <a:pPr algn="l"/>
            <a:r>
              <a:rPr sz="1100" b="1" i="0">
                <a:solidFill>
                  <a:srgbClr val="C00000"/>
                </a:solidFill>
                <a:latin typeface="Lato Black"/>
              </a:rPr>
              <a:t>SUMMARY</a:t>
            </a:r>
          </a:p>
        </p:txBody>
      </p:sp>
      <p:sp>
        <p:nvSpPr>
          <p:cNvPr id="9" name="TextBox 8"/>
          <p:cNvSpPr txBox="1"/>
          <p:nvPr/>
        </p:nvSpPr>
        <p:spPr>
          <a:xfrm>
            <a:off x="685800" y="1920240"/>
            <a:ext cx="5212080" cy="1828800"/>
          </a:xfrm>
          <a:prstGeom prst="rect">
            <a:avLst/>
          </a:prstGeom>
          <a:noFill/>
        </p:spPr>
        <p:txBody>
          <a:bodyPr wrap="square" lIns="45720" tIns="18288" rIns="45720" bIns="18288" anchor="t">
            <a:spAutoFit/>
          </a:bodyPr>
          <a:lstStyle/>
          <a:p>
            <a:pPr algn="l"/>
            <a:r>
              <a:rPr sz="1300" b="0" i="0">
                <a:solidFill>
                  <a:srgbClr val="444444"/>
                </a:solidFill>
                <a:latin typeface="Calibri"/>
              </a:rPr>
              <a:t>All 11 business questions answered using SQL — covering filtering, sorting, aggregations, multi-table joins, subqueries, CTEs and window functions like DENSE_RANK.</a:t>
            </a:r>
          </a:p>
        </p:txBody>
      </p:sp>
      <p:sp>
        <p:nvSpPr>
          <p:cNvPr id="10" name="Rectangle 9"/>
          <p:cNvSpPr/>
          <p:nvPr/>
        </p:nvSpPr>
        <p:spPr>
          <a:xfrm>
            <a:off x="6217920" y="1508760"/>
            <a:ext cx="5577840" cy="233172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17920" y="1508760"/>
            <a:ext cx="91440" cy="233172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46520" y="1600200"/>
            <a:ext cx="5212080" cy="320040"/>
          </a:xfrm>
          <a:prstGeom prst="rect">
            <a:avLst/>
          </a:prstGeom>
          <a:noFill/>
        </p:spPr>
        <p:txBody>
          <a:bodyPr wrap="square" lIns="45720" tIns="18288" rIns="45720" bIns="18288" anchor="t">
            <a:spAutoFit/>
          </a:bodyPr>
          <a:lstStyle/>
          <a:p>
            <a:pPr algn="l"/>
            <a:r>
              <a:rPr sz="1100" b="1" i="0">
                <a:solidFill>
                  <a:srgbClr val="C00000"/>
                </a:solidFill>
                <a:latin typeface="Lato Black"/>
              </a:rPr>
              <a:t>KEY LEARNINGS</a:t>
            </a:r>
          </a:p>
        </p:txBody>
      </p:sp>
      <p:sp>
        <p:nvSpPr>
          <p:cNvPr id="13" name="TextBox 12"/>
          <p:cNvSpPr txBox="1"/>
          <p:nvPr/>
        </p:nvSpPr>
        <p:spPr>
          <a:xfrm>
            <a:off x="6446520" y="1920240"/>
            <a:ext cx="5212080" cy="1828800"/>
          </a:xfrm>
          <a:prstGeom prst="rect">
            <a:avLst/>
          </a:prstGeom>
          <a:noFill/>
        </p:spPr>
        <p:txBody>
          <a:bodyPr wrap="square" lIns="45720" tIns="18288" rIns="45720" bIns="18288" anchor="t">
            <a:spAutoFit/>
          </a:bodyPr>
          <a:lstStyle/>
          <a:p>
            <a:pPr algn="l"/>
            <a:r>
              <a:rPr sz="1300" b="0" i="0">
                <a:solidFill>
                  <a:srgbClr val="444444"/>
                </a:solidFill>
                <a:latin typeface="Calibri"/>
              </a:rPr>
              <a:t>Strengthened understanding of relational design, joins, GROUP BY vs window functions, and the discipline of writing readable, reusable SQL.</a:t>
            </a:r>
          </a:p>
        </p:txBody>
      </p:sp>
      <p:sp>
        <p:nvSpPr>
          <p:cNvPr id="14" name="Rectangle 13"/>
          <p:cNvSpPr/>
          <p:nvPr/>
        </p:nvSpPr>
        <p:spPr>
          <a:xfrm>
            <a:off x="457200" y="3977640"/>
            <a:ext cx="5577840" cy="233172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57200" y="3977640"/>
            <a:ext cx="91440" cy="233172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85800" y="4069080"/>
            <a:ext cx="5212080" cy="320040"/>
          </a:xfrm>
          <a:prstGeom prst="rect">
            <a:avLst/>
          </a:prstGeom>
          <a:noFill/>
        </p:spPr>
        <p:txBody>
          <a:bodyPr wrap="square" lIns="45720" tIns="18288" rIns="45720" bIns="18288" anchor="t">
            <a:spAutoFit/>
          </a:bodyPr>
          <a:lstStyle/>
          <a:p>
            <a:pPr algn="l"/>
            <a:r>
              <a:rPr sz="1100" b="1" i="0">
                <a:solidFill>
                  <a:srgbClr val="C00000"/>
                </a:solidFill>
                <a:latin typeface="Lato Black"/>
              </a:rPr>
              <a:t>BUSINESS VALUE DELIVERED</a:t>
            </a:r>
          </a:p>
        </p:txBody>
      </p:sp>
      <p:sp>
        <p:nvSpPr>
          <p:cNvPr id="17" name="TextBox 16"/>
          <p:cNvSpPr txBox="1"/>
          <p:nvPr/>
        </p:nvSpPr>
        <p:spPr>
          <a:xfrm>
            <a:off x="685800" y="4389120"/>
            <a:ext cx="5212080" cy="1828800"/>
          </a:xfrm>
          <a:prstGeom prst="rect">
            <a:avLst/>
          </a:prstGeom>
          <a:noFill/>
        </p:spPr>
        <p:txBody>
          <a:bodyPr wrap="square" lIns="45720" tIns="18288" rIns="45720" bIns="18288" anchor="t">
            <a:spAutoFit/>
          </a:bodyPr>
          <a:lstStyle/>
          <a:p>
            <a:pPr algn="l"/>
            <a:r>
              <a:rPr sz="1300" b="0" i="0">
                <a:solidFill>
                  <a:srgbClr val="444444"/>
                </a:solidFill>
                <a:latin typeface="Calibri"/>
              </a:rPr>
              <a:t>Identified top market (USA), best festival city (Prague), dominant genre (Rock), top spending customers, and most popular artists — directly usable by management.</a:t>
            </a:r>
          </a:p>
        </p:txBody>
      </p:sp>
      <p:sp>
        <p:nvSpPr>
          <p:cNvPr id="18" name="Rectangle 17"/>
          <p:cNvSpPr/>
          <p:nvPr/>
        </p:nvSpPr>
        <p:spPr>
          <a:xfrm>
            <a:off x="6217920" y="3977640"/>
            <a:ext cx="5577840" cy="233172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217920" y="3977640"/>
            <a:ext cx="91440" cy="233172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46520" y="4069080"/>
            <a:ext cx="5212080" cy="320040"/>
          </a:xfrm>
          <a:prstGeom prst="rect">
            <a:avLst/>
          </a:prstGeom>
          <a:noFill/>
        </p:spPr>
        <p:txBody>
          <a:bodyPr wrap="square" lIns="45720" tIns="18288" rIns="45720" bIns="18288" anchor="t">
            <a:spAutoFit/>
          </a:bodyPr>
          <a:lstStyle/>
          <a:p>
            <a:pPr algn="l"/>
            <a:r>
              <a:rPr sz="1100" b="1" i="0">
                <a:solidFill>
                  <a:srgbClr val="C00000"/>
                </a:solidFill>
                <a:latin typeface="Lato Black"/>
              </a:rPr>
              <a:t>FUTURE IMPROVEMENTS</a:t>
            </a:r>
          </a:p>
        </p:txBody>
      </p:sp>
      <p:sp>
        <p:nvSpPr>
          <p:cNvPr id="21" name="TextBox 20"/>
          <p:cNvSpPr txBox="1"/>
          <p:nvPr/>
        </p:nvSpPr>
        <p:spPr>
          <a:xfrm>
            <a:off x="6446520" y="4389120"/>
            <a:ext cx="5212080" cy="1828800"/>
          </a:xfrm>
          <a:prstGeom prst="rect">
            <a:avLst/>
          </a:prstGeom>
          <a:noFill/>
        </p:spPr>
        <p:txBody>
          <a:bodyPr wrap="square" lIns="45720" tIns="18288" rIns="45720" bIns="18288" anchor="t">
            <a:spAutoFit/>
          </a:bodyPr>
          <a:lstStyle/>
          <a:p>
            <a:pPr algn="l"/>
            <a:r>
              <a:rPr sz="1300" b="0" i="0">
                <a:solidFill>
                  <a:srgbClr val="444444"/>
                </a:solidFill>
                <a:latin typeface="Calibri"/>
              </a:rPr>
              <a:t>Build a Power BI dashboard on these results, add date-based trend analysis, run cohort retention, and explore CASE-based customer segmentation (VIP / regular / churn-risk).</a:t>
            </a:r>
          </a:p>
        </p:txBody>
      </p:sp>
      <p:sp>
        <p:nvSpPr>
          <p:cNvPr id="22" name="Rectangle 21"/>
          <p:cNvSpPr/>
          <p:nvPr/>
        </p:nvSpPr>
        <p:spPr>
          <a:xfrm>
            <a:off x="0" y="6263640"/>
            <a:ext cx="12191695" cy="50292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7200" y="6263640"/>
            <a:ext cx="11247120" cy="502920"/>
          </a:xfrm>
          <a:prstGeom prst="rect">
            <a:avLst/>
          </a:prstGeom>
          <a:noFill/>
        </p:spPr>
        <p:txBody>
          <a:bodyPr wrap="square" lIns="45720" tIns="18288" rIns="45720" bIns="18288" anchor="ctr">
            <a:spAutoFit/>
          </a:bodyPr>
          <a:lstStyle/>
          <a:p>
            <a:pPr algn="l"/>
            <a:r>
              <a:rPr sz="1400" b="1" i="0">
                <a:solidFill>
                  <a:srgbClr val="FFFFFF"/>
                </a:solidFill>
                <a:latin typeface="Calibri"/>
              </a:rPr>
              <a:t>From raw CSVs to business decisions — SQL was the only tool we needed.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828800" y="2286000"/>
            <a:ext cx="8503920" cy="2286000"/>
          </a:xfrm>
          <a:prstGeom prst="rect">
            <a:avLst/>
          </a:prstGeom>
          <a:solidFill>
            <a:srgbClr val="FFFFFF"/>
          </a:solidFill>
          <a:ln w="952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828800" y="2468880"/>
            <a:ext cx="8503920" cy="914400"/>
          </a:xfrm>
          <a:prstGeom prst="rect">
            <a:avLst/>
          </a:prstGeom>
          <a:noFill/>
        </p:spPr>
        <p:txBody>
          <a:bodyPr wrap="square" lIns="45720" tIns="18288" rIns="45720" bIns="18288" anchor="ctr">
            <a:spAutoFit/>
          </a:bodyPr>
          <a:lstStyle/>
          <a:p>
            <a:pPr algn="ctr"/>
            <a:r>
              <a:rPr sz="8000" b="1" i="0">
                <a:solidFill>
                  <a:srgbClr val="C00000"/>
                </a:solidFill>
                <a:latin typeface="Lato Black"/>
              </a:rPr>
              <a:t>Q &amp; A</a:t>
            </a:r>
          </a:p>
        </p:txBody>
      </p:sp>
      <p:sp>
        <p:nvSpPr>
          <p:cNvPr id="5" name="TextBox 4"/>
          <p:cNvSpPr txBox="1"/>
          <p:nvPr/>
        </p:nvSpPr>
        <p:spPr>
          <a:xfrm>
            <a:off x="1828800" y="3657600"/>
            <a:ext cx="8503920" cy="731520"/>
          </a:xfrm>
          <a:prstGeom prst="rect">
            <a:avLst/>
          </a:prstGeom>
          <a:noFill/>
        </p:spPr>
        <p:txBody>
          <a:bodyPr wrap="square" lIns="45720" tIns="18288" rIns="45720" bIns="18288" anchor="ctr">
            <a:spAutoFit/>
          </a:bodyPr>
          <a:lstStyle/>
          <a:p>
            <a:pPr algn="ctr"/>
            <a:r>
              <a:rPr sz="2200" b="0" i="1">
                <a:solidFill>
                  <a:srgbClr val="444444"/>
                </a:solidFill>
                <a:latin typeface="Calibri"/>
              </a:rPr>
              <a:t>I'd love to hear your questions.</a:t>
            </a:r>
          </a:p>
        </p:txBody>
      </p:sp>
      <p:sp>
        <p:nvSpPr>
          <p:cNvPr id="6" name="Rectangle 5"/>
          <p:cNvSpPr/>
          <p:nvPr/>
        </p:nvSpPr>
        <p:spPr>
          <a:xfrm>
            <a:off x="0" y="0"/>
            <a:ext cx="12191695" cy="164592"/>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693408"/>
            <a:ext cx="12191695" cy="164592"/>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232</TotalTime>
  <Words>2141</Words>
  <Application>Microsoft Office PowerPoint</Application>
  <PresentationFormat>Widescreen</PresentationFormat>
  <Paragraphs>251</Paragraphs>
  <Slides>23</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Lato Black</vt:lpstr>
      <vt:lpstr>Arial</vt:lpstr>
      <vt:lpstr>Libre Baskerville</vt:lpstr>
      <vt:lpstr>Consolas</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jay patwa</cp:lastModifiedBy>
  <cp:revision>3</cp:revision>
  <dcterms:created xsi:type="dcterms:W3CDTF">2021-02-16T05:19:01Z</dcterms:created>
  <dcterms:modified xsi:type="dcterms:W3CDTF">2026-06-05T09:53:07Z</dcterms:modified>
</cp:coreProperties>
</file>